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c56183812924d74" /><Relationship Type="http://schemas.openxmlformats.org/officeDocument/2006/relationships/extended-properties" Target="/docProps/app.xml" Id="R49a684a7442f4449" /><Relationship Type="http://schemas.openxmlformats.org/officeDocument/2006/relationships/officeDocument" Target="/ppt/presentation.xml" Id="R5ce1c1cc2a814629" /></Relationships>
</file>

<file path=ppt/presentation.xml><?xml version="1.0" encoding="utf-8"?>
<p:presentation xmlns:p="http://schemas.openxmlformats.org/presentationml/2006/main">
  <p:sldMasterIdLst>
    <p:sldMasterId xmlns:r="http://schemas.openxmlformats.org/officeDocument/2006/relationships" id="2147483648" r:id="R82ff0b635c554d79"/>
  </p:sldMasterIdLst>
  <p:notesMasterIdLst>
    <p:notesMasterId xmlns:r="http://schemas.openxmlformats.org/officeDocument/2006/relationships" r:id="R6d2f332ea66843fe"/>
  </p:notesMasterIdLst>
  <p:sldIdLst>
    <p:sldId xmlns:r="http://schemas.openxmlformats.org/officeDocument/2006/relationships" id="256" r:id="R2f0e08ad55434bca"/>
    <p:sldId xmlns:r="http://schemas.openxmlformats.org/officeDocument/2006/relationships" id="257" r:id="R27fe315f2e51441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5470a5c5a0749d6" /><Relationship Type="http://schemas.openxmlformats.org/officeDocument/2006/relationships/slideMaster" Target="/ppt/slideMasters/slideMaster1.xml" Id="R82ff0b635c554d79" /><Relationship Type="http://schemas.openxmlformats.org/officeDocument/2006/relationships/notesMaster" Target="/ppt/notesMasters/notesMaster1.xml" Id="R6d2f332ea66843fe" /><Relationship Type="http://schemas.openxmlformats.org/officeDocument/2006/relationships/presProps" Target="/ppt/presProps.xml" Id="R16b305e4b2664567" /><Relationship Type="http://schemas.openxmlformats.org/officeDocument/2006/relationships/tableStyles" Target="/ppt/tableStyles.xml" Id="R9b74315f72344cf4" /><Relationship Type="http://schemas.openxmlformats.org/officeDocument/2006/relationships/slide" Target="/ppt/slides/slide1.xml" Id="R2f0e08ad55434bca" /><Relationship Type="http://schemas.openxmlformats.org/officeDocument/2006/relationships/slide" Target="/ppt/slides/slide2.xml" Id="R27fe315f2e51441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28bc514b3fa4fc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b9400c02e6e491a" /><Relationship Type="http://schemas.openxmlformats.org/officeDocument/2006/relationships/notesMaster" Target="/ppt/notesMasters/notesMaster1.xml" Id="Rf5aa8f6d41c94e8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363d52f91ff455f" /><Relationship Type="http://schemas.openxmlformats.org/officeDocument/2006/relationships/notesMaster" Target="/ppt/notesMasters/notesMaster1.xml" Id="Rc31e23492c3a4fb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narration (45–60 seconds):</a:t>
            </a:r>
          </a:p>
          <a:p xmlns:a="http://schemas.openxmlformats.org/drawingml/2006/main">
            <a:r>
              <a:t>The core drill system is already implemented. The React app talks to a Node and Express backend, which manages consent, drill attempts and scoring. Vapi coordinates voice calls: Claude generates the conversation, Deepgram transcribes speech and Azure Speech provides the Singapore-English voice. SMS uses Twilio; email uses Google Apps Script and MailApp. Supabase PostgreSQL stores progress and family data, and Realtime signals the apps to refresh. The repository configures Vercel for the frontend and serverless API.</a:t>
            </a:r>
          </a:p>
          <a:p xmlns:a="http://schemas.openxmlformats.org/drawingml/2006/main">
            <a:r>
              <a:t/>
            </a:r>
          </a:p>
          <a:p xmlns:a="http://schemas.openxmlformats.org/drawingml/2006/main">
            <a:r>
              <a:t>Scope and accuracy: These are verified repository integrations, not a live production configuration audit. Claude defaults to claude-3-5-haiku-20241022; model and voice settings are overridable. Azure en-SG-WayneNeural is the default; ElevenLabs is an alternative. Twilio Verify is implemented, but the 2 October roadmap records a production demo verification bypass; resolve that before claiming verified ownership in real use. Supabase Auth is not used. SMS/email use curated templates. OpenAI GPT-5 mini exists in separate bulletin-extraction scripts, not the main drill call path. The automated Claude intelligence pipeline has all web sources disabled. Python folders are standalone earlier prototypes.</a:t>
            </a:r>
          </a:p>
          <a:p xmlns:a="http://schemas.openxmlformats.org/drawingml/2006/main">
            <a:r>
              <a:t/>
            </a:r>
          </a:p>
          <a:p xmlns:a="http://schemas.openxmlformats.org/drawingml/2006/main">
            <a:r>
              <a:t>Sources inspected, 2 October 2026:</a:t>
            </a:r>
          </a:p>
          <a:p xmlns:a="http://schemas.openxmlformats.org/drawingml/2006/main">
            <a:r>
              <a:t>/Users/ngwenjing/huawei-2026/package.json</a:t>
            </a:r>
          </a:p>
          <a:p xmlns:a="http://schemas.openxmlformats.org/drawingml/2006/main">
            <a:r>
              <a:t>/Users/ngwenjing/huawei-2026/server/vapi.js</a:t>
            </a:r>
          </a:p>
          <a:p xmlns:a="http://schemas.openxmlformats.org/drawingml/2006/main">
            <a:r>
              <a:t>/Users/ngwenjing/huawei-2026/server/sms.js</a:t>
            </a:r>
          </a:p>
          <a:p xmlns:a="http://schemas.openxmlformats.org/drawingml/2006/main">
            <a:r>
              <a:t>/Users/ngwenjing/huawei-2026/server/verify.js</a:t>
            </a:r>
          </a:p>
          <a:p xmlns:a="http://schemas.openxmlformats.org/drawingml/2006/main">
            <a:r>
              <a:t>/Users/ngwenjing/huawei-2026/server/email.js</a:t>
            </a:r>
          </a:p>
          <a:p xmlns:a="http://schemas.openxmlformats.org/drawingml/2006/main">
            <a:r>
              <a:t>/Users/ngwenjing/huawei-2026/server/apps-script/Code.gs</a:t>
            </a:r>
          </a:p>
          <a:p xmlns:a="http://schemas.openxmlformats.org/drawingml/2006/main">
            <a:r>
              <a:t>/Users/ngwenjing/huawei-2026/server/db.js</a:t>
            </a:r>
          </a:p>
          <a:p xmlns:a="http://schemas.openxmlformats.org/drawingml/2006/main">
            <a:r>
              <a:t>/Users/ngwenjing/huawei-2026/server/doorbell.js</a:t>
            </a:r>
          </a:p>
          <a:p xmlns:a="http://schemas.openxmlformats.org/drawingml/2006/main">
            <a:r>
              <a:t>/Users/ngwenjing/huawei-2026/src/app/house.ts</a:t>
            </a:r>
          </a:p>
          <a:p xmlns:a="http://schemas.openxmlformats.org/drawingml/2006/main">
            <a:r>
              <a:t>/Users/ngwenjing/huawei-2026/vercel.json</a:t>
            </a:r>
          </a:p>
          <a:p xmlns:a="http://schemas.openxmlformats.org/drawingml/2006/main">
            <a:r>
              <a:t>/Users/ngwenjing/huawei-2026/DEPLOY.md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narration (45–60 seconds):</a:t>
            </a:r>
          </a:p>
          <a:p xmlns:a="http://schemas.openxmlformats.org/drawingml/2006/main">
            <a:r>
              <a:t>We have already built the core product, so this plan focuses on readiness for real use. First, we resolve the verification bypass and test delivery, error handling and safety flows. Next, we add a real recurring-drill scheduler with explicit opt-in, quiet hours, frequency limits and pause controls. A small consenting community cohort will then help us test accessibility and repeated practice. We will compare safe responses across comparable drills, measure repeat participation and operating cost, and use those findings to decide whether to expand.</a:t>
            </a:r>
          </a:p>
          <a:p xmlns:a="http://schemas.openxmlformats.org/drawingml/2006/main">
            <a:r>
              <a:t/>
            </a:r>
          </a:p>
          <a:p xmlns:a="http://schemas.openxmlformats.org/drawingml/2006/main">
            <a:r>
              <a:t>Implementation detail for questions: Recheck consent and verified destination immediately before every scheduled send, enforce per-user/channel frequency limits and prevent duplicate sends. Provider acceptance does not establish delivery; capture callbacks and show unconnected or ambiguous attempts as unscored. Prompt-based voice safeguards require real testing and should not be described as guaranteed intervention. Treat the pilot partner as prospective. Pilot timing and size are not committed. Behavioural improvement in drills does not itself prove reduced real-world scam losses; use a baseline, comparable scenarios and, where practical, a comparison group. Huawei ECS deployment instructions exist, while ModelArts migration is proposed and needs compatibility, latency and cost validation.</a:t>
            </a:r>
          </a:p>
          <a:p xmlns:a="http://schemas.openxmlformats.org/drawingml/2006/main">
            <a:r>
              <a:t/>
            </a:r>
          </a:p>
          <a:p xmlns:a="http://schemas.openxmlformats.org/drawingml/2006/main">
            <a:r>
              <a:t>Sources:</a:t>
            </a:r>
          </a:p>
          <a:p xmlns:a="http://schemas.openxmlformats.org/drawingml/2006/main">
            <a:r>
              <a:t>/Users/ngwenjing/huawei-2026/docs/superpowers/specs/2026-10-02-drill-mode-roadmap.md</a:t>
            </a:r>
          </a:p>
          <a:p xmlns:a="http://schemas.openxmlformats.org/drawingml/2006/main">
            <a:r>
              <a:t>/Users/ngwenjing/huawei-2026/README.md</a:t>
            </a:r>
          </a:p>
          <a:p xmlns:a="http://schemas.openxmlformats.org/drawingml/2006/main">
            <a:r>
              <a:t>/Users/ngwenjing/huawei-2026/TESTPLAN.md</a:t>
            </a:r>
          </a:p>
          <a:p xmlns:a="http://schemas.openxmlformats.org/drawingml/2006/main">
            <a:r>
              <a:t>/Users/ngwenjing/huawei-2026/DEPLOY.md</a:t>
            </a:r>
          </a:p>
          <a:p xmlns:a="http://schemas.openxmlformats.org/drawingml/2006/main">
            <a:r>
              <a:t>The stage order and milestone wording are proposed for this presentation, not a claim of committed delivery dates.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4824f09e9c6456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c79c0735c094d8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52af0ad4e0546b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3bdd333bd6545f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5435ddbbae0489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9425d22f136461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856F9256-8720-43E0-884E-17D1F1134C7C}"/>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B9B49732-2DF3-4989-A8A5-B0D2D5F710E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ED4DE6D4-83C0-4F4F-B192-BA785A9F978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6A93582B-7035-4253-8BCA-80E754759C6C}"/>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A3CD5268-5C03-4F32-82CC-EF57A751C3A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73F70F2-676E-48B2-A972-8609FCA9118C}"/>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F092F330-88C4-4AA2-8244-3239D82DB2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3596A20B-06AA-428F-AF20-4FC2717AB78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275B6CD9-3714-42B0-A436-FE02D7305BA8}"/>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EBD8C0CA-0DB3-46DB-9154-9CF24C8DA6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BC45165D-1296-4DA8-B6BE-0D3A86BBB8A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548AF11C-B9DC-4691-A62F-9BA1D4FC4DA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B103A73C-E8BD-4F1C-B36C-0C2E84B2D899}"/>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0F08D64A-B238-4672-B647-C5237E19E3A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07473208-4E14-42BF-93A2-A18C33DB8A5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38f7fbe05ef4fe0" /><Relationship Type="http://schemas.openxmlformats.org/officeDocument/2006/relationships/slideLayout" Target="/ppt/slideLayouts/slideLayout1.xml" Id="Rdbcfe61e56f849ff" /><Relationship Type="http://schemas.openxmlformats.org/officeDocument/2006/relationships/slideLayout" Target="/ppt/slideLayouts/slideLayout2.xml" Id="R52061e1716c7414a" /><Relationship Type="http://schemas.openxmlformats.org/officeDocument/2006/relationships/slideLayout" Target="/ppt/slideLayouts/slideLayout3.xml" Id="Rdadb441dc0f0448b" /><Relationship Type="http://schemas.openxmlformats.org/officeDocument/2006/relationships/slideLayout" Target="/ppt/slideLayouts/slideLayout4.xml" Id="Rf73eae95a1dc4906" /><Relationship Type="http://schemas.openxmlformats.org/officeDocument/2006/relationships/slideLayout" Target="/ppt/slideLayouts/slideLayout5.xml" Id="R3e04aa6d4a04474b" /><Relationship Type="http://schemas.openxmlformats.org/officeDocument/2006/relationships/slideLayout" Target="/ppt/slideLayouts/slideLayout6.xml" Id="R8fd4b11f15e34f6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bcfe61e56f849ff"/>
    <p:sldLayoutId xmlns:r="http://schemas.openxmlformats.org/officeDocument/2006/relationships" id="2147483650" r:id="R52061e1716c7414a"/>
    <p:sldLayoutId xmlns:r="http://schemas.openxmlformats.org/officeDocument/2006/relationships" id="2147483651" r:id="Rdadb441dc0f0448b"/>
    <p:sldLayoutId xmlns:r="http://schemas.openxmlformats.org/officeDocument/2006/relationships" id="2147483652" r:id="Rf73eae95a1dc4906"/>
    <p:sldLayoutId xmlns:r="http://schemas.openxmlformats.org/officeDocument/2006/relationships" id="2147483653" r:id="R3e04aa6d4a04474b"/>
    <p:sldLayoutId xmlns:r="http://schemas.openxmlformats.org/officeDocument/2006/relationships" id="2147483654" r:id="R8fd4b11f15e34f6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4a1d9c465064aad" /><Relationship Type="http://schemas.openxmlformats.org/officeDocument/2006/relationships/notesSlide" Target="/ppt/notesSlides/notesSlide1.xml" Id="Rf5033fa7018546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fb2781e6ac34d93" /><Relationship Type="http://schemas.openxmlformats.org/officeDocument/2006/relationships/notesSlide" Target="/ppt/notesSlides/notesSlide2.xml" Id="R0c36ae8aba524e7f" /></Relationships>
</file>

<file path=ppt/slides/slide1.xml><?xml version="1.0" encoding="utf-8"?>
<p:sld xmlns:p="http://schemas.openxmlformats.org/presentationml/2006/main">
  <p:cSld>
    <p:bg>
      <p:bgPr>
        <a:solidFill xmlns:a="http://schemas.openxmlformats.org/drawingml/2006/main">
          <a:srgbClr val="0A0E1A"/>
        </a:solidFill>
      </p:bgPr>
    </p:bg>
    <p:spTree>
      <p:nvGrpSpPr>
        <p:cNvPr id="1" name=""/>
        <p:cNvGrpSpPr/>
        <p:nvPr/>
      </p:nvGrpSpPr>
      <p:grpSpPr>
        <a:xfrm xmlns:a="http://schemas.openxmlformats.org/drawingml/2006/main"/>
      </p:grpSpPr>
      <p:cxnSp>
        <p:nvCxnSpPr>
          <p:cNvPr id="34" name=""/>
          <p:cNvCxnSpPr>
            <a:stCxn xmlns:a="http://schemas.openxmlformats.org/drawingml/2006/main" id="6" idx="2"/>
            <a:endCxn xmlns:a="http://schemas.openxmlformats.org/drawingml/2006/main" id="24" idx="0"/>
          </p:cNvCxnSpPr>
          <p:nvPr/>
        </p:nvCxnSpPr>
        <p:spPr>
          <a:xfrm xmlns:a="http://schemas.openxmlformats.org/drawingml/2006/main">
            <a:off x="4733925" y="3714750"/>
            <a:ext cx="0" cy="447675"/>
          </a:xfrm>
          <a:prstGeom xmlns:a="http://schemas.openxmlformats.org/drawingml/2006/main" prst="straightConnector1">
            <a:avLst/>
          </a:prstGeom>
          <a:ln xmlns:a="http://schemas.openxmlformats.org/drawingml/2006/main" w="19050">
            <a:solidFill>
              <a:srgbClr val="00FF88"/>
            </a:solidFill>
            <a:headEnd type="arrow" w="med" len="med"/>
          </a:ln>
        </p:spPr>
      </p:cxnSp>
      <p:cxnSp>
        <p:nvCxnSpPr>
          <p:cNvPr id="35" name=""/>
          <p:cNvCxnSpPr>
            <a:stCxn xmlns:a="http://schemas.openxmlformats.org/drawingml/2006/main" id="3" idx="3"/>
            <a:endCxn xmlns:a="http://schemas.openxmlformats.org/drawingml/2006/main" id="6" idx="1"/>
          </p:cNvCxnSpPr>
          <p:nvPr/>
        </p:nvCxnSpPr>
        <p:spPr>
          <a:xfrm xmlns:a="http://schemas.openxmlformats.org/drawingml/2006/main">
            <a:off x="2952750" y="3000375"/>
            <a:ext cx="514350" cy="0"/>
          </a:xfrm>
          <a:prstGeom xmlns:a="http://schemas.openxmlformats.org/drawingml/2006/main" prst="straightConnector1">
            <a:avLst/>
          </a:prstGeom>
          <a:ln xmlns:a="http://schemas.openxmlformats.org/drawingml/2006/main" w="19050">
            <a:solidFill>
              <a:srgbClr val="00FF88"/>
            </a:solidFill>
            <a:headEnd type="arrow" w="med" len="med"/>
          </a:ln>
        </p:spPr>
      </p:cxnSp>
      <p:sp>
        <p:nvSpPr>
          <p:cNvPr id="36" name="Drill Mode: current architecture">
            <a:extLst xmlns:a="http://schemas.openxmlformats.org/drawingml/2006/main">
              <a:ext uri="{FF2B5EF4-FFF2-40B4-BE49-F238E27FC236}">
                <a16:creationId xmlns:a16="http://schemas.microsoft.com/office/drawing/2014/main" id="{18A172F7-F805-4EBF-99CB-E7D38011685A}"/>
              </a:ext>
            </a:extLst>
          </p:cNvPr>
          <p:cNvSpPr>
            <a:spLocks xmlns:a="http://schemas.openxmlformats.org/drawingml/2006/main" noGrp="1"/>
          </p:cNvSpPr>
          <p:nvPr/>
        </p:nvSpPr>
        <p:spPr>
          <a:xfrm xmlns:a="http://schemas.openxmlformats.org/drawingml/2006/main">
            <a:off x="647700" y="600075"/>
            <a:ext cx="10896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Drill Mode: current architecture</a:t>
            </a:r>
          </a:p>
        </p:txBody>
      </p:sp>
      <p:sp>
        <p:nvSpPr>
          <p:cNvPr id="2" name="Implemented stack: family practice, real drill channels and ">
            <a:extLst xmlns:a="http://schemas.openxmlformats.org/drawingml/2006/main">
              <a:ext uri="{FF2B5EF4-FFF2-40B4-BE49-F238E27FC236}">
                <a16:creationId xmlns:a16="http://schemas.microsoft.com/office/drawing/2014/main" id="{BDB4177F-F77E-4938-9937-FBFFA4664BB2}"/>
              </a:ext>
            </a:extLst>
          </p:cNvPr>
          <p:cNvSpPr>
            <a:spLocks xmlns:a="http://schemas.openxmlformats.org/drawingml/2006/main" noGrp="1"/>
          </p:cNvSpPr>
          <p:nvPr/>
        </p:nvSpPr>
        <p:spPr>
          <a:xfrm xmlns:a="http://schemas.openxmlformats.org/drawingml/2006/main">
            <a:off x="647700" y="1333500"/>
            <a:ext cx="10896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A8BBCF"/>
                </a:solidFill>
                <a:latin typeface="Calibri"/>
                <a:ea typeface="Calibri"/>
                <a:cs typeface="Calibri"/>
              </a:defRPr>
            </a:pPr>
            <a:r>
              <a:rPr sz="1725" b="0">
                <a:solidFill>
                  <a:srgbClr val="A8BBCF"/>
                </a:solidFill>
                <a:latin typeface="Calibri"/>
                <a:ea typeface="Calibri"/>
                <a:cs typeface="Calibri"/>
              </a:rPr>
              <a:t>Implemented stack: family practice, real drill channels and saved progress.</a:t>
            </a:r>
          </a:p>
        </p:txBody>
      </p:sp>
      <p:sp>
        <p:nvSpPr>
          <p:cNvPr id="3" name="">
            <a:extLst xmlns:a="http://schemas.openxmlformats.org/drawingml/2006/main">
              <a:ext uri="{FF2B5EF4-FFF2-40B4-BE49-F238E27FC236}">
                <a16:creationId xmlns:a16="http://schemas.microsoft.com/office/drawing/2014/main" id="{07FA5E27-F3CD-4B9E-94C2-E97A084A02A4}"/>
              </a:ext>
            </a:extLst>
          </p:cNvPr>
          <p:cNvSpPr>
            <a:spLocks xmlns:a="http://schemas.openxmlformats.org/drawingml/2006/main" noGrp="1"/>
          </p:cNvSpPr>
          <p:nvPr/>
        </p:nvSpPr>
        <p:spPr>
          <a:xfrm xmlns:a="http://schemas.openxmlformats.org/drawingml/2006/main">
            <a:off x="647700" y="2286000"/>
            <a:ext cx="2305050" cy="1428750"/>
          </a:xfrm>
          <a:prstGeom xmlns:a="http://schemas.openxmlformats.org/drawingml/2006/main" prst="roundRect">
            <a:avLst>
              <a:gd name="adj" fmla="val 5333"/>
            </a:avLst>
          </a:prstGeom>
          <a:solidFill xmlns:a="http://schemas.openxmlformats.org/drawingml/2006/main">
            <a:srgbClr val="141C2E"/>
          </a:solidFill>
          <a:ln xmlns:a="http://schemas.openxmlformats.org/drawingml/2006/main" w="11430">
            <a:solidFill>
              <a:srgbClr val="24304A"/>
            </a:solidFill>
          </a:ln>
        </p:spPr>
      </p:sp>
      <p:sp>
        <p:nvSpPr>
          <p:cNvPr id="4" name="Family app">
            <a:extLst xmlns:a="http://schemas.openxmlformats.org/drawingml/2006/main">
              <a:ext uri="{FF2B5EF4-FFF2-40B4-BE49-F238E27FC236}">
                <a16:creationId xmlns:a16="http://schemas.microsoft.com/office/drawing/2014/main" id="{816E6895-7634-4143-B7B7-07CCCE819D7D}"/>
              </a:ext>
            </a:extLst>
          </p:cNvPr>
          <p:cNvSpPr>
            <a:spLocks xmlns:a="http://schemas.openxmlformats.org/drawingml/2006/main" noGrp="1"/>
          </p:cNvSpPr>
          <p:nvPr/>
        </p:nvSpPr>
        <p:spPr>
          <a:xfrm xmlns:a="http://schemas.openxmlformats.org/drawingml/2006/main">
            <a:off x="838200" y="2486025"/>
            <a:ext cx="1962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Family app</a:t>
            </a:r>
          </a:p>
        </p:txBody>
      </p:sp>
      <p:sp>
        <p:nvSpPr>
          <p:cNvPr id="5" name="React + TypeScript&#10;Vite + Tailwind CSS">
            <a:extLst xmlns:a="http://schemas.openxmlformats.org/drawingml/2006/main">
              <a:ext uri="{FF2B5EF4-FFF2-40B4-BE49-F238E27FC236}">
                <a16:creationId xmlns:a16="http://schemas.microsoft.com/office/drawing/2014/main" id="{D72B6347-2B3B-49D9-A522-DFD4F32FB988}"/>
              </a:ext>
            </a:extLst>
          </p:cNvPr>
          <p:cNvSpPr>
            <a:spLocks xmlns:a="http://schemas.openxmlformats.org/drawingml/2006/main" noGrp="1"/>
          </p:cNvSpPr>
          <p:nvPr/>
        </p:nvSpPr>
        <p:spPr>
          <a:xfrm xmlns:a="http://schemas.openxmlformats.org/drawingml/2006/main">
            <a:off x="838200" y="2914650"/>
            <a:ext cx="19621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A8BBCF"/>
                </a:solidFill>
                <a:latin typeface="Calibri"/>
                <a:ea typeface="Calibri"/>
                <a:cs typeface="Calibri"/>
              </a:defRPr>
            </a:pPr>
            <a:r>
              <a:rPr sz="1650" b="0">
                <a:solidFill>
                  <a:srgbClr val="A8BBCF"/>
                </a:solidFill>
                <a:latin typeface="Calibri"/>
                <a:ea typeface="Calibri"/>
                <a:cs typeface="Calibri"/>
              </a:rPr>
              <a:t>React + TypeScript</a:t>
            </a:r>
          </a:p>
          <a:p xmlns:a="http://schemas.openxmlformats.org/drawingml/2006/main">
            <a:pPr algn="l">
              <a:defRPr sz="1650" b="0">
                <a:solidFill>
                  <a:srgbClr val="A8BBCF"/>
                </a:solidFill>
                <a:latin typeface="Calibri"/>
                <a:ea typeface="Calibri"/>
                <a:cs typeface="Calibri"/>
              </a:defRPr>
            </a:pPr>
            <a:r>
              <a:rPr sz="1650" b="0">
                <a:solidFill>
                  <a:srgbClr val="A8BBCF"/>
                </a:solidFill>
                <a:latin typeface="Calibri"/>
                <a:ea typeface="Calibri"/>
                <a:cs typeface="Calibri"/>
              </a:rPr>
              <a:t>Vite + Tailwind CSS</a:t>
            </a:r>
          </a:p>
        </p:txBody>
      </p:sp>
      <p:sp>
        <p:nvSpPr>
          <p:cNvPr id="6" name="">
            <a:extLst xmlns:a="http://schemas.openxmlformats.org/drawingml/2006/main">
              <a:ext uri="{FF2B5EF4-FFF2-40B4-BE49-F238E27FC236}">
                <a16:creationId xmlns:a16="http://schemas.microsoft.com/office/drawing/2014/main" id="{875EA5C2-41F7-4703-8378-F26B7C7B4D73}"/>
              </a:ext>
            </a:extLst>
          </p:cNvPr>
          <p:cNvSpPr>
            <a:spLocks xmlns:a="http://schemas.openxmlformats.org/drawingml/2006/main" noGrp="1"/>
          </p:cNvSpPr>
          <p:nvPr/>
        </p:nvSpPr>
        <p:spPr>
          <a:xfrm xmlns:a="http://schemas.openxmlformats.org/drawingml/2006/main">
            <a:off x="3467100" y="2286000"/>
            <a:ext cx="2533650" cy="1428750"/>
          </a:xfrm>
          <a:prstGeom xmlns:a="http://schemas.openxmlformats.org/drawingml/2006/main" prst="roundRect">
            <a:avLst>
              <a:gd name="adj" fmla="val 5333"/>
            </a:avLst>
          </a:prstGeom>
          <a:solidFill xmlns:a="http://schemas.openxmlformats.org/drawingml/2006/main">
            <a:srgbClr val="0E2418"/>
          </a:solidFill>
          <a:ln xmlns:a="http://schemas.openxmlformats.org/drawingml/2006/main" w="11430">
            <a:solidFill>
              <a:srgbClr val="24304A"/>
            </a:solidFill>
          </a:ln>
        </p:spPr>
      </p:sp>
      <p:sp>
        <p:nvSpPr>
          <p:cNvPr id="7" name="Backend API">
            <a:extLst xmlns:a="http://schemas.openxmlformats.org/drawingml/2006/main">
              <a:ext uri="{FF2B5EF4-FFF2-40B4-BE49-F238E27FC236}">
                <a16:creationId xmlns:a16="http://schemas.microsoft.com/office/drawing/2014/main" id="{66F7DD2C-670B-4BA6-AA6A-7A2225148B2D}"/>
              </a:ext>
            </a:extLst>
          </p:cNvPr>
          <p:cNvSpPr>
            <a:spLocks xmlns:a="http://schemas.openxmlformats.org/drawingml/2006/main" noGrp="1"/>
          </p:cNvSpPr>
          <p:nvPr/>
        </p:nvSpPr>
        <p:spPr>
          <a:xfrm xmlns:a="http://schemas.openxmlformats.org/drawingml/2006/main">
            <a:off x="3676650" y="24860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FF88"/>
                </a:solidFill>
                <a:latin typeface="Arial"/>
                <a:ea typeface="Arial"/>
                <a:cs typeface="Arial"/>
              </a:defRPr>
            </a:pPr>
            <a:r>
              <a:rPr sz="2025" b="1">
                <a:solidFill>
                  <a:srgbClr val="00FF88"/>
                </a:solidFill>
                <a:latin typeface="Arial"/>
                <a:ea typeface="Arial"/>
                <a:cs typeface="Arial"/>
              </a:rPr>
              <a:t>Backend API</a:t>
            </a:r>
          </a:p>
        </p:txBody>
      </p:sp>
      <p:sp>
        <p:nvSpPr>
          <p:cNvPr id="8" name="Node.js + Express&#10;Consent, drills, scoring">
            <a:extLst xmlns:a="http://schemas.openxmlformats.org/drawingml/2006/main">
              <a:ext uri="{FF2B5EF4-FFF2-40B4-BE49-F238E27FC236}">
                <a16:creationId xmlns:a16="http://schemas.microsoft.com/office/drawing/2014/main" id="{CBF6942D-438E-4DCB-B334-7AF41AB0FD19}"/>
              </a:ext>
            </a:extLst>
          </p:cNvPr>
          <p:cNvSpPr>
            <a:spLocks xmlns:a="http://schemas.openxmlformats.org/drawingml/2006/main" noGrp="1"/>
          </p:cNvSpPr>
          <p:nvPr/>
        </p:nvSpPr>
        <p:spPr>
          <a:xfrm xmlns:a="http://schemas.openxmlformats.org/drawingml/2006/main">
            <a:off x="3676650" y="2914650"/>
            <a:ext cx="2143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FFFFFF"/>
                </a:solidFill>
                <a:latin typeface="Calibri"/>
                <a:ea typeface="Calibri"/>
                <a:cs typeface="Calibri"/>
              </a:defRPr>
            </a:pPr>
            <a:r>
              <a:rPr sz="1650" b="0">
                <a:solidFill>
                  <a:srgbClr val="FFFFFF"/>
                </a:solidFill>
                <a:latin typeface="Calibri"/>
                <a:ea typeface="Calibri"/>
                <a:cs typeface="Calibri"/>
              </a:rPr>
              <a:t>Node.js + Express</a:t>
            </a:r>
          </a:p>
          <a:p xmlns:a="http://schemas.openxmlformats.org/drawingml/2006/main">
            <a:pPr algn="l">
              <a:defRPr sz="1650" b="0">
                <a:solidFill>
                  <a:srgbClr val="FFFFFF"/>
                </a:solidFill>
                <a:latin typeface="Calibri"/>
                <a:ea typeface="Calibri"/>
                <a:cs typeface="Calibri"/>
              </a:defRPr>
            </a:pPr>
            <a:r>
              <a:rPr sz="1650" b="0">
                <a:solidFill>
                  <a:srgbClr val="FFFFFF"/>
                </a:solidFill>
                <a:latin typeface="Calibri"/>
                <a:ea typeface="Calibri"/>
                <a:cs typeface="Calibri"/>
              </a:rPr>
              <a:t>Consent, drills, scoring</a:t>
            </a:r>
          </a:p>
        </p:txBody>
      </p:sp>
      <p:sp>
        <p:nvSpPr>
          <p:cNvPr id="10" name="">
            <a:extLst xmlns:a="http://schemas.openxmlformats.org/drawingml/2006/main">
              <a:ext uri="{FF2B5EF4-FFF2-40B4-BE49-F238E27FC236}">
                <a16:creationId xmlns:a16="http://schemas.microsoft.com/office/drawing/2014/main" id="{A76FE784-56F0-4A1D-A573-8262D2EA4B09}"/>
              </a:ext>
            </a:extLst>
          </p:cNvPr>
          <p:cNvSpPr>
            <a:spLocks xmlns:a="http://schemas.openxmlformats.org/drawingml/2006/main" noGrp="1"/>
          </p:cNvSpPr>
          <p:nvPr/>
        </p:nvSpPr>
        <p:spPr>
          <a:xfrm xmlns:a="http://schemas.openxmlformats.org/drawingml/2006/main">
            <a:off x="6000750" y="3000375"/>
            <a:ext cx="438150" cy="0"/>
          </a:xfrm>
          <a:prstGeom xmlns:a="http://schemas.openxmlformats.org/drawingml/2006/main" prst="line">
            <a:avLst/>
          </a:prstGeom>
          <a:noFill xmlns:a="http://schemas.openxmlformats.org/drawingml/2006/main"/>
          <a:ln xmlns:a="http://schemas.openxmlformats.org/drawingml/2006/main" w="19050">
            <a:solidFill>
              <a:srgbClr val="00FF88"/>
            </a:solidFill>
          </a:ln>
        </p:spPr>
      </p:sp>
      <p:sp>
        <p:nvSpPr>
          <p:cNvPr id="11" name="">
            <a:extLst xmlns:a="http://schemas.openxmlformats.org/drawingml/2006/main">
              <a:ext uri="{FF2B5EF4-FFF2-40B4-BE49-F238E27FC236}">
                <a16:creationId xmlns:a16="http://schemas.microsoft.com/office/drawing/2014/main" id="{A4F26217-BB70-46D4-8B44-A4E2CEEDB1ED}"/>
              </a:ext>
            </a:extLst>
          </p:cNvPr>
          <p:cNvSpPr>
            <a:spLocks xmlns:a="http://schemas.openxmlformats.org/drawingml/2006/main" noGrp="1"/>
          </p:cNvSpPr>
          <p:nvPr/>
        </p:nvSpPr>
        <p:spPr>
          <a:xfrm xmlns:a="http://schemas.openxmlformats.org/drawingml/2006/main">
            <a:off x="6438900" y="2657475"/>
            <a:ext cx="0" cy="2181225"/>
          </a:xfrm>
          <a:prstGeom xmlns:a="http://schemas.openxmlformats.org/drawingml/2006/main" prst="line">
            <a:avLst/>
          </a:prstGeom>
          <a:noFill xmlns:a="http://schemas.openxmlformats.org/drawingml/2006/main"/>
          <a:ln xmlns:a="http://schemas.openxmlformats.org/drawingml/2006/main" w="19050">
            <a:solidFill>
              <a:srgbClr val="00FF88"/>
            </a:solidFill>
          </a:ln>
        </p:spPr>
      </p:sp>
      <p:sp>
        <p:nvSpPr>
          <p:cNvPr id="12" name="">
            <a:extLst xmlns:a="http://schemas.openxmlformats.org/drawingml/2006/main">
              <a:ext uri="{FF2B5EF4-FFF2-40B4-BE49-F238E27FC236}">
                <a16:creationId xmlns:a16="http://schemas.microsoft.com/office/drawing/2014/main" id="{1C119F31-480B-4007-87DE-4162EBCB8F8F}"/>
              </a:ext>
            </a:extLst>
          </p:cNvPr>
          <p:cNvSpPr>
            <a:spLocks xmlns:a="http://schemas.openxmlformats.org/drawingml/2006/main" noGrp="1"/>
          </p:cNvSpPr>
          <p:nvPr/>
        </p:nvSpPr>
        <p:spPr>
          <a:xfrm xmlns:a="http://schemas.openxmlformats.org/drawingml/2006/main">
            <a:off x="6438900" y="2657475"/>
            <a:ext cx="333375" cy="0"/>
          </a:xfrm>
          <a:prstGeom xmlns:a="http://schemas.openxmlformats.org/drawingml/2006/main" prst="line">
            <a:avLst/>
          </a:prstGeom>
          <a:noFill xmlns:a="http://schemas.openxmlformats.org/drawingml/2006/main"/>
          <a:ln xmlns:a="http://schemas.openxmlformats.org/drawingml/2006/main" w="19050">
            <a:solidFill>
              <a:srgbClr val="00FF88"/>
            </a:solidFill>
          </a:ln>
        </p:spPr>
      </p:sp>
      <p:sp>
        <p:nvSpPr>
          <p:cNvPr id="13" name="">
            <a:extLst xmlns:a="http://schemas.openxmlformats.org/drawingml/2006/main">
              <a:ext uri="{FF2B5EF4-FFF2-40B4-BE49-F238E27FC236}">
                <a16:creationId xmlns:a16="http://schemas.microsoft.com/office/drawing/2014/main" id="{1445CD19-8A7E-4BCF-A056-5EB694F2DF06}"/>
              </a:ext>
            </a:extLst>
          </p:cNvPr>
          <p:cNvSpPr>
            <a:spLocks xmlns:a="http://schemas.openxmlformats.org/drawingml/2006/main" noGrp="1"/>
          </p:cNvSpPr>
          <p:nvPr/>
        </p:nvSpPr>
        <p:spPr>
          <a:xfrm xmlns:a="http://schemas.openxmlformats.org/drawingml/2006/main">
            <a:off x="6438900" y="3943350"/>
            <a:ext cx="333375" cy="0"/>
          </a:xfrm>
          <a:prstGeom xmlns:a="http://schemas.openxmlformats.org/drawingml/2006/main" prst="line">
            <a:avLst/>
          </a:prstGeom>
          <a:noFill xmlns:a="http://schemas.openxmlformats.org/drawingml/2006/main"/>
          <a:ln xmlns:a="http://schemas.openxmlformats.org/drawingml/2006/main" w="19050">
            <a:solidFill>
              <a:srgbClr val="00FF88"/>
            </a:solidFill>
          </a:ln>
        </p:spPr>
      </p:sp>
      <p:sp>
        <p:nvSpPr>
          <p:cNvPr id="14" name="">
            <a:extLst xmlns:a="http://schemas.openxmlformats.org/drawingml/2006/main">
              <a:ext uri="{FF2B5EF4-FFF2-40B4-BE49-F238E27FC236}">
                <a16:creationId xmlns:a16="http://schemas.microsoft.com/office/drawing/2014/main" id="{E1AA1AF9-0667-45DA-A9ED-AACFFE57E137}"/>
              </a:ext>
            </a:extLst>
          </p:cNvPr>
          <p:cNvSpPr>
            <a:spLocks xmlns:a="http://schemas.openxmlformats.org/drawingml/2006/main" noGrp="1"/>
          </p:cNvSpPr>
          <p:nvPr/>
        </p:nvSpPr>
        <p:spPr>
          <a:xfrm xmlns:a="http://schemas.openxmlformats.org/drawingml/2006/main">
            <a:off x="6438900" y="4838700"/>
            <a:ext cx="333375" cy="0"/>
          </a:xfrm>
          <a:prstGeom xmlns:a="http://schemas.openxmlformats.org/drawingml/2006/main" prst="line">
            <a:avLst/>
          </a:prstGeom>
          <a:noFill xmlns:a="http://schemas.openxmlformats.org/drawingml/2006/main"/>
          <a:ln xmlns:a="http://schemas.openxmlformats.org/drawingml/2006/main" w="19050">
            <a:solidFill>
              <a:srgbClr val="00FF88"/>
            </a:solidFill>
          </a:ln>
        </p:spPr>
      </p:sp>
      <p:sp>
        <p:nvSpPr>
          <p:cNvPr id="15" name="">
            <a:extLst xmlns:a="http://schemas.openxmlformats.org/drawingml/2006/main">
              <a:ext uri="{FF2B5EF4-FFF2-40B4-BE49-F238E27FC236}">
                <a16:creationId xmlns:a16="http://schemas.microsoft.com/office/drawing/2014/main" id="{7117F39B-F22B-4E12-81E1-B3559BAAC361}"/>
              </a:ext>
            </a:extLst>
          </p:cNvPr>
          <p:cNvSpPr>
            <a:spLocks xmlns:a="http://schemas.openxmlformats.org/drawingml/2006/main" noGrp="1"/>
          </p:cNvSpPr>
          <p:nvPr/>
        </p:nvSpPr>
        <p:spPr>
          <a:xfrm xmlns:a="http://schemas.openxmlformats.org/drawingml/2006/main">
            <a:off x="6772275" y="1981200"/>
            <a:ext cx="4762500" cy="1581150"/>
          </a:xfrm>
          <a:prstGeom xmlns:a="http://schemas.openxmlformats.org/drawingml/2006/main" prst="roundRect">
            <a:avLst>
              <a:gd name="adj" fmla="val 4819"/>
            </a:avLst>
          </a:prstGeom>
          <a:solidFill xmlns:a="http://schemas.openxmlformats.org/drawingml/2006/main">
            <a:srgbClr val="141C2E"/>
          </a:solidFill>
          <a:ln xmlns:a="http://schemas.openxmlformats.org/drawingml/2006/main" w="11430">
            <a:solidFill>
              <a:srgbClr val="24304A"/>
            </a:solidFill>
          </a:ln>
        </p:spPr>
      </p:sp>
      <p:sp>
        <p:nvSpPr>
          <p:cNvPr id="16" name="VOICE  /  Vapi">
            <a:extLst xmlns:a="http://schemas.openxmlformats.org/drawingml/2006/main">
              <a:ext uri="{FF2B5EF4-FFF2-40B4-BE49-F238E27FC236}">
                <a16:creationId xmlns:a16="http://schemas.microsoft.com/office/drawing/2014/main" id="{9B60BD8A-36CC-4D1E-B1F1-DC74A7FAA2B3}"/>
              </a:ext>
            </a:extLst>
          </p:cNvPr>
          <p:cNvSpPr>
            <a:spLocks xmlns:a="http://schemas.openxmlformats.org/drawingml/2006/main" noGrp="1"/>
          </p:cNvSpPr>
          <p:nvPr/>
        </p:nvSpPr>
        <p:spPr>
          <a:xfrm xmlns:a="http://schemas.openxmlformats.org/drawingml/2006/main">
            <a:off x="6981825" y="2133600"/>
            <a:ext cx="438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0FF88"/>
                </a:solidFill>
                <a:latin typeface="Arial"/>
                <a:ea typeface="Arial"/>
                <a:cs typeface="Arial"/>
              </a:defRPr>
            </a:pPr>
            <a:r>
              <a:rPr sz="1950" b="1">
                <a:solidFill>
                  <a:srgbClr val="00FF88"/>
                </a:solidFill>
                <a:latin typeface="Arial"/>
                <a:ea typeface="Arial"/>
                <a:cs typeface="Arial"/>
              </a:rPr>
              <a:t>VOICE  /  Vapi</a:t>
            </a:r>
          </a:p>
        </p:txBody>
      </p:sp>
      <p:sp>
        <p:nvSpPr>
          <p:cNvPr id="17" name="Claude — conversation&#10;Deepgram Nova-2 — speech recognition&#10;A">
            <a:extLst xmlns:a="http://schemas.openxmlformats.org/drawingml/2006/main">
              <a:ext uri="{FF2B5EF4-FFF2-40B4-BE49-F238E27FC236}">
                <a16:creationId xmlns:a16="http://schemas.microsoft.com/office/drawing/2014/main" id="{5F8532B0-9BA0-454A-9530-91F90123769A}"/>
              </a:ext>
            </a:extLst>
          </p:cNvPr>
          <p:cNvSpPr>
            <a:spLocks xmlns:a="http://schemas.openxmlformats.org/drawingml/2006/main" noGrp="1"/>
          </p:cNvSpPr>
          <p:nvPr/>
        </p:nvSpPr>
        <p:spPr>
          <a:xfrm xmlns:a="http://schemas.openxmlformats.org/drawingml/2006/main">
            <a:off x="6981825" y="2533650"/>
            <a:ext cx="43624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FFFFFF"/>
                </a:solidFill>
                <a:latin typeface="Calibri"/>
                <a:ea typeface="Calibri"/>
                <a:cs typeface="Calibri"/>
              </a:defRPr>
            </a:pPr>
            <a:r>
              <a:rPr sz="1650" b="0">
                <a:solidFill>
                  <a:srgbClr val="FFFFFF"/>
                </a:solidFill>
                <a:latin typeface="Calibri"/>
                <a:ea typeface="Calibri"/>
                <a:cs typeface="Calibri"/>
              </a:rPr>
              <a:t>Claude — conversation</a:t>
            </a:r>
          </a:p>
          <a:p xmlns:a="http://schemas.openxmlformats.org/drawingml/2006/main">
            <a:pPr algn="l">
              <a:defRPr sz="1650" b="0">
                <a:solidFill>
                  <a:srgbClr val="FFFFFF"/>
                </a:solidFill>
                <a:latin typeface="Calibri"/>
                <a:ea typeface="Calibri"/>
                <a:cs typeface="Calibri"/>
              </a:defRPr>
            </a:pPr>
            <a:r>
              <a:rPr sz="1650" b="0">
                <a:solidFill>
                  <a:srgbClr val="FFFFFF"/>
                </a:solidFill>
                <a:latin typeface="Calibri"/>
                <a:ea typeface="Calibri"/>
                <a:cs typeface="Calibri"/>
              </a:rPr>
              <a:t>Deepgram Nova-2 — speech recognition</a:t>
            </a:r>
          </a:p>
          <a:p xmlns:a="http://schemas.openxmlformats.org/drawingml/2006/main">
            <a:pPr algn="l">
              <a:defRPr sz="1650" b="0">
                <a:solidFill>
                  <a:srgbClr val="FFFFFF"/>
                </a:solidFill>
                <a:latin typeface="Calibri"/>
                <a:ea typeface="Calibri"/>
                <a:cs typeface="Calibri"/>
              </a:defRPr>
            </a:pPr>
            <a:r>
              <a:rPr sz="1650" b="0">
                <a:solidFill>
                  <a:srgbClr val="FFFFFF"/>
                </a:solidFill>
                <a:latin typeface="Calibri"/>
                <a:ea typeface="Calibri"/>
                <a:cs typeface="Calibri"/>
              </a:rPr>
              <a:t>Azure Speech — Singapore-English voice</a:t>
            </a:r>
          </a:p>
        </p:txBody>
      </p:sp>
      <p:sp>
        <p:nvSpPr>
          <p:cNvPr id="18" name="">
            <a:extLst xmlns:a="http://schemas.openxmlformats.org/drawingml/2006/main">
              <a:ext uri="{FF2B5EF4-FFF2-40B4-BE49-F238E27FC236}">
                <a16:creationId xmlns:a16="http://schemas.microsoft.com/office/drawing/2014/main" id="{B214C299-64DE-47D1-BD9F-B461B166E4FD}"/>
              </a:ext>
            </a:extLst>
          </p:cNvPr>
          <p:cNvSpPr>
            <a:spLocks xmlns:a="http://schemas.openxmlformats.org/drawingml/2006/main" noGrp="1"/>
          </p:cNvSpPr>
          <p:nvPr/>
        </p:nvSpPr>
        <p:spPr>
          <a:xfrm xmlns:a="http://schemas.openxmlformats.org/drawingml/2006/main">
            <a:off x="6772275" y="3695700"/>
            <a:ext cx="4762500" cy="742950"/>
          </a:xfrm>
          <a:prstGeom xmlns:a="http://schemas.openxmlformats.org/drawingml/2006/main" prst="roundRect">
            <a:avLst>
              <a:gd name="adj" fmla="val 10256"/>
            </a:avLst>
          </a:prstGeom>
          <a:solidFill xmlns:a="http://schemas.openxmlformats.org/drawingml/2006/main">
            <a:srgbClr val="141C2E"/>
          </a:solidFill>
          <a:ln xmlns:a="http://schemas.openxmlformats.org/drawingml/2006/main" w="11430">
            <a:solidFill>
              <a:srgbClr val="24304A"/>
            </a:solidFill>
          </a:ln>
        </p:spPr>
      </p:sp>
      <p:sp>
        <p:nvSpPr>
          <p:cNvPr id="19" name="SMS  /  Twilio">
            <a:extLst xmlns:a="http://schemas.openxmlformats.org/drawingml/2006/main">
              <a:ext uri="{FF2B5EF4-FFF2-40B4-BE49-F238E27FC236}">
                <a16:creationId xmlns:a16="http://schemas.microsoft.com/office/drawing/2014/main" id="{3852F3CA-B338-453C-90AF-1BAD76E7EB47}"/>
              </a:ext>
            </a:extLst>
          </p:cNvPr>
          <p:cNvSpPr>
            <a:spLocks xmlns:a="http://schemas.openxmlformats.org/drawingml/2006/main" noGrp="1"/>
          </p:cNvSpPr>
          <p:nvPr/>
        </p:nvSpPr>
        <p:spPr>
          <a:xfrm xmlns:a="http://schemas.openxmlformats.org/drawingml/2006/main">
            <a:off x="6981825" y="3790950"/>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SMS  /  Twilio</a:t>
            </a:r>
          </a:p>
        </p:txBody>
      </p:sp>
      <p:sp>
        <p:nvSpPr>
          <p:cNvPr id="20" name="Drill messages + scheduled reveal">
            <a:extLst xmlns:a="http://schemas.openxmlformats.org/drawingml/2006/main">
              <a:ext uri="{FF2B5EF4-FFF2-40B4-BE49-F238E27FC236}">
                <a16:creationId xmlns:a16="http://schemas.microsoft.com/office/drawing/2014/main" id="{AEEA372C-CA85-4600-A409-EE7FA591B0DB}"/>
              </a:ext>
            </a:extLst>
          </p:cNvPr>
          <p:cNvSpPr>
            <a:spLocks xmlns:a="http://schemas.openxmlformats.org/drawingml/2006/main" noGrp="1"/>
          </p:cNvSpPr>
          <p:nvPr/>
        </p:nvSpPr>
        <p:spPr>
          <a:xfrm xmlns:a="http://schemas.openxmlformats.org/drawingml/2006/main">
            <a:off x="6981825" y="4105275"/>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A8BBCF"/>
                </a:solidFill>
                <a:latin typeface="Calibri"/>
                <a:ea typeface="Calibri"/>
                <a:cs typeface="Calibri"/>
              </a:defRPr>
            </a:pPr>
            <a:r>
              <a:rPr sz="1575" b="0">
                <a:solidFill>
                  <a:srgbClr val="A8BBCF"/>
                </a:solidFill>
                <a:latin typeface="Calibri"/>
                <a:ea typeface="Calibri"/>
                <a:cs typeface="Calibri"/>
              </a:rPr>
              <a:t>Drill messages + scheduled reveal</a:t>
            </a:r>
          </a:p>
        </p:txBody>
      </p:sp>
      <p:sp>
        <p:nvSpPr>
          <p:cNvPr id="21" name="">
            <a:extLst xmlns:a="http://schemas.openxmlformats.org/drawingml/2006/main">
              <a:ext uri="{FF2B5EF4-FFF2-40B4-BE49-F238E27FC236}">
                <a16:creationId xmlns:a16="http://schemas.microsoft.com/office/drawing/2014/main" id="{9515A536-16B8-4162-8D1F-8FFE288343D9}"/>
              </a:ext>
            </a:extLst>
          </p:cNvPr>
          <p:cNvSpPr>
            <a:spLocks xmlns:a="http://schemas.openxmlformats.org/drawingml/2006/main" noGrp="1"/>
          </p:cNvSpPr>
          <p:nvPr/>
        </p:nvSpPr>
        <p:spPr>
          <a:xfrm xmlns:a="http://schemas.openxmlformats.org/drawingml/2006/main">
            <a:off x="6772275" y="4572000"/>
            <a:ext cx="4762500" cy="742950"/>
          </a:xfrm>
          <a:prstGeom xmlns:a="http://schemas.openxmlformats.org/drawingml/2006/main" prst="roundRect">
            <a:avLst>
              <a:gd name="adj" fmla="val 10256"/>
            </a:avLst>
          </a:prstGeom>
          <a:solidFill xmlns:a="http://schemas.openxmlformats.org/drawingml/2006/main">
            <a:srgbClr val="141C2E"/>
          </a:solidFill>
          <a:ln xmlns:a="http://schemas.openxmlformats.org/drawingml/2006/main" w="11430">
            <a:solidFill>
              <a:srgbClr val="24304A"/>
            </a:solidFill>
          </a:ln>
        </p:spPr>
      </p:sp>
      <p:sp>
        <p:nvSpPr>
          <p:cNvPr id="22" name="EMAIL  /  Google Apps Script">
            <a:extLst xmlns:a="http://schemas.openxmlformats.org/drawingml/2006/main">
              <a:ext uri="{FF2B5EF4-FFF2-40B4-BE49-F238E27FC236}">
                <a16:creationId xmlns:a16="http://schemas.microsoft.com/office/drawing/2014/main" id="{C6CF5CEF-457F-4FE1-8DA3-98904A04F364}"/>
              </a:ext>
            </a:extLst>
          </p:cNvPr>
          <p:cNvSpPr>
            <a:spLocks xmlns:a="http://schemas.openxmlformats.org/drawingml/2006/main" noGrp="1"/>
          </p:cNvSpPr>
          <p:nvPr/>
        </p:nvSpPr>
        <p:spPr>
          <a:xfrm xmlns:a="http://schemas.openxmlformats.org/drawingml/2006/main">
            <a:off x="6981825" y="4667250"/>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EMAIL  /  Google Apps Script</a:t>
            </a:r>
          </a:p>
        </p:txBody>
      </p:sp>
      <p:sp>
        <p:nvSpPr>
          <p:cNvPr id="23" name="MailApp templates + safety follow-up">
            <a:extLst xmlns:a="http://schemas.openxmlformats.org/drawingml/2006/main">
              <a:ext uri="{FF2B5EF4-FFF2-40B4-BE49-F238E27FC236}">
                <a16:creationId xmlns:a16="http://schemas.microsoft.com/office/drawing/2014/main" id="{40134754-5CD1-48C0-9EB5-FD9A8E1B46D9}"/>
              </a:ext>
            </a:extLst>
          </p:cNvPr>
          <p:cNvSpPr>
            <a:spLocks xmlns:a="http://schemas.openxmlformats.org/drawingml/2006/main" noGrp="1"/>
          </p:cNvSpPr>
          <p:nvPr/>
        </p:nvSpPr>
        <p:spPr>
          <a:xfrm xmlns:a="http://schemas.openxmlformats.org/drawingml/2006/main">
            <a:off x="6981825" y="4981575"/>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A8BBCF"/>
                </a:solidFill>
                <a:latin typeface="Calibri"/>
                <a:ea typeface="Calibri"/>
                <a:cs typeface="Calibri"/>
              </a:defRPr>
            </a:pPr>
            <a:r>
              <a:rPr sz="1575" b="0">
                <a:solidFill>
                  <a:srgbClr val="A8BBCF"/>
                </a:solidFill>
                <a:latin typeface="Calibri"/>
                <a:ea typeface="Calibri"/>
                <a:cs typeface="Calibri"/>
              </a:rPr>
              <a:t>MailApp templates + safety follow-up</a:t>
            </a:r>
          </a:p>
        </p:txBody>
      </p:sp>
      <p:sp>
        <p:nvSpPr>
          <p:cNvPr id="24" name="">
            <a:extLst xmlns:a="http://schemas.openxmlformats.org/drawingml/2006/main">
              <a:ext uri="{FF2B5EF4-FFF2-40B4-BE49-F238E27FC236}">
                <a16:creationId xmlns:a16="http://schemas.microsoft.com/office/drawing/2014/main" id="{9C44BEC0-0E8F-482D-817A-06CF60120217}"/>
              </a:ext>
            </a:extLst>
          </p:cNvPr>
          <p:cNvSpPr>
            <a:spLocks xmlns:a="http://schemas.openxmlformats.org/drawingml/2006/main" noGrp="1"/>
          </p:cNvSpPr>
          <p:nvPr/>
        </p:nvSpPr>
        <p:spPr>
          <a:xfrm xmlns:a="http://schemas.openxmlformats.org/drawingml/2006/main">
            <a:off x="3467100" y="4162425"/>
            <a:ext cx="2533650" cy="1152525"/>
          </a:xfrm>
          <a:prstGeom xmlns:a="http://schemas.openxmlformats.org/drawingml/2006/main" prst="roundRect">
            <a:avLst>
              <a:gd name="adj" fmla="val 6612"/>
            </a:avLst>
          </a:prstGeom>
          <a:solidFill xmlns:a="http://schemas.openxmlformats.org/drawingml/2006/main">
            <a:srgbClr val="141C2E"/>
          </a:solidFill>
          <a:ln xmlns:a="http://schemas.openxmlformats.org/drawingml/2006/main" w="11430">
            <a:solidFill>
              <a:srgbClr val="24304A"/>
            </a:solidFill>
          </a:ln>
        </p:spPr>
      </p:sp>
      <p:sp>
        <p:nvSpPr>
          <p:cNvPr id="25" name="Supabase">
            <a:extLst xmlns:a="http://schemas.openxmlformats.org/drawingml/2006/main">
              <a:ext uri="{FF2B5EF4-FFF2-40B4-BE49-F238E27FC236}">
                <a16:creationId xmlns:a16="http://schemas.microsoft.com/office/drawing/2014/main" id="{DE195809-9556-4DA3-A420-69E84FF83B14}"/>
              </a:ext>
            </a:extLst>
          </p:cNvPr>
          <p:cNvSpPr>
            <a:spLocks xmlns:a="http://schemas.openxmlformats.org/drawingml/2006/main" noGrp="1"/>
          </p:cNvSpPr>
          <p:nvPr/>
        </p:nvSpPr>
        <p:spPr>
          <a:xfrm xmlns:a="http://schemas.openxmlformats.org/drawingml/2006/main">
            <a:off x="3676650" y="4295775"/>
            <a:ext cx="213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Supabase</a:t>
            </a:r>
          </a:p>
        </p:txBody>
      </p:sp>
      <p:sp>
        <p:nvSpPr>
          <p:cNvPr id="26" name="PostgreSQL + Realtime&#10;Results, family and chat">
            <a:extLst xmlns:a="http://schemas.openxmlformats.org/drawingml/2006/main">
              <a:ext uri="{FF2B5EF4-FFF2-40B4-BE49-F238E27FC236}">
                <a16:creationId xmlns:a16="http://schemas.microsoft.com/office/drawing/2014/main" id="{AB1CEDFD-EFFA-4B65-AB86-15D4A01D6003}"/>
              </a:ext>
            </a:extLst>
          </p:cNvPr>
          <p:cNvSpPr>
            <a:spLocks xmlns:a="http://schemas.openxmlformats.org/drawingml/2006/main" noGrp="1"/>
          </p:cNvSpPr>
          <p:nvPr/>
        </p:nvSpPr>
        <p:spPr>
          <a:xfrm xmlns:a="http://schemas.openxmlformats.org/drawingml/2006/main">
            <a:off x="3676650" y="4676775"/>
            <a:ext cx="2133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A8BBCF"/>
                </a:solidFill>
                <a:latin typeface="Calibri"/>
                <a:ea typeface="Calibri"/>
                <a:cs typeface="Calibri"/>
              </a:defRPr>
            </a:pPr>
            <a:r>
              <a:rPr sz="1575" b="0">
                <a:solidFill>
                  <a:srgbClr val="A8BBCF"/>
                </a:solidFill>
                <a:latin typeface="Calibri"/>
                <a:ea typeface="Calibri"/>
                <a:cs typeface="Calibri"/>
              </a:rPr>
              <a:t>PostgreSQL + Realtime</a:t>
            </a:r>
          </a:p>
          <a:p xmlns:a="http://schemas.openxmlformats.org/drawingml/2006/main">
            <a:pPr algn="l">
              <a:defRPr sz="1575" b="0">
                <a:solidFill>
                  <a:srgbClr val="A8BBCF"/>
                </a:solidFill>
                <a:latin typeface="Calibri"/>
                <a:ea typeface="Calibri"/>
                <a:cs typeface="Calibri"/>
              </a:defRPr>
            </a:pPr>
            <a:r>
              <a:rPr sz="1575" b="0">
                <a:solidFill>
                  <a:srgbClr val="A8BBCF"/>
                </a:solidFill>
                <a:latin typeface="Calibri"/>
                <a:ea typeface="Calibri"/>
                <a:cs typeface="Calibri"/>
              </a:rPr>
              <a:t>Results, family and chat</a:t>
            </a:r>
          </a:p>
        </p:txBody>
      </p:sp>
      <p:sp>
        <p:nvSpPr>
          <p:cNvPr id="28" name="HOSTING">
            <a:extLst xmlns:a="http://schemas.openxmlformats.org/drawingml/2006/main">
              <a:ext uri="{FF2B5EF4-FFF2-40B4-BE49-F238E27FC236}">
                <a16:creationId xmlns:a16="http://schemas.microsoft.com/office/drawing/2014/main" id="{C2E64A76-49F2-4FAA-BB57-862086D7162F}"/>
              </a:ext>
            </a:extLst>
          </p:cNvPr>
          <p:cNvSpPr>
            <a:spLocks xmlns:a="http://schemas.openxmlformats.org/drawingml/2006/main" noGrp="1"/>
          </p:cNvSpPr>
          <p:nvPr/>
        </p:nvSpPr>
        <p:spPr>
          <a:xfrm xmlns:a="http://schemas.openxmlformats.org/drawingml/2006/main">
            <a:off x="647700" y="4295775"/>
            <a:ext cx="2305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00FF88"/>
                </a:solidFill>
                <a:latin typeface="Arial"/>
                <a:ea typeface="Arial"/>
                <a:cs typeface="Arial"/>
              </a:defRPr>
            </a:pPr>
            <a:r>
              <a:rPr sz="1275" b="1">
                <a:solidFill>
                  <a:srgbClr val="00FF88"/>
                </a:solidFill>
                <a:latin typeface="Arial"/>
                <a:ea typeface="Arial"/>
                <a:cs typeface="Arial"/>
              </a:rPr>
              <a:t>HOSTING</a:t>
            </a:r>
          </a:p>
        </p:txBody>
      </p:sp>
      <p:sp>
        <p:nvSpPr>
          <p:cNvPr id="29" name="Vercel">
            <a:extLst xmlns:a="http://schemas.openxmlformats.org/drawingml/2006/main">
              <a:ext uri="{FF2B5EF4-FFF2-40B4-BE49-F238E27FC236}">
                <a16:creationId xmlns:a16="http://schemas.microsoft.com/office/drawing/2014/main" id="{50581EB6-56C7-4A40-8E7F-4F71FA587E98}"/>
              </a:ext>
            </a:extLst>
          </p:cNvPr>
          <p:cNvSpPr>
            <a:spLocks xmlns:a="http://schemas.openxmlformats.org/drawingml/2006/main" noGrp="1"/>
          </p:cNvSpPr>
          <p:nvPr/>
        </p:nvSpPr>
        <p:spPr>
          <a:xfrm xmlns:a="http://schemas.openxmlformats.org/drawingml/2006/main">
            <a:off x="647700" y="4619625"/>
            <a:ext cx="2305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Vercel</a:t>
            </a:r>
          </a:p>
        </p:txBody>
      </p:sp>
      <p:sp>
        <p:nvSpPr>
          <p:cNvPr id="30" name="Frontend + serverless API">
            <a:extLst xmlns:a="http://schemas.openxmlformats.org/drawingml/2006/main">
              <a:ext uri="{FF2B5EF4-FFF2-40B4-BE49-F238E27FC236}">
                <a16:creationId xmlns:a16="http://schemas.microsoft.com/office/drawing/2014/main" id="{C34B4FB9-AB33-45A0-B2E1-0295E0C38584}"/>
              </a:ext>
            </a:extLst>
          </p:cNvPr>
          <p:cNvSpPr>
            <a:spLocks xmlns:a="http://schemas.openxmlformats.org/drawingml/2006/main" noGrp="1"/>
          </p:cNvSpPr>
          <p:nvPr/>
        </p:nvSpPr>
        <p:spPr>
          <a:xfrm xmlns:a="http://schemas.openxmlformats.org/drawingml/2006/main">
            <a:off x="647700" y="50101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A8BBCF"/>
                </a:solidFill>
                <a:latin typeface="Calibri"/>
                <a:ea typeface="Calibri"/>
                <a:cs typeface="Calibri"/>
              </a:defRPr>
            </a:pPr>
            <a:r>
              <a:rPr sz="1500" b="0">
                <a:solidFill>
                  <a:srgbClr val="A8BBCF"/>
                </a:solidFill>
                <a:latin typeface="Calibri"/>
                <a:ea typeface="Calibri"/>
                <a:cs typeface="Calibri"/>
              </a:rPr>
              <a:t>Frontend + serverless API</a:t>
            </a:r>
          </a:p>
        </p:txBody>
      </p:sp>
      <p:sp>
        <p:nvSpPr>
          <p:cNvPr id="31" name="">
            <a:extLst xmlns:a="http://schemas.openxmlformats.org/drawingml/2006/main">
              <a:ext uri="{FF2B5EF4-FFF2-40B4-BE49-F238E27FC236}">
                <a16:creationId xmlns:a16="http://schemas.microsoft.com/office/drawing/2014/main" id="{7D5F3CC3-D262-4E43-90D1-F9126C5649ED}"/>
              </a:ext>
            </a:extLst>
          </p:cNvPr>
          <p:cNvSpPr>
            <a:spLocks xmlns:a="http://schemas.openxmlformats.org/drawingml/2006/main" noGrp="1"/>
          </p:cNvSpPr>
          <p:nvPr/>
        </p:nvSpPr>
        <p:spPr>
          <a:xfrm xmlns:a="http://schemas.openxmlformats.org/drawingml/2006/main">
            <a:off x="647700" y="5743575"/>
            <a:ext cx="10896600" cy="0"/>
          </a:xfrm>
          <a:prstGeom xmlns:a="http://schemas.openxmlformats.org/drawingml/2006/main" prst="line">
            <a:avLst/>
          </a:prstGeom>
          <a:noFill xmlns:a="http://schemas.openxmlformats.org/drawingml/2006/main"/>
          <a:ln xmlns:a="http://schemas.openxmlformats.org/drawingml/2006/main" w="19050">
            <a:solidFill>
              <a:srgbClr val="24304A"/>
            </a:solidFill>
          </a:ln>
        </p:spPr>
      </p:sp>
      <p:sp>
        <p:nvSpPr>
          <p:cNvPr id="32" name="Phone verification: Twilio Verify     •     Account sessions">
            <a:extLst xmlns:a="http://schemas.openxmlformats.org/drawingml/2006/main">
              <a:ext uri="{FF2B5EF4-FFF2-40B4-BE49-F238E27FC236}">
                <a16:creationId xmlns:a16="http://schemas.microsoft.com/office/drawing/2014/main" id="{C03F470C-BC30-4F80-9C08-68F4171B725F}"/>
              </a:ext>
            </a:extLst>
          </p:cNvPr>
          <p:cNvSpPr>
            <a:spLocks xmlns:a="http://schemas.openxmlformats.org/drawingml/2006/main" noGrp="1"/>
          </p:cNvSpPr>
          <p:nvPr/>
        </p:nvSpPr>
        <p:spPr>
          <a:xfrm xmlns:a="http://schemas.openxmlformats.org/drawingml/2006/main">
            <a:off x="647700" y="5924550"/>
            <a:ext cx="10896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FFFFFF"/>
                </a:solidFill>
                <a:latin typeface="Calibri"/>
                <a:ea typeface="Calibri"/>
                <a:cs typeface="Calibri"/>
              </a:defRPr>
            </a:pPr>
            <a:r>
              <a:rPr sz="1650" b="0">
                <a:solidFill>
                  <a:srgbClr val="FFFFFF"/>
                </a:solidFill>
                <a:latin typeface="Calibri"/>
                <a:ea typeface="Calibri"/>
                <a:cs typeface="Calibri"/>
              </a:rPr>
              <a:t>Phone verification: Twilio Verify     •     Account sessions: custom backend</a:t>
            </a:r>
          </a:p>
        </p:txBody>
      </p:sp>
      <p:sp>
        <p:nvSpPr>
          <p:cNvPr id="33" name="Voice defaults shown; production settings may override them.">
            <a:extLst xmlns:a="http://schemas.openxmlformats.org/drawingml/2006/main">
              <a:ext uri="{FF2B5EF4-FFF2-40B4-BE49-F238E27FC236}">
                <a16:creationId xmlns:a16="http://schemas.microsoft.com/office/drawing/2014/main" id="{5BFF88BE-FAA5-4EDB-8F86-155F9DEDCEAB}"/>
              </a:ext>
            </a:extLst>
          </p:cNvPr>
          <p:cNvSpPr>
            <a:spLocks xmlns:a="http://schemas.openxmlformats.org/drawingml/2006/main" noGrp="1"/>
          </p:cNvSpPr>
          <p:nvPr/>
        </p:nvSpPr>
        <p:spPr>
          <a:xfrm xmlns:a="http://schemas.openxmlformats.org/drawingml/2006/main">
            <a:off x="647700" y="6353175"/>
            <a:ext cx="10896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A8BBCF"/>
                </a:solidFill>
                <a:latin typeface="Calibri"/>
                <a:ea typeface="Calibri"/>
                <a:cs typeface="Calibri"/>
              </a:defRPr>
            </a:pPr>
            <a:r>
              <a:rPr sz="1275" b="0">
                <a:solidFill>
                  <a:srgbClr val="A8BBCF"/>
                </a:solidFill>
                <a:latin typeface="Calibri"/>
                <a:ea typeface="Calibri"/>
                <a:cs typeface="Calibri"/>
              </a:rPr>
              <a:t>Voice defaults shown; production settings may override them. Real drills are currently user-initiated.</a:t>
            </a:r>
          </a:p>
        </p:txBody>
      </p:sp>
    </p:spTree>
    <p:extLst>
      <p:ext uri="{BB962C8B-B14F-4D97-AF65-F5344CB8AC3E}">
        <p14:creationId xmlns:p14="http://schemas.microsoft.com/office/powerpoint/2010/main" val="184144692"/>
      </p:ext>
    </p:extLst>
  </p:cSld>
</p:sld>
</file>

<file path=ppt/slides/slide2.xml><?xml version="1.0" encoding="utf-8"?>
<p:sld xmlns:p="http://schemas.openxmlformats.org/presentationml/2006/main">
  <p:cSld>
    <p:bg>
      <p:bgPr>
        <a:solidFill xmlns:a="http://schemas.openxmlformats.org/drawingml/2006/main">
          <a:srgbClr val="0A0E1A"/>
        </a:solidFill>
      </p:bgPr>
    </p:bg>
    <p:spTree>
      <p:nvGrpSpPr>
        <p:cNvPr id="1" name=""/>
        <p:cNvGrpSpPr/>
        <p:nvPr/>
      </p:nvGrpSpPr>
      <p:grpSpPr>
        <a:xfrm xmlns:a="http://schemas.openxmlformats.org/drawingml/2006/main"/>
      </p:grpSpPr>
      <p:sp>
        <p:nvSpPr>
          <p:cNvPr id="27" name="Drill Mode: implementation plan">
            <a:extLst xmlns:a="http://schemas.openxmlformats.org/drawingml/2006/main">
              <a:ext uri="{FF2B5EF4-FFF2-40B4-BE49-F238E27FC236}">
                <a16:creationId xmlns:a16="http://schemas.microsoft.com/office/drawing/2014/main" id="{6D589ECC-9E98-41BD-8BD3-03274BC6C0B3}"/>
              </a:ext>
            </a:extLst>
          </p:cNvPr>
          <p:cNvSpPr>
            <a:spLocks xmlns:a="http://schemas.openxmlformats.org/drawingml/2006/main" noGrp="1"/>
          </p:cNvSpPr>
          <p:nvPr/>
        </p:nvSpPr>
        <p:spPr>
          <a:xfrm xmlns:a="http://schemas.openxmlformats.org/drawingml/2006/main">
            <a:off x="647700" y="600075"/>
            <a:ext cx="10896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Drill Mode: implementation plan</a:t>
            </a:r>
          </a:p>
        </p:txBody>
      </p:sp>
      <p:sp>
        <p:nvSpPr>
          <p:cNvPr id="2" name="Next: reliable operation, recurring practice and a measured ">
            <a:extLst xmlns:a="http://schemas.openxmlformats.org/drawingml/2006/main">
              <a:ext uri="{FF2B5EF4-FFF2-40B4-BE49-F238E27FC236}">
                <a16:creationId xmlns:a16="http://schemas.microsoft.com/office/drawing/2014/main" id="{5A03CB56-6F37-49CA-BF88-9D40E54EA7E9}"/>
              </a:ext>
            </a:extLst>
          </p:cNvPr>
          <p:cNvSpPr>
            <a:spLocks xmlns:a="http://schemas.openxmlformats.org/drawingml/2006/main" noGrp="1"/>
          </p:cNvSpPr>
          <p:nvPr/>
        </p:nvSpPr>
        <p:spPr>
          <a:xfrm xmlns:a="http://schemas.openxmlformats.org/drawingml/2006/main">
            <a:off x="647700" y="1333500"/>
            <a:ext cx="10896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A8BBCF"/>
                </a:solidFill>
                <a:latin typeface="Calibri"/>
                <a:ea typeface="Calibri"/>
                <a:cs typeface="Calibri"/>
              </a:defRPr>
            </a:pPr>
            <a:r>
              <a:rPr sz="1725" b="0">
                <a:solidFill>
                  <a:srgbClr val="A8BBCF"/>
                </a:solidFill>
                <a:latin typeface="Calibri"/>
                <a:ea typeface="Calibri"/>
                <a:cs typeface="Calibri"/>
              </a:rPr>
              <a:t>Next: reliable operation, recurring practice and a measured community pilot.</a:t>
            </a:r>
          </a:p>
        </p:txBody>
      </p:sp>
      <p:sp>
        <p:nvSpPr>
          <p:cNvPr id="3" name="">
            <a:extLst xmlns:a="http://schemas.openxmlformats.org/drawingml/2006/main">
              <a:ext uri="{FF2B5EF4-FFF2-40B4-BE49-F238E27FC236}">
                <a16:creationId xmlns:a16="http://schemas.microsoft.com/office/drawing/2014/main" id="{0D8BF2C5-4CBA-47C0-80CF-E98B8E8263A3}"/>
              </a:ext>
            </a:extLst>
          </p:cNvPr>
          <p:cNvSpPr>
            <a:spLocks xmlns:a="http://schemas.openxmlformats.org/drawingml/2006/main" noGrp="1"/>
          </p:cNvSpPr>
          <p:nvPr/>
        </p:nvSpPr>
        <p:spPr>
          <a:xfrm xmlns:a="http://schemas.openxmlformats.org/drawingml/2006/main">
            <a:off x="647700" y="2381250"/>
            <a:ext cx="10896600" cy="0"/>
          </a:xfrm>
          <a:prstGeom xmlns:a="http://schemas.openxmlformats.org/drawingml/2006/main" prst="line">
            <a:avLst/>
          </a:prstGeom>
          <a:noFill xmlns:a="http://schemas.openxmlformats.org/drawingml/2006/main"/>
          <a:ln xmlns:a="http://schemas.openxmlformats.org/drawingml/2006/main" w="19050">
            <a:solidFill>
              <a:srgbClr val="24304A"/>
            </a:solidFill>
          </a:ln>
        </p:spPr>
      </p:sp>
      <p:sp>
        <p:nvSpPr>
          <p:cNvPr id="4" name="01">
            <a:extLst xmlns:a="http://schemas.openxmlformats.org/drawingml/2006/main">
              <a:ext uri="{FF2B5EF4-FFF2-40B4-BE49-F238E27FC236}">
                <a16:creationId xmlns:a16="http://schemas.microsoft.com/office/drawing/2014/main" id="{58D6F938-F6FD-4819-91D9-B4DB9997F349}"/>
              </a:ext>
            </a:extLst>
          </p:cNvPr>
          <p:cNvSpPr>
            <a:spLocks xmlns:a="http://schemas.openxmlformats.org/drawingml/2006/main" noGrp="1"/>
          </p:cNvSpPr>
          <p:nvPr/>
        </p:nvSpPr>
        <p:spPr>
          <a:xfrm xmlns:a="http://schemas.openxmlformats.org/drawingml/2006/main">
            <a:off x="647700" y="1943100"/>
            <a:ext cx="95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00FF88"/>
                </a:solidFill>
                <a:latin typeface="Arial"/>
                <a:ea typeface="Arial"/>
                <a:cs typeface="Arial"/>
              </a:defRPr>
            </a:pPr>
            <a:r>
              <a:rPr sz="2850" b="1">
                <a:solidFill>
                  <a:srgbClr val="00FF88"/>
                </a:solidFill>
                <a:latin typeface="Arial"/>
                <a:ea typeface="Arial"/>
                <a:cs typeface="Arial"/>
              </a:rPr>
              <a:t>01</a:t>
            </a:r>
          </a:p>
        </p:txBody>
      </p:sp>
      <p:sp>
        <p:nvSpPr>
          <p:cNvPr id="5" name="Harden the&#10;working system">
            <a:extLst xmlns:a="http://schemas.openxmlformats.org/drawingml/2006/main">
              <a:ext uri="{FF2B5EF4-FFF2-40B4-BE49-F238E27FC236}">
                <a16:creationId xmlns:a16="http://schemas.microsoft.com/office/drawing/2014/main" id="{43E435D5-87D0-4A55-A2C7-C69C175C10B7}"/>
              </a:ext>
            </a:extLst>
          </p:cNvPr>
          <p:cNvSpPr>
            <a:spLocks xmlns:a="http://schemas.openxmlformats.org/drawingml/2006/main" noGrp="1"/>
          </p:cNvSpPr>
          <p:nvPr/>
        </p:nvSpPr>
        <p:spPr>
          <a:xfrm xmlns:a="http://schemas.openxmlformats.org/drawingml/2006/main">
            <a:off x="647700" y="2628900"/>
            <a:ext cx="2524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Harden the</a:t>
            </a:r>
          </a:p>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working system</a:t>
            </a:r>
          </a:p>
        </p:txBody>
      </p:sp>
      <p:sp>
        <p:nvSpPr>
          <p:cNvPr id="6" name="Resolve verification bypass&#10;Test reveal and stop flows&#10;Track">
            <a:extLst xmlns:a="http://schemas.openxmlformats.org/drawingml/2006/main">
              <a:ext uri="{FF2B5EF4-FFF2-40B4-BE49-F238E27FC236}">
                <a16:creationId xmlns:a16="http://schemas.microsoft.com/office/drawing/2014/main" id="{D540B693-F998-4394-B4E8-6596F361F270}"/>
              </a:ext>
            </a:extLst>
          </p:cNvPr>
          <p:cNvSpPr>
            <a:spLocks xmlns:a="http://schemas.openxmlformats.org/drawingml/2006/main" noGrp="1"/>
          </p:cNvSpPr>
          <p:nvPr/>
        </p:nvSpPr>
        <p:spPr>
          <a:xfrm xmlns:a="http://schemas.openxmlformats.org/drawingml/2006/main">
            <a:off x="647700" y="3619500"/>
            <a:ext cx="25431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A8BBCF"/>
                </a:solidFill>
                <a:latin typeface="Calibri"/>
                <a:ea typeface="Calibri"/>
                <a:cs typeface="Calibri"/>
              </a:defRPr>
            </a:pPr>
            <a:r>
              <a:rPr sz="1575" b="0">
                <a:solidFill>
                  <a:srgbClr val="A8BBCF"/>
                </a:solidFill>
                <a:latin typeface="Calibri"/>
                <a:ea typeface="Calibri"/>
                <a:cs typeface="Calibri"/>
              </a:rPr>
              <a:t>Resolve verification bypass</a:t>
            </a:r>
          </a:p>
          <a:p xmlns:a="http://schemas.openxmlformats.org/drawingml/2006/main">
            <a:pPr algn="l">
              <a:defRPr sz="1575" b="0">
                <a:solidFill>
                  <a:srgbClr val="A8BBCF"/>
                </a:solidFill>
                <a:latin typeface="Calibri"/>
                <a:ea typeface="Calibri"/>
                <a:cs typeface="Calibri"/>
              </a:defRPr>
            </a:pPr>
            <a:r>
              <a:rPr sz="1575" b="0">
                <a:solidFill>
                  <a:srgbClr val="A8BBCF"/>
                </a:solidFill>
                <a:latin typeface="Calibri"/>
                <a:ea typeface="Calibri"/>
                <a:cs typeface="Calibri"/>
              </a:rPr>
              <a:t>Test reveal and stop flows</a:t>
            </a:r>
          </a:p>
          <a:p xmlns:a="http://schemas.openxmlformats.org/drawingml/2006/main">
            <a:pPr algn="l">
              <a:defRPr sz="1575" b="0">
                <a:solidFill>
                  <a:srgbClr val="A8BBCF"/>
                </a:solidFill>
                <a:latin typeface="Calibri"/>
                <a:ea typeface="Calibri"/>
                <a:cs typeface="Calibri"/>
              </a:defRPr>
            </a:pPr>
            <a:r>
              <a:rPr sz="1575" b="0">
                <a:solidFill>
                  <a:srgbClr val="A8BBCF"/>
                </a:solidFill>
                <a:latin typeface="Calibri"/>
                <a:ea typeface="Calibri"/>
                <a:cs typeface="Calibri"/>
              </a:rPr>
              <a:t>Track delivery and failures</a:t>
            </a:r>
          </a:p>
        </p:txBody>
      </p:sp>
      <p:sp>
        <p:nvSpPr>
          <p:cNvPr id="7" name="MILESTONE">
            <a:extLst xmlns:a="http://schemas.openxmlformats.org/drawingml/2006/main">
              <a:ext uri="{FF2B5EF4-FFF2-40B4-BE49-F238E27FC236}">
                <a16:creationId xmlns:a16="http://schemas.microsoft.com/office/drawing/2014/main" id="{475BAF78-26E9-47DE-9309-137E19119937}"/>
              </a:ext>
            </a:extLst>
          </p:cNvPr>
          <p:cNvSpPr>
            <a:spLocks xmlns:a="http://schemas.openxmlformats.org/drawingml/2006/main" noGrp="1"/>
          </p:cNvSpPr>
          <p:nvPr/>
        </p:nvSpPr>
        <p:spPr>
          <a:xfrm xmlns:a="http://schemas.openxmlformats.org/drawingml/2006/main">
            <a:off x="647700" y="4800600"/>
            <a:ext cx="2524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0FF88"/>
                </a:solidFill>
                <a:latin typeface="Arial"/>
                <a:ea typeface="Arial"/>
                <a:cs typeface="Arial"/>
              </a:defRPr>
            </a:pPr>
            <a:r>
              <a:rPr sz="1200" b="1">
                <a:solidFill>
                  <a:srgbClr val="00FF88"/>
                </a:solidFill>
                <a:latin typeface="Arial"/>
                <a:ea typeface="Arial"/>
                <a:cs typeface="Arial"/>
              </a:rPr>
              <a:t>MILESTONE</a:t>
            </a:r>
          </a:p>
        </p:txBody>
      </p:sp>
      <p:sp>
        <p:nvSpPr>
          <p:cNvPr id="8" name="Reliable end-to-end drills">
            <a:extLst xmlns:a="http://schemas.openxmlformats.org/drawingml/2006/main">
              <a:ext uri="{FF2B5EF4-FFF2-40B4-BE49-F238E27FC236}">
                <a16:creationId xmlns:a16="http://schemas.microsoft.com/office/drawing/2014/main" id="{7A8C6FF0-B66F-48F8-BFB0-A93285000324}"/>
              </a:ext>
            </a:extLst>
          </p:cNvPr>
          <p:cNvSpPr>
            <a:spLocks xmlns:a="http://schemas.openxmlformats.org/drawingml/2006/main" noGrp="1"/>
          </p:cNvSpPr>
          <p:nvPr/>
        </p:nvSpPr>
        <p:spPr>
          <a:xfrm xmlns:a="http://schemas.openxmlformats.org/drawingml/2006/main">
            <a:off x="647700" y="5133975"/>
            <a:ext cx="2524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FFFFFF"/>
                </a:solidFill>
                <a:latin typeface="Calibri"/>
                <a:ea typeface="Calibri"/>
                <a:cs typeface="Calibri"/>
              </a:defRPr>
            </a:pPr>
            <a:r>
              <a:rPr sz="1725" b="1">
                <a:solidFill>
                  <a:srgbClr val="FFFFFF"/>
                </a:solidFill>
                <a:latin typeface="Calibri"/>
                <a:ea typeface="Calibri"/>
                <a:cs typeface="Calibri"/>
              </a:rPr>
              <a:t>Reliable end-to-end drills</a:t>
            </a:r>
          </a:p>
        </p:txBody>
      </p:sp>
      <p:sp>
        <p:nvSpPr>
          <p:cNvPr id="9" name="02">
            <a:extLst xmlns:a="http://schemas.openxmlformats.org/drawingml/2006/main">
              <a:ext uri="{FF2B5EF4-FFF2-40B4-BE49-F238E27FC236}">
                <a16:creationId xmlns:a16="http://schemas.microsoft.com/office/drawing/2014/main" id="{DA7E1C74-8AC6-4399-A87C-6C1B644AD9F0}"/>
              </a:ext>
            </a:extLst>
          </p:cNvPr>
          <p:cNvSpPr>
            <a:spLocks xmlns:a="http://schemas.openxmlformats.org/drawingml/2006/main" noGrp="1"/>
          </p:cNvSpPr>
          <p:nvPr/>
        </p:nvSpPr>
        <p:spPr>
          <a:xfrm xmlns:a="http://schemas.openxmlformats.org/drawingml/2006/main">
            <a:off x="3429000" y="1943100"/>
            <a:ext cx="95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00FF88"/>
                </a:solidFill>
                <a:latin typeface="Arial"/>
                <a:ea typeface="Arial"/>
                <a:cs typeface="Arial"/>
              </a:defRPr>
            </a:pPr>
            <a:r>
              <a:rPr sz="2850" b="1">
                <a:solidFill>
                  <a:srgbClr val="00FF88"/>
                </a:solidFill>
                <a:latin typeface="Arial"/>
                <a:ea typeface="Arial"/>
                <a:cs typeface="Arial"/>
              </a:rPr>
              <a:t>02</a:t>
            </a:r>
          </a:p>
        </p:txBody>
      </p:sp>
      <p:sp>
        <p:nvSpPr>
          <p:cNvPr id="10" name="Enable recurring&#10;practice">
            <a:extLst xmlns:a="http://schemas.openxmlformats.org/drawingml/2006/main">
              <a:ext uri="{FF2B5EF4-FFF2-40B4-BE49-F238E27FC236}">
                <a16:creationId xmlns:a16="http://schemas.microsoft.com/office/drawing/2014/main" id="{DF1AEACB-BEDF-49DA-8EF6-79591758DDE6}"/>
              </a:ext>
            </a:extLst>
          </p:cNvPr>
          <p:cNvSpPr>
            <a:spLocks xmlns:a="http://schemas.openxmlformats.org/drawingml/2006/main" noGrp="1"/>
          </p:cNvSpPr>
          <p:nvPr/>
        </p:nvSpPr>
        <p:spPr>
          <a:xfrm xmlns:a="http://schemas.openxmlformats.org/drawingml/2006/main">
            <a:off x="3429000" y="2628900"/>
            <a:ext cx="2524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Enable recurring</a:t>
            </a:r>
          </a:p>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practice</a:t>
            </a:r>
          </a:p>
        </p:txBody>
      </p:sp>
      <p:sp>
        <p:nvSpPr>
          <p:cNvPr id="11" name="Build an opt-in scheduler&#10;Add quiet hours and pause&#10;Recheck ">
            <a:extLst xmlns:a="http://schemas.openxmlformats.org/drawingml/2006/main">
              <a:ext uri="{FF2B5EF4-FFF2-40B4-BE49-F238E27FC236}">
                <a16:creationId xmlns:a16="http://schemas.microsoft.com/office/drawing/2014/main" id="{C0E30167-C772-4D84-83E4-599AE6BEB715}"/>
              </a:ext>
            </a:extLst>
          </p:cNvPr>
          <p:cNvSpPr>
            <a:spLocks xmlns:a="http://schemas.openxmlformats.org/drawingml/2006/main" noGrp="1"/>
          </p:cNvSpPr>
          <p:nvPr/>
        </p:nvSpPr>
        <p:spPr>
          <a:xfrm xmlns:a="http://schemas.openxmlformats.org/drawingml/2006/main">
            <a:off x="3429000" y="3619500"/>
            <a:ext cx="25431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A8BBCF"/>
                </a:solidFill>
                <a:latin typeface="Calibri"/>
                <a:ea typeface="Calibri"/>
                <a:cs typeface="Calibri"/>
              </a:defRPr>
            </a:pPr>
            <a:r>
              <a:rPr sz="1575" b="0">
                <a:solidFill>
                  <a:srgbClr val="A8BBCF"/>
                </a:solidFill>
                <a:latin typeface="Calibri"/>
                <a:ea typeface="Calibri"/>
                <a:cs typeface="Calibri"/>
              </a:rPr>
              <a:t>Build an opt-in scheduler</a:t>
            </a:r>
          </a:p>
          <a:p xmlns:a="http://schemas.openxmlformats.org/drawingml/2006/main">
            <a:pPr algn="l">
              <a:defRPr sz="1575" b="0">
                <a:solidFill>
                  <a:srgbClr val="A8BBCF"/>
                </a:solidFill>
                <a:latin typeface="Calibri"/>
                <a:ea typeface="Calibri"/>
                <a:cs typeface="Calibri"/>
              </a:defRPr>
            </a:pPr>
            <a:r>
              <a:rPr sz="1575" b="0">
                <a:solidFill>
                  <a:srgbClr val="A8BBCF"/>
                </a:solidFill>
                <a:latin typeface="Calibri"/>
                <a:ea typeface="Calibri"/>
                <a:cs typeface="Calibri"/>
              </a:rPr>
              <a:t>Add quiet hours and pause</a:t>
            </a:r>
          </a:p>
          <a:p xmlns:a="http://schemas.openxmlformats.org/drawingml/2006/main">
            <a:pPr algn="l">
              <a:defRPr sz="1575" b="0">
                <a:solidFill>
                  <a:srgbClr val="A8BBCF"/>
                </a:solidFill>
                <a:latin typeface="Calibri"/>
                <a:ea typeface="Calibri"/>
                <a:cs typeface="Calibri"/>
              </a:defRPr>
            </a:pPr>
            <a:r>
              <a:rPr sz="1575" b="0">
                <a:solidFill>
                  <a:srgbClr val="A8BBCF"/>
                </a:solidFill>
                <a:latin typeface="Calibri"/>
                <a:ea typeface="Calibri"/>
                <a:cs typeface="Calibri"/>
              </a:rPr>
              <a:t>Recheck consent each time</a:t>
            </a:r>
          </a:p>
        </p:txBody>
      </p:sp>
      <p:sp>
        <p:nvSpPr>
          <p:cNvPr id="12" name="MILESTONE">
            <a:extLst xmlns:a="http://schemas.openxmlformats.org/drawingml/2006/main">
              <a:ext uri="{FF2B5EF4-FFF2-40B4-BE49-F238E27FC236}">
                <a16:creationId xmlns:a16="http://schemas.microsoft.com/office/drawing/2014/main" id="{69954C0A-E6B6-4239-8B24-EED2335D7465}"/>
              </a:ext>
            </a:extLst>
          </p:cNvPr>
          <p:cNvSpPr>
            <a:spLocks xmlns:a="http://schemas.openxmlformats.org/drawingml/2006/main" noGrp="1"/>
          </p:cNvSpPr>
          <p:nvPr/>
        </p:nvSpPr>
        <p:spPr>
          <a:xfrm xmlns:a="http://schemas.openxmlformats.org/drawingml/2006/main">
            <a:off x="3429000" y="4800600"/>
            <a:ext cx="2524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0FF88"/>
                </a:solidFill>
                <a:latin typeface="Arial"/>
                <a:ea typeface="Arial"/>
                <a:cs typeface="Arial"/>
              </a:defRPr>
            </a:pPr>
            <a:r>
              <a:rPr sz="1200" b="1">
                <a:solidFill>
                  <a:srgbClr val="00FF88"/>
                </a:solidFill>
                <a:latin typeface="Arial"/>
                <a:ea typeface="Arial"/>
                <a:cs typeface="Arial"/>
              </a:rPr>
              <a:t>MILESTONE</a:t>
            </a:r>
          </a:p>
        </p:txBody>
      </p:sp>
      <p:sp>
        <p:nvSpPr>
          <p:cNvPr id="13" name="Drills within chosen windows">
            <a:extLst xmlns:a="http://schemas.openxmlformats.org/drawingml/2006/main">
              <a:ext uri="{FF2B5EF4-FFF2-40B4-BE49-F238E27FC236}">
                <a16:creationId xmlns:a16="http://schemas.microsoft.com/office/drawing/2014/main" id="{0512FC12-E5BA-4561-9B72-F156D4FFA713}"/>
              </a:ext>
            </a:extLst>
          </p:cNvPr>
          <p:cNvSpPr>
            <a:spLocks xmlns:a="http://schemas.openxmlformats.org/drawingml/2006/main" noGrp="1"/>
          </p:cNvSpPr>
          <p:nvPr/>
        </p:nvSpPr>
        <p:spPr>
          <a:xfrm xmlns:a="http://schemas.openxmlformats.org/drawingml/2006/main">
            <a:off x="3429000" y="5133975"/>
            <a:ext cx="2524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FFFFFF"/>
                </a:solidFill>
                <a:latin typeface="Calibri"/>
                <a:ea typeface="Calibri"/>
                <a:cs typeface="Calibri"/>
              </a:defRPr>
            </a:pPr>
            <a:r>
              <a:rPr sz="1725" b="1">
                <a:solidFill>
                  <a:srgbClr val="FFFFFF"/>
                </a:solidFill>
                <a:latin typeface="Calibri"/>
                <a:ea typeface="Calibri"/>
                <a:cs typeface="Calibri"/>
              </a:rPr>
              <a:t>Drills within chosen windows</a:t>
            </a:r>
          </a:p>
        </p:txBody>
      </p:sp>
      <p:sp>
        <p:nvSpPr>
          <p:cNvPr id="14" name="03">
            <a:extLst xmlns:a="http://schemas.openxmlformats.org/drawingml/2006/main">
              <a:ext uri="{FF2B5EF4-FFF2-40B4-BE49-F238E27FC236}">
                <a16:creationId xmlns:a16="http://schemas.microsoft.com/office/drawing/2014/main" id="{2B8E4E14-AFEB-4238-A7C5-99875A6F3073}"/>
              </a:ext>
            </a:extLst>
          </p:cNvPr>
          <p:cNvSpPr>
            <a:spLocks xmlns:a="http://schemas.openxmlformats.org/drawingml/2006/main" noGrp="1"/>
          </p:cNvSpPr>
          <p:nvPr/>
        </p:nvSpPr>
        <p:spPr>
          <a:xfrm xmlns:a="http://schemas.openxmlformats.org/drawingml/2006/main">
            <a:off x="6210300" y="1943100"/>
            <a:ext cx="95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00FF88"/>
                </a:solidFill>
                <a:latin typeface="Arial"/>
                <a:ea typeface="Arial"/>
                <a:cs typeface="Arial"/>
              </a:defRPr>
            </a:pPr>
            <a:r>
              <a:rPr sz="2850" b="1">
                <a:solidFill>
                  <a:srgbClr val="00FF88"/>
                </a:solidFill>
                <a:latin typeface="Arial"/>
                <a:ea typeface="Arial"/>
                <a:cs typeface="Arial"/>
              </a:rPr>
              <a:t>03</a:t>
            </a:r>
          </a:p>
        </p:txBody>
      </p:sp>
      <p:sp>
        <p:nvSpPr>
          <p:cNvPr id="15" name="Run a small&#10;community pilot">
            <a:extLst xmlns:a="http://schemas.openxmlformats.org/drawingml/2006/main">
              <a:ext uri="{FF2B5EF4-FFF2-40B4-BE49-F238E27FC236}">
                <a16:creationId xmlns:a16="http://schemas.microsoft.com/office/drawing/2014/main" id="{82977C2E-08FC-4AF7-B7D0-DDA0325E654E}"/>
              </a:ext>
            </a:extLst>
          </p:cNvPr>
          <p:cNvSpPr>
            <a:spLocks xmlns:a="http://schemas.openxmlformats.org/drawingml/2006/main" noGrp="1"/>
          </p:cNvSpPr>
          <p:nvPr/>
        </p:nvSpPr>
        <p:spPr>
          <a:xfrm xmlns:a="http://schemas.openxmlformats.org/drawingml/2006/main">
            <a:off x="6210300" y="2628900"/>
            <a:ext cx="2524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Run a small</a:t>
            </a:r>
          </a:p>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community pilot</a:t>
            </a:r>
          </a:p>
        </p:txBody>
      </p:sp>
      <p:sp>
        <p:nvSpPr>
          <p:cNvPr id="16" name="Recruit a consenting cohort&#10;Review scenario variety&#10;Test acc">
            <a:extLst xmlns:a="http://schemas.openxmlformats.org/drawingml/2006/main">
              <a:ext uri="{FF2B5EF4-FFF2-40B4-BE49-F238E27FC236}">
                <a16:creationId xmlns:a16="http://schemas.microsoft.com/office/drawing/2014/main" id="{F0CAEA86-1819-42E7-9B2C-8ABE22954D81}"/>
              </a:ext>
            </a:extLst>
          </p:cNvPr>
          <p:cNvSpPr>
            <a:spLocks xmlns:a="http://schemas.openxmlformats.org/drawingml/2006/main" noGrp="1"/>
          </p:cNvSpPr>
          <p:nvPr/>
        </p:nvSpPr>
        <p:spPr>
          <a:xfrm xmlns:a="http://schemas.openxmlformats.org/drawingml/2006/main">
            <a:off x="6210300" y="3619500"/>
            <a:ext cx="25431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A8BBCF"/>
                </a:solidFill>
                <a:latin typeface="Calibri"/>
                <a:ea typeface="Calibri"/>
                <a:cs typeface="Calibri"/>
              </a:defRPr>
            </a:pPr>
            <a:r>
              <a:rPr sz="1575" b="0">
                <a:solidFill>
                  <a:srgbClr val="A8BBCF"/>
                </a:solidFill>
                <a:latin typeface="Calibri"/>
                <a:ea typeface="Calibri"/>
                <a:cs typeface="Calibri"/>
              </a:rPr>
              <a:t>Recruit a consenting cohort</a:t>
            </a:r>
          </a:p>
          <a:p xmlns:a="http://schemas.openxmlformats.org/drawingml/2006/main">
            <a:pPr algn="l">
              <a:defRPr sz="1575" b="0">
                <a:solidFill>
                  <a:srgbClr val="A8BBCF"/>
                </a:solidFill>
                <a:latin typeface="Calibri"/>
                <a:ea typeface="Calibri"/>
                <a:cs typeface="Calibri"/>
              </a:defRPr>
            </a:pPr>
            <a:r>
              <a:rPr sz="1575" b="0">
                <a:solidFill>
                  <a:srgbClr val="A8BBCF"/>
                </a:solidFill>
                <a:latin typeface="Calibri"/>
                <a:ea typeface="Calibri"/>
                <a:cs typeface="Calibri"/>
              </a:rPr>
              <a:t>Review scenario variety</a:t>
            </a:r>
          </a:p>
          <a:p xmlns:a="http://schemas.openxmlformats.org/drawingml/2006/main">
            <a:pPr algn="l">
              <a:defRPr sz="1575" b="0">
                <a:solidFill>
                  <a:srgbClr val="A8BBCF"/>
                </a:solidFill>
                <a:latin typeface="Calibri"/>
                <a:ea typeface="Calibri"/>
                <a:cs typeface="Calibri"/>
              </a:defRPr>
            </a:pPr>
            <a:r>
              <a:rPr sz="1575" b="0">
                <a:solidFill>
                  <a:srgbClr val="A8BBCF"/>
                </a:solidFill>
                <a:latin typeface="Calibri"/>
                <a:ea typeface="Calibri"/>
                <a:cs typeface="Calibri"/>
              </a:rPr>
              <a:t>Test accessibility with seniors</a:t>
            </a:r>
          </a:p>
        </p:txBody>
      </p:sp>
      <p:sp>
        <p:nvSpPr>
          <p:cNvPr id="17" name="MILESTONE">
            <a:extLst xmlns:a="http://schemas.openxmlformats.org/drawingml/2006/main">
              <a:ext uri="{FF2B5EF4-FFF2-40B4-BE49-F238E27FC236}">
                <a16:creationId xmlns:a16="http://schemas.microsoft.com/office/drawing/2014/main" id="{B8D69E07-FB50-4FAC-82E2-3014462630B1}"/>
              </a:ext>
            </a:extLst>
          </p:cNvPr>
          <p:cNvSpPr>
            <a:spLocks xmlns:a="http://schemas.openxmlformats.org/drawingml/2006/main" noGrp="1"/>
          </p:cNvSpPr>
          <p:nvPr/>
        </p:nvSpPr>
        <p:spPr>
          <a:xfrm xmlns:a="http://schemas.openxmlformats.org/drawingml/2006/main">
            <a:off x="6210300" y="4800600"/>
            <a:ext cx="2524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0FF88"/>
                </a:solidFill>
                <a:latin typeface="Arial"/>
                <a:ea typeface="Arial"/>
                <a:cs typeface="Arial"/>
              </a:defRPr>
            </a:pPr>
            <a:r>
              <a:rPr sz="1200" b="1">
                <a:solidFill>
                  <a:srgbClr val="00FF88"/>
                </a:solidFill>
                <a:latin typeface="Arial"/>
                <a:ea typeface="Arial"/>
                <a:cs typeface="Arial"/>
              </a:rPr>
              <a:t>MILESTONE</a:t>
            </a:r>
          </a:p>
        </p:txBody>
      </p:sp>
      <p:sp>
        <p:nvSpPr>
          <p:cNvPr id="18" name="Usable onboarding and drills">
            <a:extLst xmlns:a="http://schemas.openxmlformats.org/drawingml/2006/main">
              <a:ext uri="{FF2B5EF4-FFF2-40B4-BE49-F238E27FC236}">
                <a16:creationId xmlns:a16="http://schemas.microsoft.com/office/drawing/2014/main" id="{7629857A-7B2A-434B-A394-D3E4227C7E5A}"/>
              </a:ext>
            </a:extLst>
          </p:cNvPr>
          <p:cNvSpPr>
            <a:spLocks xmlns:a="http://schemas.openxmlformats.org/drawingml/2006/main" noGrp="1"/>
          </p:cNvSpPr>
          <p:nvPr/>
        </p:nvSpPr>
        <p:spPr>
          <a:xfrm xmlns:a="http://schemas.openxmlformats.org/drawingml/2006/main">
            <a:off x="6210300" y="5133975"/>
            <a:ext cx="2524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FFFFFF"/>
                </a:solidFill>
                <a:latin typeface="Calibri"/>
                <a:ea typeface="Calibri"/>
                <a:cs typeface="Calibri"/>
              </a:defRPr>
            </a:pPr>
            <a:r>
              <a:rPr sz="1725" b="1">
                <a:solidFill>
                  <a:srgbClr val="FFFFFF"/>
                </a:solidFill>
                <a:latin typeface="Calibri"/>
                <a:ea typeface="Calibri"/>
                <a:cs typeface="Calibri"/>
              </a:rPr>
              <a:t>Usable onboarding and drills</a:t>
            </a:r>
          </a:p>
        </p:txBody>
      </p:sp>
      <p:sp>
        <p:nvSpPr>
          <p:cNvPr id="19" name="04">
            <a:extLst xmlns:a="http://schemas.openxmlformats.org/drawingml/2006/main">
              <a:ext uri="{FF2B5EF4-FFF2-40B4-BE49-F238E27FC236}">
                <a16:creationId xmlns:a16="http://schemas.microsoft.com/office/drawing/2014/main" id="{06A920CB-B99D-4D3A-8D74-692F6E8CB55F}"/>
              </a:ext>
            </a:extLst>
          </p:cNvPr>
          <p:cNvSpPr>
            <a:spLocks xmlns:a="http://schemas.openxmlformats.org/drawingml/2006/main" noGrp="1"/>
          </p:cNvSpPr>
          <p:nvPr/>
        </p:nvSpPr>
        <p:spPr>
          <a:xfrm xmlns:a="http://schemas.openxmlformats.org/drawingml/2006/main">
            <a:off x="8991600" y="1943100"/>
            <a:ext cx="95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00FF88"/>
                </a:solidFill>
                <a:latin typeface="Arial"/>
                <a:ea typeface="Arial"/>
                <a:cs typeface="Arial"/>
              </a:defRPr>
            </a:pPr>
            <a:r>
              <a:rPr sz="2850" b="1">
                <a:solidFill>
                  <a:srgbClr val="00FF88"/>
                </a:solidFill>
                <a:latin typeface="Arial"/>
                <a:ea typeface="Arial"/>
                <a:cs typeface="Arial"/>
              </a:rPr>
              <a:t>04</a:t>
            </a:r>
          </a:p>
        </p:txBody>
      </p:sp>
      <p:sp>
        <p:nvSpPr>
          <p:cNvPr id="20" name="Measure, improve&#10;and expand">
            <a:extLst xmlns:a="http://schemas.openxmlformats.org/drawingml/2006/main">
              <a:ext uri="{FF2B5EF4-FFF2-40B4-BE49-F238E27FC236}">
                <a16:creationId xmlns:a16="http://schemas.microsoft.com/office/drawing/2014/main" id="{7B704B20-6F84-4896-B8FF-F7C2B3F03112}"/>
              </a:ext>
            </a:extLst>
          </p:cNvPr>
          <p:cNvSpPr>
            <a:spLocks xmlns:a="http://schemas.openxmlformats.org/drawingml/2006/main" noGrp="1"/>
          </p:cNvSpPr>
          <p:nvPr/>
        </p:nvSpPr>
        <p:spPr>
          <a:xfrm xmlns:a="http://schemas.openxmlformats.org/drawingml/2006/main">
            <a:off x="8991600" y="2628900"/>
            <a:ext cx="2524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Measure, improve</a:t>
            </a:r>
          </a:p>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and expand</a:t>
            </a:r>
          </a:p>
        </p:txBody>
      </p:sp>
      <p:sp>
        <p:nvSpPr>
          <p:cNvPr id="21" name="Compare safe responses&#10;Track return visits and cost&#10;Refine b">
            <a:extLst xmlns:a="http://schemas.openxmlformats.org/drawingml/2006/main">
              <a:ext uri="{FF2B5EF4-FFF2-40B4-BE49-F238E27FC236}">
                <a16:creationId xmlns:a16="http://schemas.microsoft.com/office/drawing/2014/main" id="{BDD2245A-0706-4531-BA3E-6750CA6ACEAC}"/>
              </a:ext>
            </a:extLst>
          </p:cNvPr>
          <p:cNvSpPr>
            <a:spLocks xmlns:a="http://schemas.openxmlformats.org/drawingml/2006/main" noGrp="1"/>
          </p:cNvSpPr>
          <p:nvPr/>
        </p:nvSpPr>
        <p:spPr>
          <a:xfrm xmlns:a="http://schemas.openxmlformats.org/drawingml/2006/main">
            <a:off x="8991600" y="3619500"/>
            <a:ext cx="25431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A8BBCF"/>
                </a:solidFill>
                <a:latin typeface="Calibri"/>
                <a:ea typeface="Calibri"/>
                <a:cs typeface="Calibri"/>
              </a:defRPr>
            </a:pPr>
            <a:r>
              <a:rPr sz="1575" b="0">
                <a:solidFill>
                  <a:srgbClr val="A8BBCF"/>
                </a:solidFill>
                <a:latin typeface="Calibri"/>
                <a:ea typeface="Calibri"/>
                <a:cs typeface="Calibri"/>
              </a:rPr>
              <a:t>Compare safe responses</a:t>
            </a:r>
          </a:p>
          <a:p xmlns:a="http://schemas.openxmlformats.org/drawingml/2006/main">
            <a:pPr algn="l">
              <a:defRPr sz="1575" b="0">
                <a:solidFill>
                  <a:srgbClr val="A8BBCF"/>
                </a:solidFill>
                <a:latin typeface="Calibri"/>
                <a:ea typeface="Calibri"/>
                <a:cs typeface="Calibri"/>
              </a:defRPr>
            </a:pPr>
            <a:r>
              <a:rPr sz="1575" b="0">
                <a:solidFill>
                  <a:srgbClr val="A8BBCF"/>
                </a:solidFill>
                <a:latin typeface="Calibri"/>
                <a:ea typeface="Calibri"/>
                <a:cs typeface="Calibri"/>
              </a:rPr>
              <a:t>Track return visits and cost</a:t>
            </a:r>
          </a:p>
          <a:p xmlns:a="http://schemas.openxmlformats.org/drawingml/2006/main">
            <a:pPr algn="l">
              <a:defRPr sz="1575" b="0">
                <a:solidFill>
                  <a:srgbClr val="A8BBCF"/>
                </a:solidFill>
                <a:latin typeface="Calibri"/>
                <a:ea typeface="Calibri"/>
                <a:cs typeface="Calibri"/>
              </a:defRPr>
            </a:pPr>
            <a:r>
              <a:rPr sz="1575" b="0">
                <a:solidFill>
                  <a:srgbClr val="A8BBCF"/>
                </a:solidFill>
                <a:latin typeface="Calibri"/>
                <a:ea typeface="Calibri"/>
                <a:cs typeface="Calibri"/>
              </a:rPr>
              <a:t>Refine before wider rollout</a:t>
            </a:r>
          </a:p>
        </p:txBody>
      </p:sp>
      <p:sp>
        <p:nvSpPr>
          <p:cNvPr id="22" name="MILESTONE">
            <a:extLst xmlns:a="http://schemas.openxmlformats.org/drawingml/2006/main">
              <a:ext uri="{FF2B5EF4-FFF2-40B4-BE49-F238E27FC236}">
                <a16:creationId xmlns:a16="http://schemas.microsoft.com/office/drawing/2014/main" id="{2D7453CD-F23E-4124-BD36-8F9B7B6C2A06}"/>
              </a:ext>
            </a:extLst>
          </p:cNvPr>
          <p:cNvSpPr>
            <a:spLocks xmlns:a="http://schemas.openxmlformats.org/drawingml/2006/main" noGrp="1"/>
          </p:cNvSpPr>
          <p:nvPr/>
        </p:nvSpPr>
        <p:spPr>
          <a:xfrm xmlns:a="http://schemas.openxmlformats.org/drawingml/2006/main">
            <a:off x="8991600" y="4800600"/>
            <a:ext cx="2524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0FF88"/>
                </a:solidFill>
                <a:latin typeface="Arial"/>
                <a:ea typeface="Arial"/>
                <a:cs typeface="Arial"/>
              </a:defRPr>
            </a:pPr>
            <a:r>
              <a:rPr sz="1200" b="1">
                <a:solidFill>
                  <a:srgbClr val="00FF88"/>
                </a:solidFill>
                <a:latin typeface="Arial"/>
                <a:ea typeface="Arial"/>
                <a:cs typeface="Arial"/>
              </a:rPr>
              <a:t>MILESTONE</a:t>
            </a:r>
          </a:p>
        </p:txBody>
      </p:sp>
      <p:sp>
        <p:nvSpPr>
          <p:cNvPr id="23" name="Evidence for a larger cohort">
            <a:extLst xmlns:a="http://schemas.openxmlformats.org/drawingml/2006/main">
              <a:ext uri="{FF2B5EF4-FFF2-40B4-BE49-F238E27FC236}">
                <a16:creationId xmlns:a16="http://schemas.microsoft.com/office/drawing/2014/main" id="{F7280860-3D52-488C-9D8B-CC7578CBE192}"/>
              </a:ext>
            </a:extLst>
          </p:cNvPr>
          <p:cNvSpPr>
            <a:spLocks xmlns:a="http://schemas.openxmlformats.org/drawingml/2006/main" noGrp="1"/>
          </p:cNvSpPr>
          <p:nvPr/>
        </p:nvSpPr>
        <p:spPr>
          <a:xfrm xmlns:a="http://schemas.openxmlformats.org/drawingml/2006/main">
            <a:off x="8991600" y="5133975"/>
            <a:ext cx="2524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FFFFFF"/>
                </a:solidFill>
                <a:latin typeface="Calibri"/>
                <a:ea typeface="Calibri"/>
                <a:cs typeface="Calibri"/>
              </a:defRPr>
            </a:pPr>
            <a:r>
              <a:rPr sz="1725" b="1">
                <a:solidFill>
                  <a:srgbClr val="FFFFFF"/>
                </a:solidFill>
                <a:latin typeface="Calibri"/>
                <a:ea typeface="Calibri"/>
                <a:cs typeface="Calibri"/>
              </a:rPr>
              <a:t>Evidence for a larger cohort</a:t>
            </a:r>
          </a:p>
        </p:txBody>
      </p:sp>
      <p:sp>
        <p:nvSpPr>
          <p:cNvPr id="24" name="">
            <a:extLst xmlns:a="http://schemas.openxmlformats.org/drawingml/2006/main">
              <a:ext uri="{FF2B5EF4-FFF2-40B4-BE49-F238E27FC236}">
                <a16:creationId xmlns:a16="http://schemas.microsoft.com/office/drawing/2014/main" id="{97B717E6-B8FB-436B-BFAB-1684A44527FC}"/>
              </a:ext>
            </a:extLst>
          </p:cNvPr>
          <p:cNvSpPr>
            <a:spLocks xmlns:a="http://schemas.openxmlformats.org/drawingml/2006/main" noGrp="1"/>
          </p:cNvSpPr>
          <p:nvPr/>
        </p:nvSpPr>
        <p:spPr>
          <a:xfrm xmlns:a="http://schemas.openxmlformats.org/drawingml/2006/main">
            <a:off x="647700" y="5838825"/>
            <a:ext cx="10896600" cy="0"/>
          </a:xfrm>
          <a:prstGeom xmlns:a="http://schemas.openxmlformats.org/drawingml/2006/main" prst="line">
            <a:avLst/>
          </a:prstGeom>
          <a:noFill xmlns:a="http://schemas.openxmlformats.org/drawingml/2006/main"/>
          <a:ln xmlns:a="http://schemas.openxmlformats.org/drawingml/2006/main" w="19050">
            <a:solidFill>
              <a:srgbClr val="24304A"/>
            </a:solidFill>
          </a:ln>
        </p:spPr>
      </p:sp>
      <p:sp>
        <p:nvSpPr>
          <p:cNvPr id="25" name="Pilot measures: safe responses  •  repeat practice  •  deliv">
            <a:extLst xmlns:a="http://schemas.openxmlformats.org/drawingml/2006/main">
              <a:ext uri="{FF2B5EF4-FFF2-40B4-BE49-F238E27FC236}">
                <a16:creationId xmlns:a16="http://schemas.microsoft.com/office/drawing/2014/main" id="{710B1D4E-1B3C-4BB2-8072-B53C418708AC}"/>
              </a:ext>
            </a:extLst>
          </p:cNvPr>
          <p:cNvSpPr>
            <a:spLocks xmlns:a="http://schemas.openxmlformats.org/drawingml/2006/main" noGrp="1"/>
          </p:cNvSpPr>
          <p:nvPr/>
        </p:nvSpPr>
        <p:spPr>
          <a:xfrm xmlns:a="http://schemas.openxmlformats.org/drawingml/2006/main">
            <a:off x="647700" y="6019800"/>
            <a:ext cx="10896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FFFFFF"/>
                </a:solidFill>
                <a:latin typeface="Calibri"/>
                <a:ea typeface="Calibri"/>
                <a:cs typeface="Calibri"/>
              </a:defRPr>
            </a:pPr>
            <a:r>
              <a:rPr sz="1725" b="0">
                <a:solidFill>
                  <a:srgbClr val="FFFFFF"/>
                </a:solidFill>
                <a:latin typeface="Calibri"/>
                <a:ea typeface="Calibri"/>
                <a:cs typeface="Calibri"/>
              </a:rPr>
              <a:t>Pilot measures: safe responses  •  repeat practice  •  delivery reliability  •  cost</a:t>
            </a:r>
          </a:p>
        </p:txBody>
      </p:sp>
      <p:sp>
        <p:nvSpPr>
          <p:cNvPr id="26" name="Proposed stages; partner and timing to be agreed. Huawei Clo">
            <a:extLst xmlns:a="http://schemas.openxmlformats.org/drawingml/2006/main">
              <a:ext uri="{FF2B5EF4-FFF2-40B4-BE49-F238E27FC236}">
                <a16:creationId xmlns:a16="http://schemas.microsoft.com/office/drawing/2014/main" id="{DEC9687C-4359-44F0-B426-7DE200D7F212}"/>
              </a:ext>
            </a:extLst>
          </p:cNvPr>
          <p:cNvSpPr>
            <a:spLocks xmlns:a="http://schemas.openxmlformats.org/drawingml/2006/main" noGrp="1"/>
          </p:cNvSpPr>
          <p:nvPr/>
        </p:nvSpPr>
        <p:spPr>
          <a:xfrm xmlns:a="http://schemas.openxmlformats.org/drawingml/2006/main">
            <a:off x="647700" y="6457950"/>
            <a:ext cx="10896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A8BBCF"/>
                </a:solidFill>
                <a:latin typeface="Calibri"/>
                <a:ea typeface="Calibri"/>
                <a:cs typeface="Calibri"/>
              </a:defRPr>
            </a:pPr>
            <a:r>
              <a:rPr sz="1275" b="0">
                <a:solidFill>
                  <a:srgbClr val="A8BBCF"/>
                </a:solidFill>
                <a:latin typeface="Calibri"/>
                <a:ea typeface="Calibri"/>
                <a:cs typeface="Calibri"/>
              </a:rPr>
              <a:t>Proposed stages; partner and timing to be agreed. Huawei Cloud deployment remains an option to evaluate.</a:t>
            </a:r>
          </a:p>
        </p:txBody>
      </p:sp>
    </p:spTree>
    <p:extLst>
      <p:ext uri="{BB962C8B-B14F-4D97-AF65-F5344CB8AC3E}">
        <p14:creationId xmlns:p14="http://schemas.microsoft.com/office/powerpoint/2010/main" val="18044898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2026-10-02T08:04:08.9030000Z</dcterms:created>
  <dcterms:modified xsi:type="dcterms:W3CDTF">2026-10-02T08:04:08.9030000Z</dcterms:modified>
</coreProperties>
</file>