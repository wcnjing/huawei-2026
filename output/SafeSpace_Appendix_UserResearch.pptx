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Age group</c:v>
                </c:pt>
              </c:strCache>
            </c:strRef>
          </c:tx>
          <c:spPr>
            <a:solidFill>
              <a:srgbClr val="6EF58A"/>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Sheet1!$A$2:$A$7</c:f>
              <c:multiLvlStrCache>
                <c:ptCount val="6"/>
                <c:lvl>
                  <c:pt idx="0">
                    <c:v>Below 18</c:v>
                  </c:pt>
                  <c:pt idx="1">
                    <c:v>18–24</c:v>
                  </c:pt>
                  <c:pt idx="2">
                    <c:v>25–34</c:v>
                  </c:pt>
                  <c:pt idx="3">
                    <c:v>35–44</c:v>
                  </c:pt>
                  <c:pt idx="4">
                    <c:v>45–54</c:v>
                  </c:pt>
                  <c:pt idx="5">
                    <c:v>55–64</c:v>
                  </c:pt>
                </c:lvl>
              </c:multiLvlStrCache>
            </c:multiLvlStrRef>
          </c:cat>
          <c:val>
            <c:numRef>
              <c:f>Sheet1!$B$2:$B$7</c:f>
              <c:numCache>
                <c:formatCode>General</c:formatCode>
                <c:ptCount val="6"/>
                <c:pt idx="0">
                  <c:v>3</c:v>
                </c:pt>
                <c:pt idx="1">
                  <c:v>22</c:v>
                </c:pt>
                <c:pt idx="2">
                  <c:v>2</c:v>
                </c:pt>
                <c:pt idx="3">
                  <c:v>1</c:v>
                </c:pt>
                <c:pt idx="4">
                  <c:v>0</c:v>
                </c:pt>
                <c:pt idx="5">
                  <c:v>3</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2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Household</c:v>
                </c:pt>
              </c:strCache>
            </c:strRef>
          </c:tx>
          <c:spPr>
            <a:solidFill>
              <a:srgbClr val="6CCFC4"/>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Sheet1!$A$2:$A$6</c:f>
              <c:multiLvlStrCache>
                <c:ptCount val="5"/>
                <c:lvl>
                  <c:pt idx="0">
                    <c:v>Parents</c:v>
                  </c:pt>
                  <c:pt idx="1">
                    <c:v>Siblings</c:v>
                  </c:pt>
                  <c:pt idx="2">
                    <c:v>Grandparents</c:v>
                  </c:pt>
                  <c:pt idx="3">
                    <c:v>Spouse</c:v>
                  </c:pt>
                  <c:pt idx="4">
                    <c:v>Children</c:v>
                  </c:pt>
                </c:lvl>
              </c:multiLvlStrCache>
            </c:multiLvlStrRef>
          </c:cat>
          <c:val>
            <c:numRef>
              <c:f>Sheet1!$B$2:$B$6</c:f>
              <c:numCache>
                <c:formatCode>General</c:formatCode>
                <c:ptCount val="5"/>
                <c:pt idx="0">
                  <c:v>27</c:v>
                </c:pt>
                <c:pt idx="1">
                  <c:v>20</c:v>
                </c:pt>
                <c:pt idx="2">
                  <c:v>4</c:v>
                </c:pt>
                <c:pt idx="3">
                  <c:v>4</c:v>
                </c:pt>
                <c:pt idx="4">
                  <c:v>4</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3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Scam encountered</c:v>
                </c:pt>
              </c:strCache>
            </c:strRef>
          </c:tx>
          <c:spPr>
            <a:solidFill>
              <a:srgbClr val="6EF58A"/>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Sheet1!$A$2:$A$7</c:f>
              <c:multiLvlStrCache>
                <c:ptCount val="6"/>
                <c:lvl>
                  <c:pt idx="0">
                    <c:v>SMS / WhatsApp</c:v>
                  </c:pt>
                  <c:pt idx="1">
                    <c:v>Phone calls</c:v>
                  </c:pt>
                  <c:pt idx="2">
                    <c:v>Email</c:v>
                  </c:pt>
                  <c:pt idx="3">
                    <c:v>Social media</c:v>
                  </c:pt>
                  <c:pt idx="4">
                    <c:v>Online shopping scam</c:v>
                  </c:pt>
                  <c:pt idx="5">
                    <c:v>Job scam</c:v>
                  </c:pt>
                </c:lvl>
              </c:multiLvlStrCache>
            </c:multiLvlStrRef>
          </c:cat>
          <c:val>
            <c:numRef>
              <c:f>Sheet1!$B$2:$B$7</c:f>
              <c:numCache>
                <c:formatCode>General</c:formatCode>
                <c:ptCount val="6"/>
                <c:pt idx="0">
                  <c:v>29</c:v>
                </c:pt>
                <c:pt idx="1">
                  <c:v>28</c:v>
                </c:pt>
                <c:pt idx="2">
                  <c:v>12</c:v>
                </c:pt>
                <c:pt idx="3">
                  <c:v>9</c:v>
                </c:pt>
                <c:pt idx="4">
                  <c:v>7</c:v>
                </c:pt>
                <c:pt idx="5">
                  <c:v>5</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3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First reaction</c:v>
                </c:pt>
              </c:strCache>
            </c:strRef>
          </c:tx>
          <c:spPr>
            <a:solidFill>
              <a:schemeClr val="accent1"/>
            </a:solidFill>
            <a:ln w="9525" cap="flat">
              <a:solidFill>
                <a:srgbClr val="F9F9F9"/>
              </a:solidFill>
              <a:prstDash val="solid"/>
              <a:round/>
            </a:ln>
            <a:effectLst/>
          </c:spPr>
          <c:dPt>
            <c:idx val="0"/>
            <c:bubble3D val="0"/>
            <c:spPr>
              <a:solidFill>
                <a:srgbClr val="6EF58A"/>
              </a:solidFill>
              <a:effectLst/>
            </c:spPr>
          </c:dPt>
          <c:dPt>
            <c:idx val="1"/>
            <c:bubble3D val="0"/>
            <c:spPr>
              <a:solidFill>
                <a:srgbClr val="F7DD7A"/>
              </a:solidFill>
              <a:effectLst/>
            </c:spPr>
          </c:dPt>
          <c:dPt>
            <c:idx val="2"/>
            <c:bubble3D val="0"/>
            <c:spPr>
              <a:solidFill>
                <a:srgbClr val="F0445A"/>
              </a:solidFill>
              <a:effectLst/>
            </c:spPr>
          </c:dPt>
          <c:dLbls>
            <c:dLbl>
              <c:idx val="0"/>
              <c:numFmt formatCode="0%" sourceLinked="0"/>
              <c:spPr/>
              <c:txPr>
                <a:bodyPr/>
                <a:lstStyle/>
                <a:p>
                  <a:pPr>
                    <a:defRPr sz="1400" b="1" i="0" u="none" strike="noStrike">
                      <a:solidFill>
                        <a:srgbClr val="0A0D18"/>
                      </a:solidFill>
                      <a:latin typeface="Source Code Pro"/>
                    </a:defRPr>
                  </a:pPr>
                </a:p>
              </c:txPr>
              <c:showLegendKey val="0"/>
              <c:showVal val="0"/>
              <c:showCatName val="0"/>
              <c:showSerName val="0"/>
              <c:showPercent val="1"/>
              <c:showBubbleSize val="0"/>
            </c:dLbl>
            <c:dLbl>
              <c:idx val="1"/>
              <c:numFmt formatCode="0%" sourceLinked="0"/>
              <c:spPr/>
              <c:txPr>
                <a:bodyPr/>
                <a:lstStyle/>
                <a:p>
                  <a:pPr>
                    <a:defRPr sz="1400" b="1" i="0" u="none" strike="noStrike">
                      <a:solidFill>
                        <a:srgbClr val="0A0D18"/>
                      </a:solidFill>
                      <a:latin typeface="Source Code Pro"/>
                    </a:defRPr>
                  </a:pPr>
                </a:p>
              </c:txPr>
              <c:showLegendKey val="0"/>
              <c:showVal val="0"/>
              <c:showCatName val="0"/>
              <c:showSerName val="0"/>
              <c:showPercent val="1"/>
              <c:showBubbleSize val="0"/>
            </c:dLbl>
            <c:dLbl>
              <c:idx val="2"/>
              <c:numFmt formatCode="0%" sourceLinked="0"/>
              <c:spPr/>
              <c:txPr>
                <a:bodyPr/>
                <a:lstStyle/>
                <a:p>
                  <a:pPr>
                    <a:defRPr sz="1400" b="1" i="0" u="none" strike="noStrike">
                      <a:solidFill>
                        <a:srgbClr val="0A0D18"/>
                      </a:solidFill>
                      <a:latin typeface="Source Code Pro"/>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Knew immediately</c:v>
                </c:pt>
                <c:pt idx="1">
                  <c:v>Unsure at first</c:v>
                </c:pt>
                <c:pt idx="2">
                  <c:v>Thought it was real</c:v>
                </c:pt>
              </c:strCache>
            </c:strRef>
          </c:cat>
          <c:val>
            <c:numRef>
              <c:f>Sheet1!$B$2:$B$4</c:f>
              <c:numCache>
                <c:ptCount val="3"/>
                <c:pt idx="0">
                  <c:v>12</c:v>
                </c:pt>
                <c:pt idx="1">
                  <c:v>16</c:v>
                </c:pt>
                <c:pt idx="2">
                  <c:v>3</c:v>
                </c:pt>
              </c:numCache>
            </c:numRef>
          </c:val>
        </c:ser>
        <c:firstSliceAng val="0"/>
        <c:holeSize val="55"/>
      </c:doughnutChart>
      <c:spPr>
        <a:noFill/>
        <a:ln>
          <a:noFill/>
        </a:ln>
        <a:effectLst/>
      </c:spPr>
    </c:plotArea>
    <c:legend>
      <c:legendPos val="b"/>
      <c:overlay val="0"/>
      <c:txPr>
        <a:bodyPr/>
        <a:lstStyle/>
        <a:p>
          <a:pPr>
            <a:defRPr sz="1300">
              <a:solidFill>
                <a:srgbClr val="F4F4F4"/>
              </a:solidFill>
              <a:latin typeface="Source Code Pro"/>
              <a:cs typeface="Source Code Pro"/>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What made it feel real</c:v>
                </c:pt>
              </c:strCache>
            </c:strRef>
          </c:tx>
          <c:spPr>
            <a:solidFill>
              <a:srgbClr val="F7DD7A"/>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Sheet1!$A$2:$A$6</c:f>
              <c:multiLvlStrCache>
                <c:ptCount val="5"/>
                <c:lvl>
                  <c:pt idx="0">
                    <c:v>Familiar platform</c:v>
                  </c:pt>
                  <c:pt idx="1">
                    <c:v>Personal details</c:v>
                  </c:pt>
                  <c:pt idx="2">
                    <c:v>Authority (bank, police)</c:v>
                  </c:pt>
                  <c:pt idx="3">
                    <c:v>Rewards / offers</c:v>
                  </c:pt>
                  <c:pt idx="4">
                    <c:v>Urgency</c:v>
                  </c:pt>
                </c:lvl>
              </c:multiLvlStrCache>
            </c:multiLvlStrRef>
          </c:cat>
          <c:val>
            <c:numRef>
              <c:f>Sheet1!$B$2:$B$6</c:f>
              <c:numCache>
                <c:formatCode>General</c:formatCode>
                <c:ptCount val="5"/>
                <c:pt idx="0">
                  <c:v>12</c:v>
                </c:pt>
                <c:pt idx="1">
                  <c:v>11</c:v>
                </c:pt>
                <c:pt idx="2">
                  <c:v>8</c:v>
                </c:pt>
                <c:pt idx="3">
                  <c:v>7</c:v>
                </c:pt>
                <c:pt idx="4">
                  <c:v>5</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1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Action when suspicious</c:v>
                </c:pt>
              </c:strCache>
            </c:strRef>
          </c:tx>
          <c:spPr>
            <a:solidFill>
              <a:srgbClr val="6EF58A"/>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Sheet1!$A$2:$A$6</c:f>
              <c:multiLvlStrCache>
                <c:ptCount val="5"/>
                <c:lvl>
                  <c:pt idx="0">
                    <c:v>Search online</c:v>
                  </c:pt>
                  <c:pt idx="1">
                    <c:v>Ignore it</c:v>
                  </c:pt>
                  <c:pt idx="2">
                    <c:v>Handle it myself</c:v>
                  </c:pt>
                  <c:pt idx="3">
                    <c:v>Ask family</c:v>
                  </c:pt>
                  <c:pt idx="4">
                    <c:v>Ask friends</c:v>
                  </c:pt>
                </c:lvl>
              </c:multiLvlStrCache>
            </c:multiLvlStrRef>
          </c:cat>
          <c:val>
            <c:numRef>
              <c:f>Sheet1!$B$2:$B$6</c:f>
              <c:numCache>
                <c:formatCode>General</c:formatCode>
                <c:ptCount val="5"/>
                <c:pt idx="0">
                  <c:v>9</c:v>
                </c:pt>
                <c:pt idx="1">
                  <c:v>9</c:v>
                </c:pt>
                <c:pt idx="2">
                  <c:v>9</c:v>
                </c:pt>
                <c:pt idx="3">
                  <c:v>3</c:v>
                </c:pt>
                <c:pt idx="4">
                  <c:v>1</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Family talk</c:v>
                </c:pt>
              </c:strCache>
            </c:strRef>
          </c:tx>
          <c:spPr>
            <a:solidFill>
              <a:srgbClr val="7E4CE0"/>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Sheet1!$A$2:$A$5</c:f>
              <c:multiLvlStrCache>
                <c:ptCount val="4"/>
                <c:lvl>
                  <c:pt idx="0">
                    <c:v>Often</c:v>
                  </c:pt>
                  <c:pt idx="1">
                    <c:v>Sometimes</c:v>
                  </c:pt>
                  <c:pt idx="2">
                    <c:v>Rarely</c:v>
                  </c:pt>
                  <c:pt idx="3">
                    <c:v>Never</c:v>
                  </c:pt>
                </c:lvl>
              </c:multiLvlStrCache>
            </c:multiLvlStrRef>
          </c:cat>
          <c:val>
            <c:numRef>
              <c:f>Sheet1!$B$2:$B$5</c:f>
              <c:numCache>
                <c:formatCode>General</c:formatCode>
                <c:ptCount val="4"/>
                <c:pt idx="0">
                  <c:v>3</c:v>
                </c:pt>
                <c:pt idx="1">
                  <c:v>21</c:v>
                </c:pt>
                <c:pt idx="2">
                  <c:v>5</c:v>
                </c:pt>
                <c:pt idx="3">
                  <c:v>2</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Tools used</c:v>
                </c:pt>
              </c:strCache>
            </c:strRef>
          </c:tx>
          <c:spPr>
            <a:solidFill>
              <a:srgbClr val="6CCFC4"/>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Sheet1!$A$2:$A$5</c:f>
              <c:multiLvlStrCache>
                <c:ptCount val="4"/>
                <c:lvl>
                  <c:pt idx="0">
                    <c:v>Blocking numbers</c:v>
                  </c:pt>
                  <c:pt idx="1">
                    <c:v>Bank alerts</c:v>
                  </c:pt>
                  <c:pt idx="2">
                    <c:v>ScamShield</c:v>
                  </c:pt>
                  <c:pt idx="3">
                    <c:v>None</c:v>
                  </c:pt>
                </c:lvl>
              </c:multiLvlStrCache>
            </c:multiLvlStrRef>
          </c:cat>
          <c:val>
            <c:numRef>
              <c:f>Sheet1!$B$2:$B$5</c:f>
              <c:numCache>
                <c:formatCode>General</c:formatCode>
                <c:ptCount val="4"/>
                <c:pt idx="0">
                  <c:v>19</c:v>
                </c:pt>
                <c:pt idx="1">
                  <c:v>13</c:v>
                </c:pt>
                <c:pt idx="2">
                  <c:v>12</c:v>
                </c:pt>
                <c:pt idx="3">
                  <c:v>6</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Tool effectiveness</c:v>
                </c:pt>
              </c:strCache>
            </c:strRef>
          </c:tx>
          <c:spPr>
            <a:solidFill>
              <a:srgbClr val="F7DD7A"/>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2</c:v>
                </c:pt>
                <c:pt idx="1">
                  <c:v>3</c:v>
                </c:pt>
                <c:pt idx="2">
                  <c:v>10</c:v>
                </c:pt>
                <c:pt idx="3">
                  <c:v>12</c:v>
                </c:pt>
                <c:pt idx="4">
                  <c:v>4</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1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Usefulness</c:v>
                </c:pt>
              </c:strCache>
            </c:strRef>
          </c:tx>
          <c:spPr>
            <a:solidFill>
              <a:srgbClr val="6EF58A"/>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1</c:v>
                </c:pt>
                <c:pt idx="1">
                  <c:v>1</c:v>
                </c:pt>
                <c:pt idx="2">
                  <c:v>7</c:v>
                </c:pt>
                <c:pt idx="3">
                  <c:v>16</c:v>
                </c:pt>
                <c:pt idx="4">
                  <c:v>6</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Benefits most</c:v>
                </c:pt>
              </c:strCache>
            </c:strRef>
          </c:tx>
          <c:spPr>
            <a:solidFill>
              <a:srgbClr val="7E4CE0"/>
            </a:solidFill>
            <a:effectLst/>
          </c:spPr>
          <c:invertIfNegative val="0"/>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cat>
            <c:multiLvlStrRef>
              <c:f>Sheet1!$A$2:$A$5</c:f>
              <c:multiLvlStrCache>
                <c:ptCount val="4"/>
                <c:lvl>
                  <c:pt idx="0">
                    <c:v>Families</c:v>
                  </c:pt>
                  <c:pt idx="1">
                    <c:v>Elderly</c:v>
                  </c:pt>
                  <c:pt idx="2">
                    <c:v>Youths</c:v>
                  </c:pt>
                  <c:pt idx="3">
                    <c:v>Adults</c:v>
                  </c:pt>
                </c:lvl>
              </c:multiLvlStrCache>
            </c:multiLvlStrRef>
          </c:cat>
          <c:val>
            <c:numRef>
              <c:f>Sheet1!$B$2:$B$5</c:f>
              <c:numCache>
                <c:formatCode>General</c:formatCode>
                <c:ptCount val="4"/>
                <c:pt idx="0">
                  <c:v>14</c:v>
                </c:pt>
                <c:pt idx="1">
                  <c:v>10</c:v>
                </c:pt>
                <c:pt idx="2">
                  <c:v>5</c:v>
                </c:pt>
                <c:pt idx="3">
                  <c:v>2</c:v>
                </c:pt>
              </c:numCache>
            </c:numRef>
          </c:val>
        </c:ser>
        <c:dLbls>
          <c:numFmt formatCode="#,##0" sourceLinked="0"/>
          <c:txPr>
            <a:bodyPr/>
            <a:lstStyle/>
            <a:p>
              <a:pPr>
                <a:defRPr b="1" i="0" strike="noStrike" sz="1300" u="none">
                  <a:solidFill>
                    <a:srgbClr val="F4F4F4"/>
                  </a:solidFill>
                  <a:latin typeface="Source Code Pr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F4F4F4"/>
                </a:solidFill>
                <a:latin typeface="Source Code Pro"/>
              </a:defRPr>
            </a:pPr>
            <a:endParaRPr lang="en-US"/>
          </a:p>
        </c:txPr>
        <c:crossAx val="2094734552"/>
        <c:crosses val="autoZero"/>
        <c:auto val="1"/>
        <c:lblAlgn val="ctr"/>
        <c:noMultiLvlLbl val="1"/>
      </c:catAx>
      <c:valAx>
        <c:axId val="2094734552"/>
        <c:scaling>
          <c:orientation val="minMax"/>
          <c:max val="1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21626"/>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71% of respondents are aged 18 to 24 and only 3 are 55 to 64. Our primary persona is older, so the pilot must recruit more seniors. The upside: 27 of 31 live with parents, so they are the family members who would bring Drill Mode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respondent has received a scam message or call, and almost half many times. Three in four say they or someone close almost fell for one. Messaging and calls dominate, which is why Drill Mode drills by call, SMS and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 did not recognise the scam immediately: 16 were unsure and 3 thought it was real. Familiar platforms and personal details made scams feel real. 13 said the message was not convincing, so we show the others as what fooled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insight. 55% say they are comfortable asking for help, but only 13% actually ask family or friends when something feels suspicious. Most search, ignore or handle it alone. Family talk is occasional, and a quarter felt embarrassed afterwards. That is the gap the Family side of Drill Mode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block numbers, and 39% use ScamShield, but one in five uses nothing. They rate their tools 3.4 out of 5 on average. Tools filter scams; they do not train the reaction when one gets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reading the concept, 71% rated it useful and 61% would try it, with another 29% saying maybe. Two in three are comfortable using it with family. Respondents see families and the elderly as the main beneficiaries.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these if judges ask about safety or uptake. Be clear on status: the agency dashboard and non-scam scenarios are planned, not built. Alarm fatigue is a real open risk we will measure in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balanced set on purpose: two in support, two challenges. The challenges are uptake and realism, which is why we built the game layer and make drills feel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938800" y="338698"/>
            <a:ext cx="38100" cy="38100"/>
          </a:xfrm>
          <a:prstGeom prst="rect">
            <a:avLst/>
          </a:prstGeom>
          <a:solidFill>
            <a:srgbClr val="F0445A"/>
          </a:solidFill>
          <a:ln/>
        </p:spPr>
      </p:sp>
      <p:sp>
        <p:nvSpPr>
          <p:cNvPr id="3" name="confetti"/>
          <p:cNvSpPr/>
          <p:nvPr/>
        </p:nvSpPr>
        <p:spPr>
          <a:xfrm>
            <a:off x="1860638" y="209821"/>
            <a:ext cx="38100" cy="38100"/>
          </a:xfrm>
          <a:prstGeom prst="rect">
            <a:avLst/>
          </a:prstGeom>
          <a:solidFill>
            <a:srgbClr val="F7DD7A"/>
          </a:solidFill>
          <a:ln/>
        </p:spPr>
      </p:sp>
      <p:sp>
        <p:nvSpPr>
          <p:cNvPr id="4" name="confetti"/>
          <p:cNvSpPr/>
          <p:nvPr/>
        </p:nvSpPr>
        <p:spPr>
          <a:xfrm>
            <a:off x="46684" y="58896"/>
            <a:ext cx="38100" cy="38100"/>
          </a:xfrm>
          <a:prstGeom prst="rect">
            <a:avLst/>
          </a:prstGeom>
          <a:solidFill>
            <a:srgbClr val="6CCFC4"/>
          </a:solidFill>
          <a:ln/>
        </p:spPr>
      </p:sp>
      <p:sp>
        <p:nvSpPr>
          <p:cNvPr id="5" name="confetti"/>
          <p:cNvSpPr/>
          <p:nvPr/>
        </p:nvSpPr>
        <p:spPr>
          <a:xfrm>
            <a:off x="1021439" y="44672"/>
            <a:ext cx="38100" cy="38100"/>
          </a:xfrm>
          <a:prstGeom prst="rect">
            <a:avLst/>
          </a:prstGeom>
          <a:solidFill>
            <a:srgbClr val="7E4CE0"/>
          </a:solidFill>
          <a:ln/>
        </p:spPr>
      </p:sp>
      <p:sp>
        <p:nvSpPr>
          <p:cNvPr id="6" name="confetti"/>
          <p:cNvSpPr/>
          <p:nvPr/>
        </p:nvSpPr>
        <p:spPr>
          <a:xfrm>
            <a:off x="1165401" y="325900"/>
            <a:ext cx="38100" cy="38100"/>
          </a:xfrm>
          <a:prstGeom prst="rect">
            <a:avLst/>
          </a:prstGeom>
          <a:solidFill>
            <a:srgbClr val="6EF58A"/>
          </a:solidFill>
          <a:ln/>
        </p:spPr>
      </p:sp>
      <p:sp>
        <p:nvSpPr>
          <p:cNvPr id="7" name="confetti"/>
          <p:cNvSpPr/>
          <p:nvPr/>
        </p:nvSpPr>
        <p:spPr>
          <a:xfrm>
            <a:off x="1431072" y="299329"/>
            <a:ext cx="38100" cy="38100"/>
          </a:xfrm>
          <a:prstGeom prst="rect">
            <a:avLst/>
          </a:prstGeom>
          <a:solidFill>
            <a:srgbClr val="F0445A"/>
          </a:solidFill>
          <a:ln/>
        </p:spPr>
      </p:sp>
      <p:sp>
        <p:nvSpPr>
          <p:cNvPr id="8" name="confetti"/>
          <p:cNvSpPr/>
          <p:nvPr/>
        </p:nvSpPr>
        <p:spPr>
          <a:xfrm>
            <a:off x="484952" y="123709"/>
            <a:ext cx="38100" cy="38100"/>
          </a:xfrm>
          <a:prstGeom prst="rect">
            <a:avLst/>
          </a:prstGeom>
          <a:solidFill>
            <a:srgbClr val="F7DD7A"/>
          </a:solidFill>
          <a:ln/>
        </p:spPr>
      </p:sp>
      <p:sp>
        <p:nvSpPr>
          <p:cNvPr id="9" name="confetti"/>
          <p:cNvSpPr/>
          <p:nvPr/>
        </p:nvSpPr>
        <p:spPr>
          <a:xfrm>
            <a:off x="11471540" y="508186"/>
            <a:ext cx="38100" cy="38100"/>
          </a:xfrm>
          <a:prstGeom prst="rect">
            <a:avLst/>
          </a:prstGeom>
          <a:solidFill>
            <a:srgbClr val="7E4CE0"/>
          </a:solidFill>
          <a:ln/>
        </p:spPr>
      </p:sp>
      <p:sp>
        <p:nvSpPr>
          <p:cNvPr id="10" name="confetti"/>
          <p:cNvSpPr/>
          <p:nvPr/>
        </p:nvSpPr>
        <p:spPr>
          <a:xfrm>
            <a:off x="10959336" y="511986"/>
            <a:ext cx="38100" cy="38100"/>
          </a:xfrm>
          <a:prstGeom prst="rect">
            <a:avLst/>
          </a:prstGeom>
          <a:solidFill>
            <a:srgbClr val="7E4CE0"/>
          </a:solidFill>
          <a:ln/>
        </p:spPr>
      </p:sp>
      <p:sp>
        <p:nvSpPr>
          <p:cNvPr id="11" name="confetti"/>
          <p:cNvSpPr/>
          <p:nvPr/>
        </p:nvSpPr>
        <p:spPr>
          <a:xfrm>
            <a:off x="12092840" y="435088"/>
            <a:ext cx="38100" cy="38100"/>
          </a:xfrm>
          <a:prstGeom prst="rect">
            <a:avLst/>
          </a:prstGeom>
          <a:solidFill>
            <a:srgbClr val="6EF58A"/>
          </a:solidFill>
          <a:ln/>
        </p:spPr>
      </p:sp>
      <p:sp>
        <p:nvSpPr>
          <p:cNvPr id="12" name="confetti"/>
          <p:cNvSpPr/>
          <p:nvPr/>
        </p:nvSpPr>
        <p:spPr>
          <a:xfrm>
            <a:off x="11252553" y="515617"/>
            <a:ext cx="38100" cy="38100"/>
          </a:xfrm>
          <a:prstGeom prst="rect">
            <a:avLst/>
          </a:prstGeom>
          <a:solidFill>
            <a:srgbClr val="7E4CE0"/>
          </a:solidFill>
          <a:ln/>
        </p:spPr>
      </p:sp>
      <p:sp>
        <p:nvSpPr>
          <p:cNvPr id="13" name="confetti"/>
          <p:cNvSpPr/>
          <p:nvPr/>
        </p:nvSpPr>
        <p:spPr>
          <a:xfrm>
            <a:off x="11676974" y="420198"/>
            <a:ext cx="38100" cy="38100"/>
          </a:xfrm>
          <a:prstGeom prst="rect">
            <a:avLst/>
          </a:prstGeom>
          <a:solidFill>
            <a:srgbClr val="6CCFC4"/>
          </a:solidFill>
          <a:ln/>
        </p:spPr>
      </p:sp>
      <p:sp>
        <p:nvSpPr>
          <p:cNvPr id="14" name="confetti"/>
          <p:cNvSpPr/>
          <p:nvPr/>
        </p:nvSpPr>
        <p:spPr>
          <a:xfrm>
            <a:off x="12032603" y="386956"/>
            <a:ext cx="38100" cy="38100"/>
          </a:xfrm>
          <a:prstGeom prst="rect">
            <a:avLst/>
          </a:prstGeom>
          <a:solidFill>
            <a:srgbClr val="6CCFC4"/>
          </a:solidFill>
          <a:ln/>
        </p:spPr>
      </p:sp>
      <p:sp>
        <p:nvSpPr>
          <p:cNvPr id="15" name="confetti"/>
          <p:cNvSpPr/>
          <p:nvPr/>
        </p:nvSpPr>
        <p:spPr>
          <a:xfrm>
            <a:off x="10985941" y="82516"/>
            <a:ext cx="38100" cy="38100"/>
          </a:xfrm>
          <a:prstGeom prst="rect">
            <a:avLst/>
          </a:prstGeom>
          <a:solidFill>
            <a:srgbClr val="6EF58A"/>
          </a:solidFill>
          <a:ln/>
        </p:spPr>
      </p:sp>
      <p:sp>
        <p:nvSpPr>
          <p:cNvPr id="16" name="confetti"/>
          <p:cNvSpPr/>
          <p:nvPr/>
        </p:nvSpPr>
        <p:spPr>
          <a:xfrm>
            <a:off x="12053162" y="6567637"/>
            <a:ext cx="38100" cy="38100"/>
          </a:xfrm>
          <a:prstGeom prst="rect">
            <a:avLst/>
          </a:prstGeom>
          <a:solidFill>
            <a:srgbClr val="F7DD7A"/>
          </a:solidFill>
          <a:ln/>
        </p:spPr>
      </p:sp>
      <p:sp>
        <p:nvSpPr>
          <p:cNvPr id="17" name="confetti"/>
          <p:cNvSpPr/>
          <p:nvPr/>
        </p:nvSpPr>
        <p:spPr>
          <a:xfrm>
            <a:off x="11721914" y="6423402"/>
            <a:ext cx="38100" cy="38100"/>
          </a:xfrm>
          <a:prstGeom prst="rect">
            <a:avLst/>
          </a:prstGeom>
          <a:solidFill>
            <a:srgbClr val="F0445A"/>
          </a:solidFill>
          <a:ln/>
        </p:spPr>
      </p:sp>
      <p:sp>
        <p:nvSpPr>
          <p:cNvPr id="18" name="confetti"/>
          <p:cNvSpPr/>
          <p:nvPr/>
        </p:nvSpPr>
        <p:spPr>
          <a:xfrm>
            <a:off x="11875735" y="6761737"/>
            <a:ext cx="38100" cy="38100"/>
          </a:xfrm>
          <a:prstGeom prst="rect">
            <a:avLst/>
          </a:prstGeom>
          <a:solidFill>
            <a:srgbClr val="F7DD7A"/>
          </a:solidFill>
          <a:ln/>
        </p:spPr>
      </p:sp>
      <p:sp>
        <p:nvSpPr>
          <p:cNvPr id="19" name="confetti"/>
          <p:cNvSpPr/>
          <p:nvPr/>
        </p:nvSpPr>
        <p:spPr>
          <a:xfrm>
            <a:off x="12070125" y="6597335"/>
            <a:ext cx="38100" cy="38100"/>
          </a:xfrm>
          <a:prstGeom prst="rect">
            <a:avLst/>
          </a:prstGeom>
          <a:solidFill>
            <a:srgbClr val="6EF58A"/>
          </a:solidFill>
          <a:ln/>
        </p:spPr>
      </p:sp>
      <p:sp>
        <p:nvSpPr>
          <p:cNvPr id="20" name="confetti"/>
          <p:cNvSpPr/>
          <p:nvPr/>
        </p:nvSpPr>
        <p:spPr>
          <a:xfrm>
            <a:off x="11860585" y="6811787"/>
            <a:ext cx="38100" cy="38100"/>
          </a:xfrm>
          <a:prstGeom prst="rect">
            <a:avLst/>
          </a:prstGeom>
          <a:solidFill>
            <a:srgbClr val="F7DD7A"/>
          </a:solidFill>
          <a:ln/>
        </p:spPr>
      </p:sp>
      <p:sp>
        <p:nvSpPr>
          <p:cNvPr id="21" name="confetti"/>
          <p:cNvSpPr/>
          <p:nvPr/>
        </p:nvSpPr>
        <p:spPr>
          <a:xfrm>
            <a:off x="11564614" y="6419784"/>
            <a:ext cx="38100" cy="38100"/>
          </a:xfrm>
          <a:prstGeom prst="rect">
            <a:avLst/>
          </a:prstGeom>
          <a:solidFill>
            <a:srgbClr val="F7DD7A"/>
          </a:solidFill>
          <a:ln/>
        </p:spPr>
      </p:sp>
      <p:sp>
        <p:nvSpPr>
          <p:cNvPr id="22" name="confetti"/>
          <p:cNvSpPr/>
          <p:nvPr/>
        </p:nvSpPr>
        <p:spPr>
          <a:xfrm>
            <a:off x="11499713" y="6302919"/>
            <a:ext cx="38100" cy="38100"/>
          </a:xfrm>
          <a:prstGeom prst="rect">
            <a:avLst/>
          </a:prstGeom>
          <a:solidFill>
            <a:srgbClr val="7E4CE0"/>
          </a:solidFill>
          <a:ln/>
        </p:spPr>
      </p:sp>
      <p:sp>
        <p:nvSpPr>
          <p:cNvPr id="23" name="Text 21"/>
          <p:cNvSpPr txBox="1"/>
          <p:nvPr/>
        </p:nvSpPr>
        <p:spPr>
          <a:xfrm>
            <a:off x="1054100" y="2095500"/>
            <a:ext cx="10160000" cy="1079500"/>
          </a:xfrm>
          <a:prstGeom prst="rect">
            <a:avLst/>
          </a:prstGeom>
          <a:noFill/>
          <a:ln/>
          <a:effectLst>
            <a:outerShdw sx="100000" sy="100000" kx="0" ky="0" algn="bl" rotWithShape="0" blurRad="101600" dist="63500" dir="2700000">
              <a:srgbClr val="2C5C3C">
                <a:alpha val="100000"/>
              </a:srgbClr>
            </a:outerShdw>
          </a:effectLst>
        </p:spPr>
        <p:txBody>
          <a:bodyPr wrap="square" lIns="0" tIns="0" rIns="0" bIns="0" rtlCol="0" anchor="t"/>
          <a:lstStyle/>
          <a:p>
            <a:pPr algn="l" indent="0" marL="0">
              <a:buNone/>
            </a:pPr>
            <a:r>
              <a:rPr lang="en-US" sz="7500" b="1" spc="100" kern="0" dirty="0">
                <a:solidFill>
                  <a:srgbClr val="6EF58A"/>
                </a:solidFill>
                <a:latin typeface="Silkscreen" pitchFamily="34" charset="0"/>
                <a:ea typeface="Silkscreen" pitchFamily="34" charset="-122"/>
                <a:cs typeface="Silkscreen" pitchFamily="34" charset="-120"/>
              </a:rPr>
              <a:t>APPENDIX</a:t>
            </a:r>
            <a:endParaRPr lang="en-US" sz="7500" dirty="0"/>
          </a:p>
        </p:txBody>
      </p:sp>
      <p:sp>
        <p:nvSpPr>
          <p:cNvPr id="24" name="Text 22"/>
          <p:cNvSpPr txBox="1"/>
          <p:nvPr/>
        </p:nvSpPr>
        <p:spPr>
          <a:xfrm>
            <a:off x="1079500" y="3365500"/>
            <a:ext cx="9525000" cy="381000"/>
          </a:xfrm>
          <a:prstGeom prst="rect">
            <a:avLst/>
          </a:prstGeom>
          <a:noFill/>
          <a:ln/>
        </p:spPr>
        <p:txBody>
          <a:bodyPr wrap="square" lIns="0" tIns="0" rIns="0" bIns="0" rtlCol="0" anchor="t"/>
          <a:lstStyle/>
          <a:p>
            <a:pPr algn="l" indent="0" marL="0">
              <a:buNone/>
            </a:pPr>
            <a:r>
              <a:rPr lang="en-US" sz="2200" b="1" spc="88" kern="0" dirty="0">
                <a:solidFill>
                  <a:srgbClr val="F7DD7A"/>
                </a:solidFill>
                <a:latin typeface="Source Code Pro" pitchFamily="34" charset="0"/>
                <a:ea typeface="Source Code Pro" pitchFamily="34" charset="-122"/>
                <a:cs typeface="Source Code Pro" pitchFamily="34" charset="-120"/>
              </a:rPr>
              <a:t>User research behind Drill Mode</a:t>
            </a:r>
            <a:endParaRPr lang="en-US" sz="2200" dirty="0"/>
          </a:p>
        </p:txBody>
      </p:sp>
      <p:sp>
        <p:nvSpPr>
          <p:cNvPr id="25" name="Text 23"/>
          <p:cNvSpPr txBox="1"/>
          <p:nvPr/>
        </p:nvSpPr>
        <p:spPr>
          <a:xfrm>
            <a:off x="1079500" y="3873500"/>
            <a:ext cx="9525000" cy="279400"/>
          </a:xfrm>
          <a:prstGeom prst="rect">
            <a:avLst/>
          </a:prstGeom>
          <a:noFill/>
          <a:ln/>
        </p:spPr>
        <p:txBody>
          <a:bodyPr wrap="square" lIns="0" tIns="0" rIns="0" bIns="0" rtlCol="0" anchor="t"/>
          <a:lstStyle/>
          <a:p>
            <a:pPr algn="l" indent="0" marL="0">
              <a:buNone/>
            </a:pPr>
            <a:r>
              <a:rPr lang="en-US" sz="1500" spc="60" kern="0" dirty="0">
                <a:solidFill>
                  <a:srgbClr val="8E95AD"/>
                </a:solidFill>
                <a:latin typeface="Source Code Pro" pitchFamily="34" charset="0"/>
                <a:ea typeface="Source Code Pro" pitchFamily="34" charset="-122"/>
                <a:cs typeface="Source Code Pro" pitchFamily="34" charset="-120"/>
              </a:rPr>
              <a:t>31 respondents · online survey · 22–30 June 2026</a:t>
            </a:r>
            <a:endParaRPr lang="en-US" sz="1500" dirty="0"/>
          </a:p>
        </p:txBody>
      </p:sp>
      <p:sp>
        <p:nvSpPr>
          <p:cNvPr id="26" name="Text 24"/>
          <p:cNvSpPr txBox="1"/>
          <p:nvPr/>
        </p:nvSpPr>
        <p:spPr>
          <a:xfrm>
            <a:off x="1079500" y="4572000"/>
            <a:ext cx="3937000" cy="279400"/>
          </a:xfrm>
          <a:prstGeom prst="rect">
            <a:avLst/>
          </a:prstGeom>
          <a:noFill/>
          <a:ln/>
        </p:spPr>
        <p:txBody>
          <a:bodyPr wrap="square" lIns="0" tIns="0" rIns="0" bIns="0" rtlCol="0" anchor="t"/>
          <a:lstStyle/>
          <a:p>
            <a:pPr algn="l" indent="0" marL="0">
              <a:buNone/>
            </a:pPr>
            <a:r>
              <a:rPr lang="en-US" sz="1300" b="1" spc="52" kern="0" dirty="0">
                <a:solidFill>
                  <a:srgbClr val="6CCFC4"/>
                </a:solidFill>
                <a:latin typeface="Source Code Pro" pitchFamily="34" charset="0"/>
                <a:ea typeface="Source Code Pro" pitchFamily="34" charset="-122"/>
                <a:cs typeface="Source Code Pro" pitchFamily="34" charset="-120"/>
              </a:rPr>
              <a:t>A1 Who we asked</a:t>
            </a:r>
            <a:endParaRPr lang="en-US" sz="1300" dirty="0"/>
          </a:p>
        </p:txBody>
      </p:sp>
      <p:sp>
        <p:nvSpPr>
          <p:cNvPr id="27" name="Text 25"/>
          <p:cNvSpPr txBox="1"/>
          <p:nvPr/>
        </p:nvSpPr>
        <p:spPr>
          <a:xfrm>
            <a:off x="1079500" y="4927600"/>
            <a:ext cx="3937000" cy="279400"/>
          </a:xfrm>
          <a:prstGeom prst="rect">
            <a:avLst/>
          </a:prstGeom>
          <a:noFill/>
          <a:ln/>
        </p:spPr>
        <p:txBody>
          <a:bodyPr wrap="square" lIns="0" tIns="0" rIns="0" bIns="0" rtlCol="0" anchor="t"/>
          <a:lstStyle/>
          <a:p>
            <a:pPr algn="l" indent="0" marL="0">
              <a:buNone/>
            </a:pPr>
            <a:r>
              <a:rPr lang="en-US" sz="1300" b="1" spc="52" kern="0" dirty="0">
                <a:solidFill>
                  <a:srgbClr val="6CCFC4"/>
                </a:solidFill>
                <a:latin typeface="Source Code Pro" pitchFamily="34" charset="0"/>
                <a:ea typeface="Source Code Pro" pitchFamily="34" charset="-122"/>
                <a:cs typeface="Source Code Pro" pitchFamily="34" charset="-120"/>
              </a:rPr>
              <a:t>A2 Everyone gets targeted</a:t>
            </a:r>
            <a:endParaRPr lang="en-US" sz="1300" dirty="0"/>
          </a:p>
        </p:txBody>
      </p:sp>
      <p:sp>
        <p:nvSpPr>
          <p:cNvPr id="28" name="Text 26"/>
          <p:cNvSpPr txBox="1"/>
          <p:nvPr/>
        </p:nvSpPr>
        <p:spPr>
          <a:xfrm>
            <a:off x="1079500" y="5283200"/>
            <a:ext cx="3937000" cy="279400"/>
          </a:xfrm>
          <a:prstGeom prst="rect">
            <a:avLst/>
          </a:prstGeom>
          <a:noFill/>
          <a:ln/>
        </p:spPr>
        <p:txBody>
          <a:bodyPr wrap="square" lIns="0" tIns="0" rIns="0" bIns="0" rtlCol="0" anchor="t"/>
          <a:lstStyle/>
          <a:p>
            <a:pPr algn="l" indent="0" marL="0">
              <a:buNone/>
            </a:pPr>
            <a:r>
              <a:rPr lang="en-US" sz="1300" b="1" spc="52" kern="0" dirty="0">
                <a:solidFill>
                  <a:srgbClr val="6CCFC4"/>
                </a:solidFill>
                <a:latin typeface="Source Code Pro" pitchFamily="34" charset="0"/>
                <a:ea typeface="Source Code Pro" pitchFamily="34" charset="-122"/>
                <a:cs typeface="Source Code Pro" pitchFamily="34" charset="-120"/>
              </a:rPr>
              <a:t>A3 The recognition gap</a:t>
            </a:r>
            <a:endParaRPr lang="en-US" sz="1300" dirty="0"/>
          </a:p>
        </p:txBody>
      </p:sp>
      <p:sp>
        <p:nvSpPr>
          <p:cNvPr id="29" name="Text 27"/>
          <p:cNvSpPr txBox="1"/>
          <p:nvPr/>
        </p:nvSpPr>
        <p:spPr>
          <a:xfrm>
            <a:off x="1079500" y="5638800"/>
            <a:ext cx="3937000" cy="279400"/>
          </a:xfrm>
          <a:prstGeom prst="rect">
            <a:avLst/>
          </a:prstGeom>
          <a:noFill/>
          <a:ln/>
        </p:spPr>
        <p:txBody>
          <a:bodyPr wrap="square" lIns="0" tIns="0" rIns="0" bIns="0" rtlCol="0" anchor="t"/>
          <a:lstStyle/>
          <a:p>
            <a:pPr algn="l" indent="0" marL="0">
              <a:buNone/>
            </a:pPr>
            <a:r>
              <a:rPr lang="en-US" sz="1300" b="1" spc="52" kern="0" dirty="0">
                <a:solidFill>
                  <a:srgbClr val="6CCFC4"/>
                </a:solidFill>
                <a:latin typeface="Source Code Pro" pitchFamily="34" charset="0"/>
                <a:ea typeface="Source Code Pro" pitchFamily="34" charset="-122"/>
                <a:cs typeface="Source Code Pro" pitchFamily="34" charset="-120"/>
              </a:rPr>
              <a:t>A4 Comfortable, but silent</a:t>
            </a:r>
            <a:endParaRPr lang="en-US" sz="1300" dirty="0"/>
          </a:p>
        </p:txBody>
      </p:sp>
      <p:sp>
        <p:nvSpPr>
          <p:cNvPr id="30" name="Text 28"/>
          <p:cNvSpPr txBox="1"/>
          <p:nvPr/>
        </p:nvSpPr>
        <p:spPr>
          <a:xfrm>
            <a:off x="5143500" y="4572000"/>
            <a:ext cx="3937000" cy="279400"/>
          </a:xfrm>
          <a:prstGeom prst="rect">
            <a:avLst/>
          </a:prstGeom>
          <a:noFill/>
          <a:ln/>
        </p:spPr>
        <p:txBody>
          <a:bodyPr wrap="square" lIns="0" tIns="0" rIns="0" bIns="0" rtlCol="0" anchor="t"/>
          <a:lstStyle/>
          <a:p>
            <a:pPr algn="l" indent="0" marL="0">
              <a:buNone/>
            </a:pPr>
            <a:r>
              <a:rPr lang="en-US" sz="1300" b="1" spc="52" kern="0" dirty="0">
                <a:solidFill>
                  <a:srgbClr val="6CCFC4"/>
                </a:solidFill>
                <a:latin typeface="Source Code Pro" pitchFamily="34" charset="0"/>
                <a:ea typeface="Source Code Pro" pitchFamily="34" charset="-122"/>
                <a:cs typeface="Source Code Pro" pitchFamily="34" charset="-120"/>
              </a:rPr>
              <a:t>A5 Tools aren't enough</a:t>
            </a:r>
            <a:endParaRPr lang="en-US" sz="1300" dirty="0"/>
          </a:p>
        </p:txBody>
      </p:sp>
      <p:sp>
        <p:nvSpPr>
          <p:cNvPr id="31" name="Text 29"/>
          <p:cNvSpPr txBox="1"/>
          <p:nvPr/>
        </p:nvSpPr>
        <p:spPr>
          <a:xfrm>
            <a:off x="5143500" y="4927600"/>
            <a:ext cx="3937000" cy="279400"/>
          </a:xfrm>
          <a:prstGeom prst="rect">
            <a:avLst/>
          </a:prstGeom>
          <a:noFill/>
          <a:ln/>
        </p:spPr>
        <p:txBody>
          <a:bodyPr wrap="square" lIns="0" tIns="0" rIns="0" bIns="0" rtlCol="0" anchor="t"/>
          <a:lstStyle/>
          <a:p>
            <a:pPr algn="l" indent="0" marL="0">
              <a:buNone/>
            </a:pPr>
            <a:r>
              <a:rPr lang="en-US" sz="1300" b="1" spc="52" kern="0" dirty="0">
                <a:solidFill>
                  <a:srgbClr val="6CCFC4"/>
                </a:solidFill>
                <a:latin typeface="Source Code Pro" pitchFamily="34" charset="0"/>
                <a:ea typeface="Source Code Pro" pitchFamily="34" charset="-122"/>
                <a:cs typeface="Source Code Pro" pitchFamily="34" charset="-120"/>
              </a:rPr>
              <a:t>A6 Would they use it?</a:t>
            </a:r>
            <a:endParaRPr lang="en-US" sz="1300" dirty="0"/>
          </a:p>
        </p:txBody>
      </p:sp>
      <p:sp>
        <p:nvSpPr>
          <p:cNvPr id="32" name="Text 30"/>
          <p:cNvSpPr txBox="1"/>
          <p:nvPr/>
        </p:nvSpPr>
        <p:spPr>
          <a:xfrm>
            <a:off x="5143500" y="5283200"/>
            <a:ext cx="3937000" cy="279400"/>
          </a:xfrm>
          <a:prstGeom prst="rect">
            <a:avLst/>
          </a:prstGeom>
          <a:noFill/>
          <a:ln/>
        </p:spPr>
        <p:txBody>
          <a:bodyPr wrap="square" lIns="0" tIns="0" rIns="0" bIns="0" rtlCol="0" anchor="t"/>
          <a:lstStyle/>
          <a:p>
            <a:pPr algn="l" indent="0" marL="0">
              <a:buNone/>
            </a:pPr>
            <a:r>
              <a:rPr lang="en-US" sz="1300" b="1" spc="52" kern="0" dirty="0">
                <a:solidFill>
                  <a:srgbClr val="6CCFC4"/>
                </a:solidFill>
                <a:latin typeface="Source Code Pro" pitchFamily="34" charset="0"/>
                <a:ea typeface="Source Code Pro" pitchFamily="34" charset="-122"/>
                <a:cs typeface="Source Code Pro" pitchFamily="34" charset="-120"/>
              </a:rPr>
              <a:t>A7 You asked, we built</a:t>
            </a:r>
            <a:endParaRPr lang="en-US" sz="1300" dirty="0"/>
          </a:p>
        </p:txBody>
      </p:sp>
      <p:sp>
        <p:nvSpPr>
          <p:cNvPr id="33" name="Text 31"/>
          <p:cNvSpPr txBox="1"/>
          <p:nvPr/>
        </p:nvSpPr>
        <p:spPr>
          <a:xfrm>
            <a:off x="5143500" y="5638800"/>
            <a:ext cx="3937000" cy="279400"/>
          </a:xfrm>
          <a:prstGeom prst="rect">
            <a:avLst/>
          </a:prstGeom>
          <a:noFill/>
          <a:ln/>
        </p:spPr>
        <p:txBody>
          <a:bodyPr wrap="square" lIns="0" tIns="0" rIns="0" bIns="0" rtlCol="0" anchor="t"/>
          <a:lstStyle/>
          <a:p>
            <a:pPr algn="l" indent="0" marL="0">
              <a:buNone/>
            </a:pPr>
            <a:r>
              <a:rPr lang="en-US" sz="1300" b="1" spc="52" kern="0" dirty="0">
                <a:solidFill>
                  <a:srgbClr val="6CCFC4"/>
                </a:solidFill>
                <a:latin typeface="Source Code Pro" pitchFamily="34" charset="0"/>
                <a:ea typeface="Source Code Pro" pitchFamily="34" charset="-122"/>
                <a:cs typeface="Source Code Pro" pitchFamily="34" charset="-120"/>
              </a:rPr>
              <a:t>A8 In their words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2032529" y="350477"/>
            <a:ext cx="38100" cy="38100"/>
          </a:xfrm>
          <a:prstGeom prst="rect">
            <a:avLst/>
          </a:prstGeom>
          <a:solidFill>
            <a:srgbClr val="6EF58A"/>
          </a:solidFill>
          <a:ln/>
        </p:spPr>
      </p:sp>
      <p:sp>
        <p:nvSpPr>
          <p:cNvPr id="3" name="confetti"/>
          <p:cNvSpPr/>
          <p:nvPr/>
        </p:nvSpPr>
        <p:spPr>
          <a:xfrm>
            <a:off x="901200" y="345072"/>
            <a:ext cx="38100" cy="38100"/>
          </a:xfrm>
          <a:prstGeom prst="rect">
            <a:avLst/>
          </a:prstGeom>
          <a:solidFill>
            <a:srgbClr val="6EF58A"/>
          </a:solidFill>
          <a:ln/>
        </p:spPr>
      </p:sp>
      <p:sp>
        <p:nvSpPr>
          <p:cNvPr id="4" name="confetti"/>
          <p:cNvSpPr/>
          <p:nvPr/>
        </p:nvSpPr>
        <p:spPr>
          <a:xfrm>
            <a:off x="844080" y="190619"/>
            <a:ext cx="38100" cy="38100"/>
          </a:xfrm>
          <a:prstGeom prst="rect">
            <a:avLst/>
          </a:prstGeom>
          <a:solidFill>
            <a:srgbClr val="7E4CE0"/>
          </a:solidFill>
          <a:ln/>
        </p:spPr>
      </p:sp>
      <p:sp>
        <p:nvSpPr>
          <p:cNvPr id="5" name="confetti"/>
          <p:cNvSpPr/>
          <p:nvPr/>
        </p:nvSpPr>
        <p:spPr>
          <a:xfrm>
            <a:off x="527667" y="45868"/>
            <a:ext cx="38100" cy="38100"/>
          </a:xfrm>
          <a:prstGeom prst="rect">
            <a:avLst/>
          </a:prstGeom>
          <a:solidFill>
            <a:srgbClr val="6CCFC4"/>
          </a:solidFill>
          <a:ln/>
        </p:spPr>
      </p:sp>
      <p:sp>
        <p:nvSpPr>
          <p:cNvPr id="6" name="confetti"/>
          <p:cNvSpPr/>
          <p:nvPr/>
        </p:nvSpPr>
        <p:spPr>
          <a:xfrm>
            <a:off x="904463" y="69567"/>
            <a:ext cx="38100" cy="38100"/>
          </a:xfrm>
          <a:prstGeom prst="rect">
            <a:avLst/>
          </a:prstGeom>
          <a:solidFill>
            <a:srgbClr val="F0445A"/>
          </a:solidFill>
          <a:ln/>
        </p:spPr>
      </p:sp>
      <p:sp>
        <p:nvSpPr>
          <p:cNvPr id="7" name="confetti"/>
          <p:cNvSpPr/>
          <p:nvPr/>
        </p:nvSpPr>
        <p:spPr>
          <a:xfrm>
            <a:off x="640968" y="39469"/>
            <a:ext cx="38100" cy="38100"/>
          </a:xfrm>
          <a:prstGeom prst="rect">
            <a:avLst/>
          </a:prstGeom>
          <a:solidFill>
            <a:srgbClr val="7E4CE0"/>
          </a:solidFill>
          <a:ln/>
        </p:spPr>
      </p:sp>
      <p:sp>
        <p:nvSpPr>
          <p:cNvPr id="8" name="confetti"/>
          <p:cNvSpPr/>
          <p:nvPr/>
        </p:nvSpPr>
        <p:spPr>
          <a:xfrm>
            <a:off x="689681" y="114321"/>
            <a:ext cx="38100" cy="38100"/>
          </a:xfrm>
          <a:prstGeom prst="rect">
            <a:avLst/>
          </a:prstGeom>
          <a:solidFill>
            <a:srgbClr val="6EF58A"/>
          </a:solidFill>
          <a:ln/>
        </p:spPr>
      </p:sp>
      <p:sp>
        <p:nvSpPr>
          <p:cNvPr id="9" name="confetti"/>
          <p:cNvSpPr/>
          <p:nvPr/>
        </p:nvSpPr>
        <p:spPr>
          <a:xfrm>
            <a:off x="11909102" y="107813"/>
            <a:ext cx="38100" cy="38100"/>
          </a:xfrm>
          <a:prstGeom prst="rect">
            <a:avLst/>
          </a:prstGeom>
          <a:solidFill>
            <a:srgbClr val="6CCFC4"/>
          </a:solidFill>
          <a:ln/>
        </p:spPr>
      </p:sp>
      <p:sp>
        <p:nvSpPr>
          <p:cNvPr id="10" name="confetti"/>
          <p:cNvSpPr/>
          <p:nvPr/>
        </p:nvSpPr>
        <p:spPr>
          <a:xfrm>
            <a:off x="10867731" y="106321"/>
            <a:ext cx="38100" cy="38100"/>
          </a:xfrm>
          <a:prstGeom prst="rect">
            <a:avLst/>
          </a:prstGeom>
          <a:solidFill>
            <a:srgbClr val="F0445A"/>
          </a:solidFill>
          <a:ln/>
        </p:spPr>
      </p:sp>
      <p:sp>
        <p:nvSpPr>
          <p:cNvPr id="11" name="confetti"/>
          <p:cNvSpPr/>
          <p:nvPr/>
        </p:nvSpPr>
        <p:spPr>
          <a:xfrm>
            <a:off x="10710069" y="405131"/>
            <a:ext cx="38100" cy="38100"/>
          </a:xfrm>
          <a:prstGeom prst="rect">
            <a:avLst/>
          </a:prstGeom>
          <a:solidFill>
            <a:srgbClr val="7E4CE0"/>
          </a:solidFill>
          <a:ln/>
        </p:spPr>
      </p:sp>
      <p:sp>
        <p:nvSpPr>
          <p:cNvPr id="12" name="confetti"/>
          <p:cNvSpPr/>
          <p:nvPr/>
        </p:nvSpPr>
        <p:spPr>
          <a:xfrm>
            <a:off x="10102615" y="99368"/>
            <a:ext cx="38100" cy="38100"/>
          </a:xfrm>
          <a:prstGeom prst="rect">
            <a:avLst/>
          </a:prstGeom>
          <a:solidFill>
            <a:srgbClr val="F0445A"/>
          </a:solidFill>
          <a:ln/>
        </p:spPr>
      </p:sp>
      <p:sp>
        <p:nvSpPr>
          <p:cNvPr id="13" name="confetti"/>
          <p:cNvSpPr/>
          <p:nvPr/>
        </p:nvSpPr>
        <p:spPr>
          <a:xfrm>
            <a:off x="9997869" y="570157"/>
            <a:ext cx="38100" cy="38100"/>
          </a:xfrm>
          <a:prstGeom prst="rect">
            <a:avLst/>
          </a:prstGeom>
          <a:solidFill>
            <a:srgbClr val="F7DD7A"/>
          </a:solidFill>
          <a:ln/>
        </p:spPr>
      </p:sp>
      <p:sp>
        <p:nvSpPr>
          <p:cNvPr id="14" name="confetti"/>
          <p:cNvSpPr/>
          <p:nvPr/>
        </p:nvSpPr>
        <p:spPr>
          <a:xfrm>
            <a:off x="11348332" y="341124"/>
            <a:ext cx="38100" cy="38100"/>
          </a:xfrm>
          <a:prstGeom prst="rect">
            <a:avLst/>
          </a:prstGeom>
          <a:solidFill>
            <a:srgbClr val="6CCFC4"/>
          </a:solidFill>
          <a:ln/>
        </p:spPr>
      </p:sp>
      <p:sp>
        <p:nvSpPr>
          <p:cNvPr id="15" name="confetti"/>
          <p:cNvSpPr/>
          <p:nvPr/>
        </p:nvSpPr>
        <p:spPr>
          <a:xfrm>
            <a:off x="10534503" y="221892"/>
            <a:ext cx="38100" cy="38100"/>
          </a:xfrm>
          <a:prstGeom prst="rect">
            <a:avLst/>
          </a:prstGeom>
          <a:solidFill>
            <a:srgbClr val="F0445A"/>
          </a:solidFill>
          <a:ln/>
        </p:spPr>
      </p:sp>
      <p:sp>
        <p:nvSpPr>
          <p:cNvPr id="16" name="confetti"/>
          <p:cNvSpPr/>
          <p:nvPr/>
        </p:nvSpPr>
        <p:spPr>
          <a:xfrm>
            <a:off x="11726294" y="6713640"/>
            <a:ext cx="38100" cy="38100"/>
          </a:xfrm>
          <a:prstGeom prst="rect">
            <a:avLst/>
          </a:prstGeom>
          <a:solidFill>
            <a:srgbClr val="F0445A"/>
          </a:solidFill>
          <a:ln/>
        </p:spPr>
      </p:sp>
      <p:sp>
        <p:nvSpPr>
          <p:cNvPr id="17" name="confetti"/>
          <p:cNvSpPr/>
          <p:nvPr/>
        </p:nvSpPr>
        <p:spPr>
          <a:xfrm>
            <a:off x="11726657" y="6356210"/>
            <a:ext cx="38100" cy="38100"/>
          </a:xfrm>
          <a:prstGeom prst="rect">
            <a:avLst/>
          </a:prstGeom>
          <a:solidFill>
            <a:srgbClr val="6EF58A"/>
          </a:solidFill>
          <a:ln/>
        </p:spPr>
      </p:sp>
      <p:sp>
        <p:nvSpPr>
          <p:cNvPr id="18" name="confetti"/>
          <p:cNvSpPr/>
          <p:nvPr/>
        </p:nvSpPr>
        <p:spPr>
          <a:xfrm>
            <a:off x="11958089" y="6273917"/>
            <a:ext cx="38100" cy="38100"/>
          </a:xfrm>
          <a:prstGeom prst="rect">
            <a:avLst/>
          </a:prstGeom>
          <a:solidFill>
            <a:srgbClr val="F7DD7A"/>
          </a:solidFill>
          <a:ln/>
        </p:spPr>
      </p:sp>
      <p:sp>
        <p:nvSpPr>
          <p:cNvPr id="19" name="confetti"/>
          <p:cNvSpPr/>
          <p:nvPr/>
        </p:nvSpPr>
        <p:spPr>
          <a:xfrm>
            <a:off x="11976090" y="6726053"/>
            <a:ext cx="38100" cy="38100"/>
          </a:xfrm>
          <a:prstGeom prst="rect">
            <a:avLst/>
          </a:prstGeom>
          <a:solidFill>
            <a:srgbClr val="6CCFC4"/>
          </a:solidFill>
          <a:ln/>
        </p:spPr>
      </p:sp>
      <p:sp>
        <p:nvSpPr>
          <p:cNvPr id="20" name="confetti"/>
          <p:cNvSpPr/>
          <p:nvPr/>
        </p:nvSpPr>
        <p:spPr>
          <a:xfrm>
            <a:off x="12098161" y="6727309"/>
            <a:ext cx="38100" cy="38100"/>
          </a:xfrm>
          <a:prstGeom prst="rect">
            <a:avLst/>
          </a:prstGeom>
          <a:solidFill>
            <a:srgbClr val="7E4CE0"/>
          </a:solidFill>
          <a:ln/>
        </p:spPr>
      </p:sp>
      <p:sp>
        <p:nvSpPr>
          <p:cNvPr id="21" name="confetti"/>
          <p:cNvSpPr/>
          <p:nvPr/>
        </p:nvSpPr>
        <p:spPr>
          <a:xfrm>
            <a:off x="11879801" y="6536978"/>
            <a:ext cx="38100" cy="38100"/>
          </a:xfrm>
          <a:prstGeom prst="rect">
            <a:avLst/>
          </a:prstGeom>
          <a:solidFill>
            <a:srgbClr val="6CCFC4"/>
          </a:solidFill>
          <a:ln/>
        </p:spPr>
      </p:sp>
      <p:sp>
        <p:nvSpPr>
          <p:cNvPr id="22" name="confetti"/>
          <p:cNvSpPr/>
          <p:nvPr/>
        </p:nvSpPr>
        <p:spPr>
          <a:xfrm>
            <a:off x="11638511" y="6414350"/>
            <a:ext cx="38100" cy="38100"/>
          </a:xfrm>
          <a:prstGeom prst="rect">
            <a:avLst/>
          </a:prstGeom>
          <a:solidFill>
            <a:srgbClr val="6EF58A"/>
          </a:solidFill>
          <a:ln/>
        </p:spPr>
      </p:sp>
      <p:sp>
        <p:nvSpPr>
          <p:cNvPr id="23" name="Text 21"/>
          <p:cNvSpPr txBox="1"/>
          <p:nvPr/>
        </p:nvSpPr>
        <p:spPr>
          <a:xfrm>
            <a:off x="1079500" y="457200"/>
            <a:ext cx="6350000" cy="254000"/>
          </a:xfrm>
          <a:prstGeom prst="rect">
            <a:avLst/>
          </a:prstGeom>
          <a:noFill/>
          <a:ln/>
        </p:spPr>
        <p:txBody>
          <a:bodyPr wrap="square" lIns="0" tIns="0" rIns="0" bIns="0" rtlCol="0" anchor="t"/>
          <a:lstStyle/>
          <a:p>
            <a:pPr algn="l" indent="0" marL="0">
              <a:buNone/>
            </a:pPr>
            <a:r>
              <a:rPr lang="en-US" sz="1300" b="1" spc="156" kern="0" dirty="0">
                <a:solidFill>
                  <a:srgbClr val="6CCFC4"/>
                </a:solidFill>
                <a:latin typeface="Source Code Pro" pitchFamily="34" charset="0"/>
                <a:ea typeface="Source Code Pro" pitchFamily="34" charset="-122"/>
                <a:cs typeface="Source Code Pro" pitchFamily="34" charset="-120"/>
              </a:rPr>
              <a:t>APPENDIX A1 · USER RESEARCH</a:t>
            </a:r>
            <a:endParaRPr lang="en-US" sz="1300" dirty="0"/>
          </a:p>
        </p:txBody>
      </p:sp>
      <p:sp>
        <p:nvSpPr>
          <p:cNvPr id="24" name="Text 22"/>
          <p:cNvSpPr txBox="1"/>
          <p:nvPr/>
        </p:nvSpPr>
        <p:spPr>
          <a:xfrm>
            <a:off x="1054100" y="711200"/>
            <a:ext cx="10160000" cy="609600"/>
          </a:xfrm>
          <a:prstGeom prst="rect">
            <a:avLst/>
          </a:prstGeom>
          <a:noFill/>
          <a:ln/>
          <a:effectLst>
            <a:outerShdw sx="100000" sy="100000" kx="0" ky="0" algn="bl" rotWithShape="0" blurRad="101600" dist="38100" dir="2700000">
              <a:srgbClr val="2C5C3C">
                <a:alpha val="100000"/>
              </a:srgbClr>
            </a:outerShdw>
          </a:effectLst>
        </p:spPr>
        <p:txBody>
          <a:bodyPr wrap="square" lIns="0" tIns="0" rIns="0" bIns="0" rtlCol="0" anchor="t"/>
          <a:lstStyle/>
          <a:p>
            <a:pPr algn="l" indent="0" marL="0">
              <a:buNone/>
            </a:pPr>
            <a:r>
              <a:rPr lang="en-US" sz="3600" b="1" spc="100" kern="0" dirty="0">
                <a:solidFill>
                  <a:srgbClr val="6EF58A"/>
                </a:solidFill>
                <a:latin typeface="Silkscreen" pitchFamily="34" charset="0"/>
                <a:ea typeface="Silkscreen" pitchFamily="34" charset="-122"/>
                <a:cs typeface="Silkscreen" pitchFamily="34" charset="-120"/>
              </a:rPr>
              <a:t>WHO WE ASKED</a:t>
            </a:r>
            <a:endParaRPr lang="en-US" sz="3600" dirty="0"/>
          </a:p>
        </p:txBody>
      </p:sp>
      <p:sp>
        <p:nvSpPr>
          <p:cNvPr id="25" name="Text 23"/>
          <p:cNvSpPr txBox="1"/>
          <p:nvPr/>
        </p:nvSpPr>
        <p:spPr>
          <a:xfrm>
            <a:off x="1079500" y="1409700"/>
            <a:ext cx="10096500" cy="355600"/>
          </a:xfrm>
          <a:prstGeom prst="rect">
            <a:avLst/>
          </a:prstGeom>
          <a:noFill/>
          <a:ln/>
        </p:spPr>
        <p:txBody>
          <a:bodyPr wrap="square" lIns="0" tIns="0" rIns="0" bIns="0" rtlCol="0" anchor="t"/>
          <a:lstStyle/>
          <a:p>
            <a:pPr algn="l" indent="0" marL="0">
              <a:buNone/>
            </a:pPr>
            <a:r>
              <a:rPr lang="en-US" sz="1800" b="1" spc="72" kern="0" dirty="0">
                <a:solidFill>
                  <a:srgbClr val="F7DD7A"/>
                </a:solidFill>
                <a:latin typeface="Source Code Pro" pitchFamily="34" charset="0"/>
                <a:ea typeface="Source Code Pro" pitchFamily="34" charset="-122"/>
                <a:cs typeface="Source Code Pro" pitchFamily="34" charset="-120"/>
              </a:rPr>
              <a:t>Young people who live with family: the ones who bring it home.</a:t>
            </a:r>
            <a:endParaRPr lang="en-US" sz="1800" dirty="0"/>
          </a:p>
        </p:txBody>
      </p:sp>
      <p:sp>
        <p:nvSpPr>
          <p:cNvPr id="26" name="Text 24"/>
          <p:cNvSpPr txBox="1"/>
          <p:nvPr/>
        </p:nvSpPr>
        <p:spPr>
          <a:xfrm>
            <a:off x="1079500" y="6464300"/>
            <a:ext cx="8255000" cy="1905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Source: SafeSpace user survey, 31 respondents, 22–30 June 2026.</a:t>
            </a:r>
            <a:endParaRPr lang="en-US" sz="1000" dirty="0"/>
          </a:p>
        </p:txBody>
      </p:sp>
      <p:sp>
        <p:nvSpPr>
          <p:cNvPr id="28" name="stat 31"/>
          <p:cNvSpPr/>
          <p:nvPr/>
        </p:nvSpPr>
        <p:spPr>
          <a:xfrm>
            <a:off x="1079500" y="2032000"/>
            <a:ext cx="2540000" cy="1905000"/>
          </a:xfrm>
          <a:prstGeom prst="rect">
            <a:avLst/>
          </a:prstGeom>
          <a:solidFill>
            <a:srgbClr val="0E2418"/>
          </a:solidFill>
          <a:ln w="19050">
            <a:solidFill>
              <a:srgbClr val="6EF58A"/>
            </a:solidFill>
            <a:prstDash val="solid"/>
          </a:ln>
        </p:spPr>
      </p:sp>
      <p:sp>
        <p:nvSpPr>
          <p:cNvPr id="29" name="Text 26"/>
          <p:cNvSpPr txBox="1"/>
          <p:nvPr/>
        </p:nvSpPr>
        <p:spPr>
          <a:xfrm>
            <a:off x="1282700" y="2184400"/>
            <a:ext cx="2133600" cy="698500"/>
          </a:xfrm>
          <a:prstGeom prst="rect">
            <a:avLst/>
          </a:prstGeom>
          <a:noFill/>
          <a:ln/>
        </p:spPr>
        <p:txBody>
          <a:bodyPr wrap="square" lIns="0" tIns="0" rIns="0" bIns="0" rtlCol="0" anchor="t"/>
          <a:lstStyle/>
          <a:p>
            <a:pPr algn="l" indent="0" marL="0">
              <a:buNone/>
            </a:pPr>
            <a:r>
              <a:rPr lang="en-US" sz="4800" b="1" spc="100" kern="0" dirty="0">
                <a:solidFill>
                  <a:srgbClr val="6EF58A"/>
                </a:solidFill>
                <a:latin typeface="Silkscreen" pitchFamily="34" charset="0"/>
                <a:ea typeface="Silkscreen" pitchFamily="34" charset="-122"/>
                <a:cs typeface="Silkscreen" pitchFamily="34" charset="-120"/>
              </a:rPr>
              <a:t>31</a:t>
            </a:r>
            <a:endParaRPr lang="en-US" sz="4800" dirty="0"/>
          </a:p>
        </p:txBody>
      </p:sp>
      <p:sp>
        <p:nvSpPr>
          <p:cNvPr id="30" name="Text 27"/>
          <p:cNvSpPr txBox="1"/>
          <p:nvPr/>
        </p:nvSpPr>
        <p:spPr>
          <a:xfrm>
            <a:off x="1282700" y="2959100"/>
            <a:ext cx="2133600" cy="8509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respondents, online survey</a:t>
            </a:r>
            <a:endParaRPr lang="en-US" sz="1300" dirty="0"/>
          </a:p>
        </p:txBody>
      </p:sp>
      <p:sp>
        <p:nvSpPr>
          <p:cNvPr id="31" name="stat 71%"/>
          <p:cNvSpPr/>
          <p:nvPr/>
        </p:nvSpPr>
        <p:spPr>
          <a:xfrm>
            <a:off x="1079500" y="4127500"/>
            <a:ext cx="2540000" cy="2095500"/>
          </a:xfrm>
          <a:prstGeom prst="rect">
            <a:avLst/>
          </a:prstGeom>
          <a:solidFill>
            <a:srgbClr val="2A2410"/>
          </a:solidFill>
          <a:ln w="19050">
            <a:solidFill>
              <a:srgbClr val="F7DD7A"/>
            </a:solidFill>
            <a:prstDash val="solid"/>
          </a:ln>
        </p:spPr>
      </p:sp>
      <p:sp>
        <p:nvSpPr>
          <p:cNvPr id="32" name="Text 29"/>
          <p:cNvSpPr txBox="1"/>
          <p:nvPr/>
        </p:nvSpPr>
        <p:spPr>
          <a:xfrm>
            <a:off x="1282700" y="4279900"/>
            <a:ext cx="2133600" cy="698500"/>
          </a:xfrm>
          <a:prstGeom prst="rect">
            <a:avLst/>
          </a:prstGeom>
          <a:noFill/>
          <a:ln/>
        </p:spPr>
        <p:txBody>
          <a:bodyPr wrap="square" lIns="0" tIns="0" rIns="0" bIns="0" rtlCol="0" anchor="t"/>
          <a:lstStyle/>
          <a:p>
            <a:pPr algn="l" indent="0" marL="0">
              <a:buNone/>
            </a:pPr>
            <a:r>
              <a:rPr lang="en-US" sz="4800" b="1" spc="100" kern="0" dirty="0">
                <a:solidFill>
                  <a:srgbClr val="F7DD7A"/>
                </a:solidFill>
                <a:latin typeface="Silkscreen" pitchFamily="34" charset="0"/>
                <a:ea typeface="Silkscreen" pitchFamily="34" charset="-122"/>
                <a:cs typeface="Silkscreen" pitchFamily="34" charset="-120"/>
              </a:rPr>
              <a:t>71%</a:t>
            </a:r>
            <a:endParaRPr lang="en-US" sz="4800" dirty="0"/>
          </a:p>
        </p:txBody>
      </p:sp>
      <p:sp>
        <p:nvSpPr>
          <p:cNvPr id="33" name="Text 30"/>
          <p:cNvSpPr txBox="1"/>
          <p:nvPr/>
        </p:nvSpPr>
        <p:spPr>
          <a:xfrm>
            <a:off x="1282700" y="5054600"/>
            <a:ext cx="2133600" cy="10414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aged 18–24: our sample skews young</a:t>
            </a:r>
            <a:endParaRPr lang="en-US" sz="1300" dirty="0"/>
          </a:p>
        </p:txBody>
      </p:sp>
      <p:sp>
        <p:nvSpPr>
          <p:cNvPr id="34" name="panel Age group"/>
          <p:cNvSpPr/>
          <p:nvPr/>
        </p:nvSpPr>
        <p:spPr>
          <a:xfrm>
            <a:off x="3873500" y="2032000"/>
            <a:ext cx="3556000" cy="4191000"/>
          </a:xfrm>
          <a:prstGeom prst="rect">
            <a:avLst/>
          </a:prstGeom>
          <a:solidFill>
            <a:srgbClr val="121626"/>
          </a:solidFill>
          <a:ln w="19050">
            <a:solidFill>
              <a:srgbClr val="2A2F45"/>
            </a:solidFill>
            <a:prstDash val="solid"/>
          </a:ln>
        </p:spPr>
      </p:sp>
      <p:sp>
        <p:nvSpPr>
          <p:cNvPr id="35" name="Text 32"/>
          <p:cNvSpPr txBox="1"/>
          <p:nvPr/>
        </p:nvSpPr>
        <p:spPr>
          <a:xfrm>
            <a:off x="4076700" y="2184400"/>
            <a:ext cx="31496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Age group</a:t>
            </a:r>
            <a:endParaRPr lang="en-US" sz="1300" dirty="0"/>
          </a:p>
        </p:txBody>
      </p:sp>
      <p:graphicFrame>
        <p:nvGraphicFramePr>
          <p:cNvPr id="36" name="Age group" descr=""/>
          <p:cNvGraphicFramePr/>
          <p:nvPr/>
        </p:nvGraphicFramePr>
        <p:xfrm>
          <a:off x="4064000" y="2413000"/>
          <a:ext cx="3175000" cy="3683000"/>
        </p:xfrm>
        <a:graphic xmlns:a="http://schemas.openxmlformats.org/drawingml/2006/main">
          <a:graphicData uri="http://schemas.openxmlformats.org/drawingml/2006/chart">
            <c:chart xmlns:c="http://schemas.openxmlformats.org/drawingml/2006/chart" r:id="rId1"/>
          </a:graphicData>
        </a:graphic>
      </p:graphicFrame>
      <p:sp>
        <p:nvSpPr>
          <p:cNvPr id="37" name="panel Lives with (select all)"/>
          <p:cNvSpPr/>
          <p:nvPr/>
        </p:nvSpPr>
        <p:spPr>
          <a:xfrm>
            <a:off x="7620000" y="2032000"/>
            <a:ext cx="3492500" cy="4191000"/>
          </a:xfrm>
          <a:prstGeom prst="rect">
            <a:avLst/>
          </a:prstGeom>
          <a:solidFill>
            <a:srgbClr val="121626"/>
          </a:solidFill>
          <a:ln w="19050">
            <a:solidFill>
              <a:srgbClr val="2A2F45"/>
            </a:solidFill>
            <a:prstDash val="solid"/>
          </a:ln>
        </p:spPr>
      </p:sp>
      <p:sp>
        <p:nvSpPr>
          <p:cNvPr id="38" name="Text 34"/>
          <p:cNvSpPr txBox="1"/>
          <p:nvPr/>
        </p:nvSpPr>
        <p:spPr>
          <a:xfrm>
            <a:off x="7823200" y="2184400"/>
            <a:ext cx="30861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Lives with (select all)</a:t>
            </a:r>
            <a:endParaRPr lang="en-US" sz="1300" dirty="0"/>
          </a:p>
        </p:txBody>
      </p:sp>
      <p:graphicFrame>
        <p:nvGraphicFramePr>
          <p:cNvPr id="39" name="Household" descr=""/>
          <p:cNvGraphicFramePr/>
          <p:nvPr/>
        </p:nvGraphicFramePr>
        <p:xfrm>
          <a:off x="7810500" y="2413000"/>
          <a:ext cx="3111500" cy="368300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384538" y="293848"/>
            <a:ext cx="38100" cy="38100"/>
          </a:xfrm>
          <a:prstGeom prst="rect">
            <a:avLst/>
          </a:prstGeom>
          <a:solidFill>
            <a:srgbClr val="7E4CE0"/>
          </a:solidFill>
          <a:ln/>
        </p:spPr>
      </p:sp>
      <p:sp>
        <p:nvSpPr>
          <p:cNvPr id="3" name="confetti"/>
          <p:cNvSpPr/>
          <p:nvPr/>
        </p:nvSpPr>
        <p:spPr>
          <a:xfrm>
            <a:off x="2056028" y="201719"/>
            <a:ext cx="38100" cy="38100"/>
          </a:xfrm>
          <a:prstGeom prst="rect">
            <a:avLst/>
          </a:prstGeom>
          <a:solidFill>
            <a:srgbClr val="F0445A"/>
          </a:solidFill>
          <a:ln/>
        </p:spPr>
      </p:sp>
      <p:sp>
        <p:nvSpPr>
          <p:cNvPr id="4" name="confetti"/>
          <p:cNvSpPr/>
          <p:nvPr/>
        </p:nvSpPr>
        <p:spPr>
          <a:xfrm>
            <a:off x="166227" y="203958"/>
            <a:ext cx="38100" cy="38100"/>
          </a:xfrm>
          <a:prstGeom prst="rect">
            <a:avLst/>
          </a:prstGeom>
          <a:solidFill>
            <a:srgbClr val="F7DD7A"/>
          </a:solidFill>
          <a:ln/>
        </p:spPr>
      </p:sp>
      <p:sp>
        <p:nvSpPr>
          <p:cNvPr id="5" name="confetti"/>
          <p:cNvSpPr/>
          <p:nvPr/>
        </p:nvSpPr>
        <p:spPr>
          <a:xfrm>
            <a:off x="239634" y="78315"/>
            <a:ext cx="38100" cy="38100"/>
          </a:xfrm>
          <a:prstGeom prst="rect">
            <a:avLst/>
          </a:prstGeom>
          <a:solidFill>
            <a:srgbClr val="6EF58A"/>
          </a:solidFill>
          <a:ln/>
        </p:spPr>
      </p:sp>
      <p:sp>
        <p:nvSpPr>
          <p:cNvPr id="6" name="confetti"/>
          <p:cNvSpPr/>
          <p:nvPr/>
        </p:nvSpPr>
        <p:spPr>
          <a:xfrm>
            <a:off x="942750" y="364540"/>
            <a:ext cx="38100" cy="38100"/>
          </a:xfrm>
          <a:prstGeom prst="rect">
            <a:avLst/>
          </a:prstGeom>
          <a:solidFill>
            <a:srgbClr val="F7DD7A"/>
          </a:solidFill>
          <a:ln/>
        </p:spPr>
      </p:sp>
      <p:sp>
        <p:nvSpPr>
          <p:cNvPr id="7" name="confetti"/>
          <p:cNvSpPr/>
          <p:nvPr/>
        </p:nvSpPr>
        <p:spPr>
          <a:xfrm>
            <a:off x="942073" y="78384"/>
            <a:ext cx="38100" cy="38100"/>
          </a:xfrm>
          <a:prstGeom prst="rect">
            <a:avLst/>
          </a:prstGeom>
          <a:solidFill>
            <a:srgbClr val="7E4CE0"/>
          </a:solidFill>
          <a:ln/>
        </p:spPr>
      </p:sp>
      <p:sp>
        <p:nvSpPr>
          <p:cNvPr id="8" name="confetti"/>
          <p:cNvSpPr/>
          <p:nvPr/>
        </p:nvSpPr>
        <p:spPr>
          <a:xfrm>
            <a:off x="1190106" y="140595"/>
            <a:ext cx="38100" cy="38100"/>
          </a:xfrm>
          <a:prstGeom prst="rect">
            <a:avLst/>
          </a:prstGeom>
          <a:solidFill>
            <a:srgbClr val="F0445A"/>
          </a:solidFill>
          <a:ln/>
        </p:spPr>
      </p:sp>
      <p:sp>
        <p:nvSpPr>
          <p:cNvPr id="9" name="confetti"/>
          <p:cNvSpPr/>
          <p:nvPr/>
        </p:nvSpPr>
        <p:spPr>
          <a:xfrm>
            <a:off x="10259346" y="493387"/>
            <a:ext cx="38100" cy="38100"/>
          </a:xfrm>
          <a:prstGeom prst="rect">
            <a:avLst/>
          </a:prstGeom>
          <a:solidFill>
            <a:srgbClr val="6CCFC4"/>
          </a:solidFill>
          <a:ln/>
        </p:spPr>
      </p:sp>
      <p:sp>
        <p:nvSpPr>
          <p:cNvPr id="10" name="confetti"/>
          <p:cNvSpPr/>
          <p:nvPr/>
        </p:nvSpPr>
        <p:spPr>
          <a:xfrm>
            <a:off x="11576295" y="60183"/>
            <a:ext cx="38100" cy="38100"/>
          </a:xfrm>
          <a:prstGeom prst="rect">
            <a:avLst/>
          </a:prstGeom>
          <a:solidFill>
            <a:srgbClr val="7E4CE0"/>
          </a:solidFill>
          <a:ln/>
        </p:spPr>
      </p:sp>
      <p:sp>
        <p:nvSpPr>
          <p:cNvPr id="11" name="confetti"/>
          <p:cNvSpPr/>
          <p:nvPr/>
        </p:nvSpPr>
        <p:spPr>
          <a:xfrm>
            <a:off x="11427452" y="292406"/>
            <a:ext cx="38100" cy="38100"/>
          </a:xfrm>
          <a:prstGeom prst="rect">
            <a:avLst/>
          </a:prstGeom>
          <a:solidFill>
            <a:srgbClr val="6EF58A"/>
          </a:solidFill>
          <a:ln/>
        </p:spPr>
      </p:sp>
      <p:sp>
        <p:nvSpPr>
          <p:cNvPr id="12" name="confetti"/>
          <p:cNvSpPr/>
          <p:nvPr/>
        </p:nvSpPr>
        <p:spPr>
          <a:xfrm>
            <a:off x="10765318" y="285182"/>
            <a:ext cx="38100" cy="38100"/>
          </a:xfrm>
          <a:prstGeom prst="rect">
            <a:avLst/>
          </a:prstGeom>
          <a:solidFill>
            <a:srgbClr val="F0445A"/>
          </a:solidFill>
          <a:ln/>
        </p:spPr>
      </p:sp>
      <p:sp>
        <p:nvSpPr>
          <p:cNvPr id="13" name="confetti"/>
          <p:cNvSpPr/>
          <p:nvPr/>
        </p:nvSpPr>
        <p:spPr>
          <a:xfrm>
            <a:off x="10542392" y="276634"/>
            <a:ext cx="38100" cy="38100"/>
          </a:xfrm>
          <a:prstGeom prst="rect">
            <a:avLst/>
          </a:prstGeom>
          <a:solidFill>
            <a:srgbClr val="F7DD7A"/>
          </a:solidFill>
          <a:ln/>
        </p:spPr>
      </p:sp>
      <p:sp>
        <p:nvSpPr>
          <p:cNvPr id="14" name="confetti"/>
          <p:cNvSpPr/>
          <p:nvPr/>
        </p:nvSpPr>
        <p:spPr>
          <a:xfrm>
            <a:off x="11711174" y="504889"/>
            <a:ext cx="38100" cy="38100"/>
          </a:xfrm>
          <a:prstGeom prst="rect">
            <a:avLst/>
          </a:prstGeom>
          <a:solidFill>
            <a:srgbClr val="6EF58A"/>
          </a:solidFill>
          <a:ln/>
        </p:spPr>
      </p:sp>
      <p:sp>
        <p:nvSpPr>
          <p:cNvPr id="15" name="confetti"/>
          <p:cNvSpPr/>
          <p:nvPr/>
        </p:nvSpPr>
        <p:spPr>
          <a:xfrm>
            <a:off x="10652164" y="65070"/>
            <a:ext cx="38100" cy="38100"/>
          </a:xfrm>
          <a:prstGeom prst="rect">
            <a:avLst/>
          </a:prstGeom>
          <a:solidFill>
            <a:srgbClr val="F7DD7A"/>
          </a:solidFill>
          <a:ln/>
        </p:spPr>
      </p:sp>
      <p:sp>
        <p:nvSpPr>
          <p:cNvPr id="16" name="confetti"/>
          <p:cNvSpPr/>
          <p:nvPr/>
        </p:nvSpPr>
        <p:spPr>
          <a:xfrm>
            <a:off x="11662621" y="6591376"/>
            <a:ext cx="38100" cy="38100"/>
          </a:xfrm>
          <a:prstGeom prst="rect">
            <a:avLst/>
          </a:prstGeom>
          <a:solidFill>
            <a:srgbClr val="6EF58A"/>
          </a:solidFill>
          <a:ln/>
        </p:spPr>
      </p:sp>
      <p:sp>
        <p:nvSpPr>
          <p:cNvPr id="17" name="confetti"/>
          <p:cNvSpPr/>
          <p:nvPr/>
        </p:nvSpPr>
        <p:spPr>
          <a:xfrm>
            <a:off x="11538923" y="6680023"/>
            <a:ext cx="38100" cy="38100"/>
          </a:xfrm>
          <a:prstGeom prst="rect">
            <a:avLst/>
          </a:prstGeom>
          <a:solidFill>
            <a:srgbClr val="6CCFC4"/>
          </a:solidFill>
          <a:ln/>
        </p:spPr>
      </p:sp>
      <p:sp>
        <p:nvSpPr>
          <p:cNvPr id="18" name="confetti"/>
          <p:cNvSpPr/>
          <p:nvPr/>
        </p:nvSpPr>
        <p:spPr>
          <a:xfrm>
            <a:off x="11625129" y="6819088"/>
            <a:ext cx="38100" cy="38100"/>
          </a:xfrm>
          <a:prstGeom prst="rect">
            <a:avLst/>
          </a:prstGeom>
          <a:solidFill>
            <a:srgbClr val="F0445A"/>
          </a:solidFill>
          <a:ln/>
        </p:spPr>
      </p:sp>
      <p:sp>
        <p:nvSpPr>
          <p:cNvPr id="19" name="confetti"/>
          <p:cNvSpPr/>
          <p:nvPr/>
        </p:nvSpPr>
        <p:spPr>
          <a:xfrm>
            <a:off x="11476737" y="6645563"/>
            <a:ext cx="38100" cy="38100"/>
          </a:xfrm>
          <a:prstGeom prst="rect">
            <a:avLst/>
          </a:prstGeom>
          <a:solidFill>
            <a:srgbClr val="6CCFC4"/>
          </a:solidFill>
          <a:ln/>
        </p:spPr>
      </p:sp>
      <p:sp>
        <p:nvSpPr>
          <p:cNvPr id="20" name="confetti"/>
          <p:cNvSpPr/>
          <p:nvPr/>
        </p:nvSpPr>
        <p:spPr>
          <a:xfrm>
            <a:off x="12173247" y="6418739"/>
            <a:ext cx="38100" cy="38100"/>
          </a:xfrm>
          <a:prstGeom prst="rect">
            <a:avLst/>
          </a:prstGeom>
          <a:solidFill>
            <a:srgbClr val="7E4CE0"/>
          </a:solidFill>
          <a:ln/>
        </p:spPr>
      </p:sp>
      <p:sp>
        <p:nvSpPr>
          <p:cNvPr id="21" name="confetti"/>
          <p:cNvSpPr/>
          <p:nvPr/>
        </p:nvSpPr>
        <p:spPr>
          <a:xfrm>
            <a:off x="11746161" y="6397907"/>
            <a:ext cx="38100" cy="38100"/>
          </a:xfrm>
          <a:prstGeom prst="rect">
            <a:avLst/>
          </a:prstGeom>
          <a:solidFill>
            <a:srgbClr val="F0445A"/>
          </a:solidFill>
          <a:ln/>
        </p:spPr>
      </p:sp>
      <p:sp>
        <p:nvSpPr>
          <p:cNvPr id="22" name="confetti"/>
          <p:cNvSpPr/>
          <p:nvPr/>
        </p:nvSpPr>
        <p:spPr>
          <a:xfrm>
            <a:off x="12036977" y="6842360"/>
            <a:ext cx="38100" cy="38100"/>
          </a:xfrm>
          <a:prstGeom prst="rect">
            <a:avLst/>
          </a:prstGeom>
          <a:solidFill>
            <a:srgbClr val="F7DD7A"/>
          </a:solidFill>
          <a:ln/>
        </p:spPr>
      </p:sp>
      <p:sp>
        <p:nvSpPr>
          <p:cNvPr id="23" name="Text 21"/>
          <p:cNvSpPr txBox="1"/>
          <p:nvPr/>
        </p:nvSpPr>
        <p:spPr>
          <a:xfrm>
            <a:off x="1079500" y="457200"/>
            <a:ext cx="6350000" cy="254000"/>
          </a:xfrm>
          <a:prstGeom prst="rect">
            <a:avLst/>
          </a:prstGeom>
          <a:noFill/>
          <a:ln/>
        </p:spPr>
        <p:txBody>
          <a:bodyPr wrap="square" lIns="0" tIns="0" rIns="0" bIns="0" rtlCol="0" anchor="t"/>
          <a:lstStyle/>
          <a:p>
            <a:pPr algn="l" indent="0" marL="0">
              <a:buNone/>
            </a:pPr>
            <a:r>
              <a:rPr lang="en-US" sz="1300" b="1" spc="156" kern="0" dirty="0">
                <a:solidFill>
                  <a:srgbClr val="6CCFC4"/>
                </a:solidFill>
                <a:latin typeface="Source Code Pro" pitchFamily="34" charset="0"/>
                <a:ea typeface="Source Code Pro" pitchFamily="34" charset="-122"/>
                <a:cs typeface="Source Code Pro" pitchFamily="34" charset="-120"/>
              </a:rPr>
              <a:t>APPENDIX A2 · USER RESEARCH</a:t>
            </a:r>
            <a:endParaRPr lang="en-US" sz="1300" dirty="0"/>
          </a:p>
        </p:txBody>
      </p:sp>
      <p:sp>
        <p:nvSpPr>
          <p:cNvPr id="24" name="Text 22"/>
          <p:cNvSpPr txBox="1"/>
          <p:nvPr/>
        </p:nvSpPr>
        <p:spPr>
          <a:xfrm>
            <a:off x="1054100" y="711200"/>
            <a:ext cx="10160000" cy="609600"/>
          </a:xfrm>
          <a:prstGeom prst="rect">
            <a:avLst/>
          </a:prstGeom>
          <a:noFill/>
          <a:ln/>
          <a:effectLst>
            <a:outerShdw sx="100000" sy="100000" kx="0" ky="0" algn="bl" rotWithShape="0" blurRad="101600" dist="38100" dir="2700000">
              <a:srgbClr val="2C5C3C">
                <a:alpha val="100000"/>
              </a:srgbClr>
            </a:outerShdw>
          </a:effectLst>
        </p:spPr>
        <p:txBody>
          <a:bodyPr wrap="square" lIns="0" tIns="0" rIns="0" bIns="0" rtlCol="0" anchor="t"/>
          <a:lstStyle/>
          <a:p>
            <a:pPr algn="l" indent="0" marL="0">
              <a:buNone/>
            </a:pPr>
            <a:r>
              <a:rPr lang="en-US" sz="3600" b="1" spc="100" kern="0" dirty="0">
                <a:solidFill>
                  <a:srgbClr val="6EF58A"/>
                </a:solidFill>
                <a:latin typeface="Silkscreen" pitchFamily="34" charset="0"/>
                <a:ea typeface="Silkscreen" pitchFamily="34" charset="-122"/>
                <a:cs typeface="Silkscreen" pitchFamily="34" charset="-120"/>
              </a:rPr>
              <a:t>EVERYONE GETS TARGETED</a:t>
            </a:r>
            <a:endParaRPr lang="en-US" sz="3600" dirty="0"/>
          </a:p>
        </p:txBody>
      </p:sp>
      <p:sp>
        <p:nvSpPr>
          <p:cNvPr id="25" name="Text 23"/>
          <p:cNvSpPr txBox="1"/>
          <p:nvPr/>
        </p:nvSpPr>
        <p:spPr>
          <a:xfrm>
            <a:off x="1079500" y="1409700"/>
            <a:ext cx="10096500" cy="355600"/>
          </a:xfrm>
          <a:prstGeom prst="rect">
            <a:avLst/>
          </a:prstGeom>
          <a:noFill/>
          <a:ln/>
        </p:spPr>
        <p:txBody>
          <a:bodyPr wrap="square" lIns="0" tIns="0" rIns="0" bIns="0" rtlCol="0" anchor="t"/>
          <a:lstStyle/>
          <a:p>
            <a:pPr algn="l" indent="0" marL="0">
              <a:buNone/>
            </a:pPr>
            <a:r>
              <a:rPr lang="en-US" sz="1800" b="1" spc="72" kern="0" dirty="0">
                <a:solidFill>
                  <a:srgbClr val="F7DD7A"/>
                </a:solidFill>
                <a:latin typeface="Source Code Pro" pitchFamily="34" charset="0"/>
                <a:ea typeface="Source Code Pro" pitchFamily="34" charset="-122"/>
                <a:cs typeface="Source Code Pro" pitchFamily="34" charset="-120"/>
              </a:rPr>
              <a:t>All 31 had been targeted. Most by text or phone.</a:t>
            </a:r>
            <a:endParaRPr lang="en-US" sz="1800" dirty="0"/>
          </a:p>
        </p:txBody>
      </p:sp>
      <p:sp>
        <p:nvSpPr>
          <p:cNvPr id="26" name="Text 24"/>
          <p:cNvSpPr txBox="1"/>
          <p:nvPr/>
        </p:nvSpPr>
        <p:spPr>
          <a:xfrm>
            <a:off x="1079500" y="6464300"/>
            <a:ext cx="8255000" cy="1905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Source: SafeSpace user survey, 31 respondents, 22–30 June 2026.</a:t>
            </a:r>
            <a:endParaRPr lang="en-US" sz="1000" dirty="0"/>
          </a:p>
        </p:txBody>
      </p:sp>
      <p:sp>
        <p:nvSpPr>
          <p:cNvPr id="28" name="stat 100%"/>
          <p:cNvSpPr/>
          <p:nvPr/>
        </p:nvSpPr>
        <p:spPr>
          <a:xfrm>
            <a:off x="1079500" y="2032000"/>
            <a:ext cx="3302000" cy="1968500"/>
          </a:xfrm>
          <a:prstGeom prst="rect">
            <a:avLst/>
          </a:prstGeom>
          <a:solidFill>
            <a:srgbClr val="0E2418"/>
          </a:solidFill>
          <a:ln w="19050">
            <a:solidFill>
              <a:srgbClr val="6EF58A"/>
            </a:solidFill>
            <a:prstDash val="solid"/>
          </a:ln>
        </p:spPr>
      </p:sp>
      <p:sp>
        <p:nvSpPr>
          <p:cNvPr id="29" name="Text 26"/>
          <p:cNvSpPr txBox="1"/>
          <p:nvPr/>
        </p:nvSpPr>
        <p:spPr>
          <a:xfrm>
            <a:off x="1282700" y="2184400"/>
            <a:ext cx="2895600" cy="698500"/>
          </a:xfrm>
          <a:prstGeom prst="rect">
            <a:avLst/>
          </a:prstGeom>
          <a:noFill/>
          <a:ln/>
        </p:spPr>
        <p:txBody>
          <a:bodyPr wrap="square" lIns="0" tIns="0" rIns="0" bIns="0" rtlCol="0" anchor="t"/>
          <a:lstStyle/>
          <a:p>
            <a:pPr algn="l" indent="0" marL="0">
              <a:buNone/>
            </a:pPr>
            <a:r>
              <a:rPr lang="en-US" sz="4800" b="1" spc="100" kern="0" dirty="0">
                <a:solidFill>
                  <a:srgbClr val="6EF58A"/>
                </a:solidFill>
                <a:latin typeface="Silkscreen" pitchFamily="34" charset="0"/>
                <a:ea typeface="Silkscreen" pitchFamily="34" charset="-122"/>
                <a:cs typeface="Silkscreen" pitchFamily="34" charset="-120"/>
              </a:rPr>
              <a:t>100%</a:t>
            </a:r>
            <a:endParaRPr lang="en-US" sz="4800" dirty="0"/>
          </a:p>
        </p:txBody>
      </p:sp>
      <p:sp>
        <p:nvSpPr>
          <p:cNvPr id="30" name="Text 27"/>
          <p:cNvSpPr txBox="1"/>
          <p:nvPr/>
        </p:nvSpPr>
        <p:spPr>
          <a:xfrm>
            <a:off x="1282700" y="2959100"/>
            <a:ext cx="2895600" cy="9144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have received a scam message or call. 15 of 31 "many times".</a:t>
            </a:r>
            <a:endParaRPr lang="en-US" sz="1300" dirty="0"/>
          </a:p>
        </p:txBody>
      </p:sp>
      <p:sp>
        <p:nvSpPr>
          <p:cNvPr id="31" name="stat 77%"/>
          <p:cNvSpPr/>
          <p:nvPr/>
        </p:nvSpPr>
        <p:spPr>
          <a:xfrm>
            <a:off x="1079500" y="4191000"/>
            <a:ext cx="3302000" cy="2032000"/>
          </a:xfrm>
          <a:prstGeom prst="rect">
            <a:avLst/>
          </a:prstGeom>
          <a:solidFill>
            <a:srgbClr val="2C0A28"/>
          </a:solidFill>
          <a:ln w="19050">
            <a:solidFill>
              <a:srgbClr val="F0445A"/>
            </a:solidFill>
            <a:prstDash val="solid"/>
          </a:ln>
        </p:spPr>
      </p:sp>
      <p:sp>
        <p:nvSpPr>
          <p:cNvPr id="32" name="Text 29"/>
          <p:cNvSpPr txBox="1"/>
          <p:nvPr/>
        </p:nvSpPr>
        <p:spPr>
          <a:xfrm>
            <a:off x="1282700" y="4343400"/>
            <a:ext cx="2895600" cy="698500"/>
          </a:xfrm>
          <a:prstGeom prst="rect">
            <a:avLst/>
          </a:prstGeom>
          <a:noFill/>
          <a:ln/>
        </p:spPr>
        <p:txBody>
          <a:bodyPr wrap="square" lIns="0" tIns="0" rIns="0" bIns="0" rtlCol="0" anchor="t"/>
          <a:lstStyle/>
          <a:p>
            <a:pPr algn="l" indent="0" marL="0">
              <a:buNone/>
            </a:pPr>
            <a:r>
              <a:rPr lang="en-US" sz="4800" b="1" spc="100" kern="0" dirty="0">
                <a:solidFill>
                  <a:srgbClr val="F0445A"/>
                </a:solidFill>
                <a:latin typeface="Silkscreen" pitchFamily="34" charset="0"/>
                <a:ea typeface="Silkscreen" pitchFamily="34" charset="-122"/>
                <a:cs typeface="Silkscreen" pitchFamily="34" charset="-120"/>
              </a:rPr>
              <a:t>77%</a:t>
            </a:r>
            <a:endParaRPr lang="en-US" sz="4800" dirty="0"/>
          </a:p>
        </p:txBody>
      </p:sp>
      <p:sp>
        <p:nvSpPr>
          <p:cNvPr id="33" name="Text 30"/>
          <p:cNvSpPr txBox="1"/>
          <p:nvPr/>
        </p:nvSpPr>
        <p:spPr>
          <a:xfrm>
            <a:off x="1282700" y="5118100"/>
            <a:ext cx="2895600" cy="9779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say they or someone close almost fell for one (24 of 31)</a:t>
            </a:r>
            <a:endParaRPr lang="en-US" sz="1300" dirty="0"/>
          </a:p>
        </p:txBody>
      </p:sp>
      <p:sp>
        <p:nvSpPr>
          <p:cNvPr id="34" name="panel What reached them (select all)"/>
          <p:cNvSpPr/>
          <p:nvPr/>
        </p:nvSpPr>
        <p:spPr>
          <a:xfrm>
            <a:off x="4635500" y="2032000"/>
            <a:ext cx="6477000" cy="4191000"/>
          </a:xfrm>
          <a:prstGeom prst="rect">
            <a:avLst/>
          </a:prstGeom>
          <a:solidFill>
            <a:srgbClr val="121626"/>
          </a:solidFill>
          <a:ln w="19050">
            <a:solidFill>
              <a:srgbClr val="2A2F45"/>
            </a:solidFill>
            <a:prstDash val="solid"/>
          </a:ln>
        </p:spPr>
      </p:sp>
      <p:sp>
        <p:nvSpPr>
          <p:cNvPr id="35" name="Text 32"/>
          <p:cNvSpPr txBox="1"/>
          <p:nvPr/>
        </p:nvSpPr>
        <p:spPr>
          <a:xfrm>
            <a:off x="4838700" y="2184400"/>
            <a:ext cx="60706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What reached them (select all)</a:t>
            </a:r>
            <a:endParaRPr lang="en-US" sz="1300" dirty="0"/>
          </a:p>
        </p:txBody>
      </p:sp>
      <p:graphicFrame>
        <p:nvGraphicFramePr>
          <p:cNvPr id="36" name="Scam encountered" descr=""/>
          <p:cNvGraphicFramePr/>
          <p:nvPr/>
        </p:nvGraphicFramePr>
        <p:xfrm>
          <a:off x="4826000" y="2413000"/>
          <a:ext cx="6096000" cy="36830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1022546" y="237219"/>
            <a:ext cx="38100" cy="38100"/>
          </a:xfrm>
          <a:prstGeom prst="rect">
            <a:avLst/>
          </a:prstGeom>
          <a:solidFill>
            <a:srgbClr val="F7DD7A"/>
          </a:solidFill>
          <a:ln/>
        </p:spPr>
      </p:sp>
      <p:sp>
        <p:nvSpPr>
          <p:cNvPr id="3" name="confetti"/>
          <p:cNvSpPr/>
          <p:nvPr/>
        </p:nvSpPr>
        <p:spPr>
          <a:xfrm>
            <a:off x="924856" y="58365"/>
            <a:ext cx="38100" cy="38100"/>
          </a:xfrm>
          <a:prstGeom prst="rect">
            <a:avLst/>
          </a:prstGeom>
          <a:solidFill>
            <a:srgbClr val="6EF58A"/>
          </a:solidFill>
          <a:ln/>
        </p:spPr>
      </p:sp>
      <p:sp>
        <p:nvSpPr>
          <p:cNvPr id="4" name="confetti"/>
          <p:cNvSpPr/>
          <p:nvPr/>
        </p:nvSpPr>
        <p:spPr>
          <a:xfrm>
            <a:off x="1774374" y="217296"/>
            <a:ext cx="38100" cy="38100"/>
          </a:xfrm>
          <a:prstGeom prst="rect">
            <a:avLst/>
          </a:prstGeom>
          <a:solidFill>
            <a:srgbClr val="6CCFC4"/>
          </a:solidFill>
          <a:ln/>
        </p:spPr>
      </p:sp>
      <p:sp>
        <p:nvSpPr>
          <p:cNvPr id="5" name="confetti"/>
          <p:cNvSpPr/>
          <p:nvPr/>
        </p:nvSpPr>
        <p:spPr>
          <a:xfrm>
            <a:off x="2237601" y="110762"/>
            <a:ext cx="38100" cy="38100"/>
          </a:xfrm>
          <a:prstGeom prst="rect">
            <a:avLst/>
          </a:prstGeom>
          <a:solidFill>
            <a:srgbClr val="6EF58A"/>
          </a:solidFill>
          <a:ln/>
        </p:spPr>
      </p:sp>
      <p:sp>
        <p:nvSpPr>
          <p:cNvPr id="6" name="confetti"/>
          <p:cNvSpPr/>
          <p:nvPr/>
        </p:nvSpPr>
        <p:spPr>
          <a:xfrm>
            <a:off x="981036" y="278513"/>
            <a:ext cx="38100" cy="38100"/>
          </a:xfrm>
          <a:prstGeom prst="rect">
            <a:avLst/>
          </a:prstGeom>
          <a:solidFill>
            <a:srgbClr val="F7DD7A"/>
          </a:solidFill>
          <a:ln/>
        </p:spPr>
      </p:sp>
      <p:sp>
        <p:nvSpPr>
          <p:cNvPr id="7" name="confetti"/>
          <p:cNvSpPr/>
          <p:nvPr/>
        </p:nvSpPr>
        <p:spPr>
          <a:xfrm>
            <a:off x="1243179" y="117299"/>
            <a:ext cx="38100" cy="38100"/>
          </a:xfrm>
          <a:prstGeom prst="rect">
            <a:avLst/>
          </a:prstGeom>
          <a:solidFill>
            <a:srgbClr val="7E4CE0"/>
          </a:solidFill>
          <a:ln/>
        </p:spPr>
      </p:sp>
      <p:sp>
        <p:nvSpPr>
          <p:cNvPr id="8" name="confetti"/>
          <p:cNvSpPr/>
          <p:nvPr/>
        </p:nvSpPr>
        <p:spPr>
          <a:xfrm>
            <a:off x="1690531" y="166869"/>
            <a:ext cx="38100" cy="38100"/>
          </a:xfrm>
          <a:prstGeom prst="rect">
            <a:avLst/>
          </a:prstGeom>
          <a:solidFill>
            <a:srgbClr val="6CCFC4"/>
          </a:solidFill>
          <a:ln/>
        </p:spPr>
      </p:sp>
      <p:sp>
        <p:nvSpPr>
          <p:cNvPr id="9" name="confetti"/>
          <p:cNvSpPr/>
          <p:nvPr/>
        </p:nvSpPr>
        <p:spPr>
          <a:xfrm>
            <a:off x="10895591" y="307461"/>
            <a:ext cx="38100" cy="38100"/>
          </a:xfrm>
          <a:prstGeom prst="rect">
            <a:avLst/>
          </a:prstGeom>
          <a:solidFill>
            <a:srgbClr val="6EF58A"/>
          </a:solidFill>
          <a:ln/>
        </p:spPr>
      </p:sp>
      <p:sp>
        <p:nvSpPr>
          <p:cNvPr id="10" name="confetti"/>
          <p:cNvSpPr/>
          <p:nvPr/>
        </p:nvSpPr>
        <p:spPr>
          <a:xfrm>
            <a:off x="9998859" y="14045"/>
            <a:ext cx="38100" cy="38100"/>
          </a:xfrm>
          <a:prstGeom prst="rect">
            <a:avLst/>
          </a:prstGeom>
          <a:solidFill>
            <a:srgbClr val="7E4CE0"/>
          </a:solidFill>
          <a:ln/>
        </p:spPr>
      </p:sp>
      <p:sp>
        <p:nvSpPr>
          <p:cNvPr id="11" name="confetti"/>
          <p:cNvSpPr/>
          <p:nvPr/>
        </p:nvSpPr>
        <p:spPr>
          <a:xfrm>
            <a:off x="12144836" y="179681"/>
            <a:ext cx="38100" cy="38100"/>
          </a:xfrm>
          <a:prstGeom prst="rect">
            <a:avLst/>
          </a:prstGeom>
          <a:solidFill>
            <a:srgbClr val="F0445A"/>
          </a:solidFill>
          <a:ln/>
        </p:spPr>
      </p:sp>
      <p:sp>
        <p:nvSpPr>
          <p:cNvPr id="12" name="confetti"/>
          <p:cNvSpPr/>
          <p:nvPr/>
        </p:nvSpPr>
        <p:spPr>
          <a:xfrm>
            <a:off x="11428021" y="470995"/>
            <a:ext cx="38100" cy="38100"/>
          </a:xfrm>
          <a:prstGeom prst="rect">
            <a:avLst/>
          </a:prstGeom>
          <a:solidFill>
            <a:srgbClr val="F0445A"/>
          </a:solidFill>
          <a:ln/>
        </p:spPr>
      </p:sp>
      <p:sp>
        <p:nvSpPr>
          <p:cNvPr id="13" name="confetti"/>
          <p:cNvSpPr/>
          <p:nvPr/>
        </p:nvSpPr>
        <p:spPr>
          <a:xfrm>
            <a:off x="11086914" y="554611"/>
            <a:ext cx="38100" cy="38100"/>
          </a:xfrm>
          <a:prstGeom prst="rect">
            <a:avLst/>
          </a:prstGeom>
          <a:solidFill>
            <a:srgbClr val="F7DD7A"/>
          </a:solidFill>
          <a:ln/>
        </p:spPr>
      </p:sp>
      <p:sp>
        <p:nvSpPr>
          <p:cNvPr id="14" name="confetti"/>
          <p:cNvSpPr/>
          <p:nvPr/>
        </p:nvSpPr>
        <p:spPr>
          <a:xfrm>
            <a:off x="12074015" y="97154"/>
            <a:ext cx="38100" cy="38100"/>
          </a:xfrm>
          <a:prstGeom prst="rect">
            <a:avLst/>
          </a:prstGeom>
          <a:solidFill>
            <a:srgbClr val="F7DD7A"/>
          </a:solidFill>
          <a:ln/>
        </p:spPr>
      </p:sp>
      <p:sp>
        <p:nvSpPr>
          <p:cNvPr id="15" name="confetti"/>
          <p:cNvSpPr/>
          <p:nvPr/>
        </p:nvSpPr>
        <p:spPr>
          <a:xfrm>
            <a:off x="10769825" y="479748"/>
            <a:ext cx="38100" cy="38100"/>
          </a:xfrm>
          <a:prstGeom prst="rect">
            <a:avLst/>
          </a:prstGeom>
          <a:solidFill>
            <a:srgbClr val="6CCFC4"/>
          </a:solidFill>
          <a:ln/>
        </p:spPr>
      </p:sp>
      <p:sp>
        <p:nvSpPr>
          <p:cNvPr id="16" name="confetti"/>
          <p:cNvSpPr/>
          <p:nvPr/>
        </p:nvSpPr>
        <p:spPr>
          <a:xfrm>
            <a:off x="11598948" y="6469111"/>
            <a:ext cx="38100" cy="38100"/>
          </a:xfrm>
          <a:prstGeom prst="rect">
            <a:avLst/>
          </a:prstGeom>
          <a:solidFill>
            <a:srgbClr val="7E4CE0"/>
          </a:solidFill>
          <a:ln/>
        </p:spPr>
      </p:sp>
      <p:sp>
        <p:nvSpPr>
          <p:cNvPr id="17" name="confetti"/>
          <p:cNvSpPr/>
          <p:nvPr/>
        </p:nvSpPr>
        <p:spPr>
          <a:xfrm>
            <a:off x="12113190" y="6381536"/>
            <a:ext cx="38100" cy="38100"/>
          </a:xfrm>
          <a:prstGeom prst="rect">
            <a:avLst/>
          </a:prstGeom>
          <a:solidFill>
            <a:srgbClr val="7E4CE0"/>
          </a:solidFill>
          <a:ln/>
        </p:spPr>
      </p:sp>
      <p:sp>
        <p:nvSpPr>
          <p:cNvPr id="18" name="confetti"/>
          <p:cNvSpPr/>
          <p:nvPr/>
        </p:nvSpPr>
        <p:spPr>
          <a:xfrm>
            <a:off x="12054168" y="6741959"/>
            <a:ext cx="38100" cy="38100"/>
          </a:xfrm>
          <a:prstGeom prst="rect">
            <a:avLst/>
          </a:prstGeom>
          <a:solidFill>
            <a:srgbClr val="7E4CE0"/>
          </a:solidFill>
          <a:ln/>
        </p:spPr>
      </p:sp>
      <p:sp>
        <p:nvSpPr>
          <p:cNvPr id="19" name="confetti"/>
          <p:cNvSpPr/>
          <p:nvPr/>
        </p:nvSpPr>
        <p:spPr>
          <a:xfrm>
            <a:off x="11739383" y="6565073"/>
            <a:ext cx="38100" cy="38100"/>
          </a:xfrm>
          <a:prstGeom prst="rect">
            <a:avLst/>
          </a:prstGeom>
          <a:solidFill>
            <a:srgbClr val="6CCFC4"/>
          </a:solidFill>
          <a:ln/>
        </p:spPr>
      </p:sp>
      <p:sp>
        <p:nvSpPr>
          <p:cNvPr id="20" name="confetti"/>
          <p:cNvSpPr/>
          <p:nvPr/>
        </p:nvSpPr>
        <p:spPr>
          <a:xfrm>
            <a:off x="11486333" y="6732468"/>
            <a:ext cx="38100" cy="38100"/>
          </a:xfrm>
          <a:prstGeom prst="rect">
            <a:avLst/>
          </a:prstGeom>
          <a:solidFill>
            <a:srgbClr val="6CCFC4"/>
          </a:solidFill>
          <a:ln/>
        </p:spPr>
      </p:sp>
      <p:sp>
        <p:nvSpPr>
          <p:cNvPr id="21" name="confetti"/>
          <p:cNvSpPr/>
          <p:nvPr/>
        </p:nvSpPr>
        <p:spPr>
          <a:xfrm>
            <a:off x="11612520" y="6258837"/>
            <a:ext cx="38100" cy="38100"/>
          </a:xfrm>
          <a:prstGeom prst="rect">
            <a:avLst/>
          </a:prstGeom>
          <a:solidFill>
            <a:srgbClr val="6CCFC4"/>
          </a:solidFill>
          <a:ln/>
        </p:spPr>
      </p:sp>
      <p:sp>
        <p:nvSpPr>
          <p:cNvPr id="22" name="confetti"/>
          <p:cNvSpPr/>
          <p:nvPr/>
        </p:nvSpPr>
        <p:spPr>
          <a:xfrm>
            <a:off x="11673443" y="6648070"/>
            <a:ext cx="38100" cy="38100"/>
          </a:xfrm>
          <a:prstGeom prst="rect">
            <a:avLst/>
          </a:prstGeom>
          <a:solidFill>
            <a:srgbClr val="F7DD7A"/>
          </a:solidFill>
          <a:ln/>
        </p:spPr>
      </p:sp>
      <p:sp>
        <p:nvSpPr>
          <p:cNvPr id="23" name="Text 21"/>
          <p:cNvSpPr txBox="1"/>
          <p:nvPr/>
        </p:nvSpPr>
        <p:spPr>
          <a:xfrm>
            <a:off x="1079500" y="457200"/>
            <a:ext cx="6350000" cy="254000"/>
          </a:xfrm>
          <a:prstGeom prst="rect">
            <a:avLst/>
          </a:prstGeom>
          <a:noFill/>
          <a:ln/>
        </p:spPr>
        <p:txBody>
          <a:bodyPr wrap="square" lIns="0" tIns="0" rIns="0" bIns="0" rtlCol="0" anchor="t"/>
          <a:lstStyle/>
          <a:p>
            <a:pPr algn="l" indent="0" marL="0">
              <a:buNone/>
            </a:pPr>
            <a:r>
              <a:rPr lang="en-US" sz="1300" b="1" spc="156" kern="0" dirty="0">
                <a:solidFill>
                  <a:srgbClr val="6CCFC4"/>
                </a:solidFill>
                <a:latin typeface="Source Code Pro" pitchFamily="34" charset="0"/>
                <a:ea typeface="Source Code Pro" pitchFamily="34" charset="-122"/>
                <a:cs typeface="Source Code Pro" pitchFamily="34" charset="-120"/>
              </a:rPr>
              <a:t>APPENDIX A3 · USER RESEARCH</a:t>
            </a:r>
            <a:endParaRPr lang="en-US" sz="1300" dirty="0"/>
          </a:p>
        </p:txBody>
      </p:sp>
      <p:sp>
        <p:nvSpPr>
          <p:cNvPr id="24" name="Text 22"/>
          <p:cNvSpPr txBox="1"/>
          <p:nvPr/>
        </p:nvSpPr>
        <p:spPr>
          <a:xfrm>
            <a:off x="1054100" y="711200"/>
            <a:ext cx="10160000" cy="609600"/>
          </a:xfrm>
          <a:prstGeom prst="rect">
            <a:avLst/>
          </a:prstGeom>
          <a:noFill/>
          <a:ln/>
          <a:effectLst>
            <a:outerShdw sx="100000" sy="100000" kx="0" ky="0" algn="bl" rotWithShape="0" blurRad="101600" dist="38100" dir="2700000">
              <a:srgbClr val="2C5C3C">
                <a:alpha val="100000"/>
              </a:srgbClr>
            </a:outerShdw>
          </a:effectLst>
        </p:spPr>
        <p:txBody>
          <a:bodyPr wrap="square" lIns="0" tIns="0" rIns="0" bIns="0" rtlCol="0" anchor="t"/>
          <a:lstStyle/>
          <a:p>
            <a:pPr algn="l" indent="0" marL="0">
              <a:buNone/>
            </a:pPr>
            <a:r>
              <a:rPr lang="en-US" sz="3600" b="1" spc="100" kern="0" dirty="0">
                <a:solidFill>
                  <a:srgbClr val="6EF58A"/>
                </a:solidFill>
                <a:latin typeface="Silkscreen" pitchFamily="34" charset="0"/>
                <a:ea typeface="Silkscreen" pitchFamily="34" charset="-122"/>
                <a:cs typeface="Silkscreen" pitchFamily="34" charset="-120"/>
              </a:rPr>
              <a:t>THE RECOGNITION GAP</a:t>
            </a:r>
            <a:endParaRPr lang="en-US" sz="3600" dirty="0"/>
          </a:p>
        </p:txBody>
      </p:sp>
      <p:sp>
        <p:nvSpPr>
          <p:cNvPr id="25" name="Text 23"/>
          <p:cNvSpPr txBox="1"/>
          <p:nvPr/>
        </p:nvSpPr>
        <p:spPr>
          <a:xfrm>
            <a:off x="1079500" y="1409700"/>
            <a:ext cx="10096500" cy="355600"/>
          </a:xfrm>
          <a:prstGeom prst="rect">
            <a:avLst/>
          </a:prstGeom>
          <a:noFill/>
          <a:ln/>
        </p:spPr>
        <p:txBody>
          <a:bodyPr wrap="square" lIns="0" tIns="0" rIns="0" bIns="0" rtlCol="0" anchor="t"/>
          <a:lstStyle/>
          <a:p>
            <a:pPr algn="l" indent="0" marL="0">
              <a:buNone/>
            </a:pPr>
            <a:r>
              <a:rPr lang="en-US" sz="1800" b="1" spc="72" kern="0" dirty="0">
                <a:solidFill>
                  <a:srgbClr val="F7DD7A"/>
                </a:solidFill>
                <a:latin typeface="Source Code Pro" pitchFamily="34" charset="0"/>
                <a:ea typeface="Source Code Pro" pitchFamily="34" charset="-122"/>
                <a:cs typeface="Source Code Pro" pitchFamily="34" charset="-120"/>
              </a:rPr>
              <a:t>Most people could not tell straight away.</a:t>
            </a:r>
            <a:endParaRPr lang="en-US" sz="1800" dirty="0"/>
          </a:p>
        </p:txBody>
      </p:sp>
      <p:sp>
        <p:nvSpPr>
          <p:cNvPr id="26" name="Text 24"/>
          <p:cNvSpPr txBox="1"/>
          <p:nvPr/>
        </p:nvSpPr>
        <p:spPr>
          <a:xfrm>
            <a:off x="1079500" y="6464300"/>
            <a:ext cx="8255000" cy="1905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Source: SafeSpace user survey, 31 respondents, 22–30 June 2026.</a:t>
            </a:r>
            <a:endParaRPr lang="en-US" sz="1000" dirty="0"/>
          </a:p>
        </p:txBody>
      </p:sp>
      <p:sp>
        <p:nvSpPr>
          <p:cNvPr id="28" name="stat 61%"/>
          <p:cNvSpPr/>
          <p:nvPr/>
        </p:nvSpPr>
        <p:spPr>
          <a:xfrm>
            <a:off x="1079500" y="2032000"/>
            <a:ext cx="2984500" cy="4191000"/>
          </a:xfrm>
          <a:prstGeom prst="rect">
            <a:avLst/>
          </a:prstGeom>
          <a:solidFill>
            <a:srgbClr val="2C0A28"/>
          </a:solidFill>
          <a:ln w="19050">
            <a:solidFill>
              <a:srgbClr val="F0445A"/>
            </a:solidFill>
            <a:prstDash val="solid"/>
          </a:ln>
        </p:spPr>
      </p:sp>
      <p:sp>
        <p:nvSpPr>
          <p:cNvPr id="29" name="Text 26"/>
          <p:cNvSpPr txBox="1"/>
          <p:nvPr/>
        </p:nvSpPr>
        <p:spPr>
          <a:xfrm>
            <a:off x="1282700" y="2184400"/>
            <a:ext cx="2578100" cy="698500"/>
          </a:xfrm>
          <a:prstGeom prst="rect">
            <a:avLst/>
          </a:prstGeom>
          <a:noFill/>
          <a:ln/>
        </p:spPr>
        <p:txBody>
          <a:bodyPr wrap="square" lIns="0" tIns="0" rIns="0" bIns="0" rtlCol="0" anchor="t"/>
          <a:lstStyle/>
          <a:p>
            <a:pPr algn="l" indent="0" marL="0">
              <a:buNone/>
            </a:pPr>
            <a:r>
              <a:rPr lang="en-US" sz="6000" b="1" spc="100" kern="0" dirty="0">
                <a:solidFill>
                  <a:srgbClr val="F0445A"/>
                </a:solidFill>
                <a:latin typeface="Silkscreen" pitchFamily="34" charset="0"/>
                <a:ea typeface="Silkscreen" pitchFamily="34" charset="-122"/>
                <a:cs typeface="Silkscreen" pitchFamily="34" charset="-120"/>
              </a:rPr>
              <a:t>61%</a:t>
            </a:r>
            <a:endParaRPr lang="en-US" sz="6000" dirty="0"/>
          </a:p>
        </p:txBody>
      </p:sp>
      <p:sp>
        <p:nvSpPr>
          <p:cNvPr id="30" name="Text 27"/>
          <p:cNvSpPr txBox="1"/>
          <p:nvPr/>
        </p:nvSpPr>
        <p:spPr>
          <a:xfrm>
            <a:off x="1282700" y="3111500"/>
            <a:ext cx="2578100" cy="29845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did not recognise the scam immediately (19 of 31).</a:t>
            </a:r>
            <a:endParaRPr lang="en-US" sz="1300" dirty="0"/>
          </a:p>
          <a:p>
            <a:pPr algn="l" indent="0" marL="0">
              <a:lnSpc>
                <a:spcPct val="120000"/>
              </a:lnSpc>
              <a:buNone/>
            </a:pPr>
            <a:endParaRPr lang="en-US" sz="1300" dirty="0"/>
          </a:p>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16 were unsure at first.</a:t>
            </a:r>
            <a:endParaRPr lang="en-US" sz="1300" dirty="0"/>
          </a:p>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3 thought it was real.</a:t>
            </a:r>
            <a:endParaRPr lang="en-US" sz="1300" dirty="0"/>
          </a:p>
        </p:txBody>
      </p:sp>
      <p:sp>
        <p:nvSpPr>
          <p:cNvPr id="31" name="panel First reaction"/>
          <p:cNvSpPr/>
          <p:nvPr/>
        </p:nvSpPr>
        <p:spPr>
          <a:xfrm>
            <a:off x="4318000" y="2032000"/>
            <a:ext cx="3048000" cy="4191000"/>
          </a:xfrm>
          <a:prstGeom prst="rect">
            <a:avLst/>
          </a:prstGeom>
          <a:solidFill>
            <a:srgbClr val="121626"/>
          </a:solidFill>
          <a:ln w="19050">
            <a:solidFill>
              <a:srgbClr val="2A2F45"/>
            </a:solidFill>
            <a:prstDash val="solid"/>
          </a:ln>
        </p:spPr>
      </p:sp>
      <p:sp>
        <p:nvSpPr>
          <p:cNvPr id="32" name="Text 29"/>
          <p:cNvSpPr txBox="1"/>
          <p:nvPr/>
        </p:nvSpPr>
        <p:spPr>
          <a:xfrm>
            <a:off x="4521200" y="2184400"/>
            <a:ext cx="26416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First reaction</a:t>
            </a:r>
            <a:endParaRPr lang="en-US" sz="1300" dirty="0"/>
          </a:p>
        </p:txBody>
      </p:sp>
      <p:graphicFrame>
        <p:nvGraphicFramePr>
          <p:cNvPr id="33" name="First reaction" descr=""/>
          <p:cNvGraphicFramePr/>
          <p:nvPr/>
        </p:nvGraphicFramePr>
        <p:xfrm>
          <a:off x="4445000" y="2413000"/>
          <a:ext cx="2794000" cy="3683000"/>
        </p:xfrm>
        <a:graphic xmlns:a="http://schemas.openxmlformats.org/drawingml/2006/main">
          <a:graphicData uri="http://schemas.openxmlformats.org/drawingml/2006/chart">
            <c:chart xmlns:c="http://schemas.openxmlformats.org/drawingml/2006/chart" r:id="rId1"/>
          </a:graphicData>
        </a:graphic>
      </p:graphicFrame>
      <p:sp>
        <p:nvSpPr>
          <p:cNvPr id="34" name="panel What made it feel real"/>
          <p:cNvSpPr/>
          <p:nvPr/>
        </p:nvSpPr>
        <p:spPr>
          <a:xfrm>
            <a:off x="7620000" y="2032000"/>
            <a:ext cx="3492500" cy="4191000"/>
          </a:xfrm>
          <a:prstGeom prst="rect">
            <a:avLst/>
          </a:prstGeom>
          <a:solidFill>
            <a:srgbClr val="121626"/>
          </a:solidFill>
          <a:ln w="19050">
            <a:solidFill>
              <a:srgbClr val="2A2F45"/>
            </a:solidFill>
            <a:prstDash val="solid"/>
          </a:ln>
        </p:spPr>
      </p:sp>
      <p:sp>
        <p:nvSpPr>
          <p:cNvPr id="35" name="Text 31"/>
          <p:cNvSpPr txBox="1"/>
          <p:nvPr/>
        </p:nvSpPr>
        <p:spPr>
          <a:xfrm>
            <a:off x="7823200" y="2184400"/>
            <a:ext cx="30861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What made it feel real</a:t>
            </a:r>
            <a:endParaRPr lang="en-US" sz="1300" dirty="0"/>
          </a:p>
        </p:txBody>
      </p:sp>
      <p:graphicFrame>
        <p:nvGraphicFramePr>
          <p:cNvPr id="36" name="What made it feel real" descr=""/>
          <p:cNvGraphicFramePr/>
          <p:nvPr/>
        </p:nvGraphicFramePr>
        <p:xfrm>
          <a:off x="7810500" y="2413000"/>
          <a:ext cx="3111500" cy="3302000"/>
        </p:xfrm>
        <a:graphic xmlns:a="http://schemas.openxmlformats.org/drawingml/2006/main">
          <a:graphicData uri="http://schemas.openxmlformats.org/drawingml/2006/chart">
            <c:chart xmlns:c="http://schemas.openxmlformats.org/drawingml/2006/chart" r:id="rId2"/>
          </a:graphicData>
        </a:graphic>
      </p:graphicFrame>
      <p:sp>
        <p:nvSpPr>
          <p:cNvPr id="37" name="Text 32"/>
          <p:cNvSpPr txBox="1"/>
          <p:nvPr/>
        </p:nvSpPr>
        <p:spPr>
          <a:xfrm>
            <a:off x="7823200" y="5842000"/>
            <a:ext cx="3111500" cy="2286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13 said it was not convincing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1660554" y="180590"/>
            <a:ext cx="38100" cy="38100"/>
          </a:xfrm>
          <a:prstGeom prst="rect">
            <a:avLst/>
          </a:prstGeom>
          <a:solidFill>
            <a:srgbClr val="7E4CE0"/>
          </a:solidFill>
          <a:ln/>
        </p:spPr>
      </p:sp>
      <p:sp>
        <p:nvSpPr>
          <p:cNvPr id="3" name="confetti"/>
          <p:cNvSpPr/>
          <p:nvPr/>
        </p:nvSpPr>
        <p:spPr>
          <a:xfrm>
            <a:off x="2079684" y="296012"/>
            <a:ext cx="38100" cy="38100"/>
          </a:xfrm>
          <a:prstGeom prst="rect">
            <a:avLst/>
          </a:prstGeom>
          <a:solidFill>
            <a:srgbClr val="F0445A"/>
          </a:solidFill>
          <a:ln/>
        </p:spPr>
      </p:sp>
      <p:sp>
        <p:nvSpPr>
          <p:cNvPr id="4" name="confetti"/>
          <p:cNvSpPr/>
          <p:nvPr/>
        </p:nvSpPr>
        <p:spPr>
          <a:xfrm>
            <a:off x="1096522" y="230635"/>
            <a:ext cx="38100" cy="38100"/>
          </a:xfrm>
          <a:prstGeom prst="rect">
            <a:avLst/>
          </a:prstGeom>
          <a:solidFill>
            <a:srgbClr val="F0445A"/>
          </a:solidFill>
          <a:ln/>
        </p:spPr>
      </p:sp>
      <p:sp>
        <p:nvSpPr>
          <p:cNvPr id="5" name="confetti"/>
          <p:cNvSpPr/>
          <p:nvPr/>
        </p:nvSpPr>
        <p:spPr>
          <a:xfrm>
            <a:off x="1949568" y="143210"/>
            <a:ext cx="38100" cy="38100"/>
          </a:xfrm>
          <a:prstGeom prst="rect">
            <a:avLst/>
          </a:prstGeom>
          <a:solidFill>
            <a:srgbClr val="F7DD7A"/>
          </a:solidFill>
          <a:ln/>
        </p:spPr>
      </p:sp>
      <p:sp>
        <p:nvSpPr>
          <p:cNvPr id="6" name="confetti"/>
          <p:cNvSpPr/>
          <p:nvPr/>
        </p:nvSpPr>
        <p:spPr>
          <a:xfrm>
            <a:off x="1019322" y="192486"/>
            <a:ext cx="38100" cy="38100"/>
          </a:xfrm>
          <a:prstGeom prst="rect">
            <a:avLst/>
          </a:prstGeom>
          <a:solidFill>
            <a:srgbClr val="6EF58A"/>
          </a:solidFill>
          <a:ln/>
        </p:spPr>
      </p:sp>
      <p:sp>
        <p:nvSpPr>
          <p:cNvPr id="7" name="confetti"/>
          <p:cNvSpPr/>
          <p:nvPr/>
        </p:nvSpPr>
        <p:spPr>
          <a:xfrm>
            <a:off x="1544285" y="156214"/>
            <a:ext cx="38100" cy="38100"/>
          </a:xfrm>
          <a:prstGeom prst="rect">
            <a:avLst/>
          </a:prstGeom>
          <a:solidFill>
            <a:srgbClr val="7E4CE0"/>
          </a:solidFill>
          <a:ln/>
        </p:spPr>
      </p:sp>
      <p:sp>
        <p:nvSpPr>
          <p:cNvPr id="8" name="confetti"/>
          <p:cNvSpPr/>
          <p:nvPr/>
        </p:nvSpPr>
        <p:spPr>
          <a:xfrm>
            <a:off x="2190956" y="193143"/>
            <a:ext cx="38100" cy="38100"/>
          </a:xfrm>
          <a:prstGeom prst="rect">
            <a:avLst/>
          </a:prstGeom>
          <a:solidFill>
            <a:srgbClr val="F7DD7A"/>
          </a:solidFill>
          <a:ln/>
        </p:spPr>
      </p:sp>
      <p:sp>
        <p:nvSpPr>
          <p:cNvPr id="9" name="confetti"/>
          <p:cNvSpPr/>
          <p:nvPr/>
        </p:nvSpPr>
        <p:spPr>
          <a:xfrm>
            <a:off x="11531835" y="121534"/>
            <a:ext cx="38100" cy="38100"/>
          </a:xfrm>
          <a:prstGeom prst="rect">
            <a:avLst/>
          </a:prstGeom>
          <a:solidFill>
            <a:srgbClr val="6EF58A"/>
          </a:solidFill>
          <a:ln/>
        </p:spPr>
      </p:sp>
      <p:sp>
        <p:nvSpPr>
          <p:cNvPr id="10" name="confetti"/>
          <p:cNvSpPr/>
          <p:nvPr/>
        </p:nvSpPr>
        <p:spPr>
          <a:xfrm>
            <a:off x="10707423" y="539407"/>
            <a:ext cx="38100" cy="38100"/>
          </a:xfrm>
          <a:prstGeom prst="rect">
            <a:avLst/>
          </a:prstGeom>
          <a:solidFill>
            <a:srgbClr val="6CCFC4"/>
          </a:solidFill>
          <a:ln/>
        </p:spPr>
      </p:sp>
      <p:sp>
        <p:nvSpPr>
          <p:cNvPr id="11" name="confetti"/>
          <p:cNvSpPr/>
          <p:nvPr/>
        </p:nvSpPr>
        <p:spPr>
          <a:xfrm>
            <a:off x="10576219" y="66957"/>
            <a:ext cx="38100" cy="38100"/>
          </a:xfrm>
          <a:prstGeom prst="rect">
            <a:avLst/>
          </a:prstGeom>
          <a:solidFill>
            <a:srgbClr val="6CCFC4"/>
          </a:solidFill>
          <a:ln/>
        </p:spPr>
      </p:sp>
      <p:sp>
        <p:nvSpPr>
          <p:cNvPr id="12" name="confetti"/>
          <p:cNvSpPr/>
          <p:nvPr/>
        </p:nvSpPr>
        <p:spPr>
          <a:xfrm>
            <a:off x="12090723" y="85309"/>
            <a:ext cx="38100" cy="38100"/>
          </a:xfrm>
          <a:prstGeom prst="rect">
            <a:avLst/>
          </a:prstGeom>
          <a:solidFill>
            <a:srgbClr val="F0445A"/>
          </a:solidFill>
          <a:ln/>
        </p:spPr>
      </p:sp>
      <p:sp>
        <p:nvSpPr>
          <p:cNvPr id="13" name="confetti"/>
          <p:cNvSpPr/>
          <p:nvPr/>
        </p:nvSpPr>
        <p:spPr>
          <a:xfrm>
            <a:off x="11631436" y="261087"/>
            <a:ext cx="38100" cy="38100"/>
          </a:xfrm>
          <a:prstGeom prst="rect">
            <a:avLst/>
          </a:prstGeom>
          <a:solidFill>
            <a:srgbClr val="F7DD7A"/>
          </a:solidFill>
          <a:ln/>
        </p:spPr>
      </p:sp>
      <p:sp>
        <p:nvSpPr>
          <p:cNvPr id="14" name="confetti"/>
          <p:cNvSpPr/>
          <p:nvPr/>
        </p:nvSpPr>
        <p:spPr>
          <a:xfrm>
            <a:off x="10150857" y="260918"/>
            <a:ext cx="38100" cy="38100"/>
          </a:xfrm>
          <a:prstGeom prst="rect">
            <a:avLst/>
          </a:prstGeom>
          <a:solidFill>
            <a:srgbClr val="F0445A"/>
          </a:solidFill>
          <a:ln/>
        </p:spPr>
      </p:sp>
      <p:sp>
        <p:nvSpPr>
          <p:cNvPr id="15" name="confetti"/>
          <p:cNvSpPr/>
          <p:nvPr/>
        </p:nvSpPr>
        <p:spPr>
          <a:xfrm>
            <a:off x="10887487" y="322926"/>
            <a:ext cx="38100" cy="38100"/>
          </a:xfrm>
          <a:prstGeom prst="rect">
            <a:avLst/>
          </a:prstGeom>
          <a:solidFill>
            <a:srgbClr val="7E4CE0"/>
          </a:solidFill>
          <a:ln/>
        </p:spPr>
      </p:sp>
      <p:sp>
        <p:nvSpPr>
          <p:cNvPr id="16" name="confetti"/>
          <p:cNvSpPr/>
          <p:nvPr/>
        </p:nvSpPr>
        <p:spPr>
          <a:xfrm>
            <a:off x="11535275" y="6346846"/>
            <a:ext cx="38100" cy="38100"/>
          </a:xfrm>
          <a:prstGeom prst="rect">
            <a:avLst/>
          </a:prstGeom>
          <a:solidFill>
            <a:srgbClr val="F7DD7A"/>
          </a:solidFill>
          <a:ln/>
        </p:spPr>
      </p:sp>
      <p:sp>
        <p:nvSpPr>
          <p:cNvPr id="17" name="confetti"/>
          <p:cNvSpPr/>
          <p:nvPr/>
        </p:nvSpPr>
        <p:spPr>
          <a:xfrm>
            <a:off x="11925457" y="6705349"/>
            <a:ext cx="38100" cy="38100"/>
          </a:xfrm>
          <a:prstGeom prst="rect">
            <a:avLst/>
          </a:prstGeom>
          <a:solidFill>
            <a:srgbClr val="F0445A"/>
          </a:solidFill>
          <a:ln/>
        </p:spPr>
      </p:sp>
      <p:sp>
        <p:nvSpPr>
          <p:cNvPr id="18" name="confetti"/>
          <p:cNvSpPr/>
          <p:nvPr/>
        </p:nvSpPr>
        <p:spPr>
          <a:xfrm>
            <a:off x="11721208" y="6664831"/>
            <a:ext cx="38100" cy="38100"/>
          </a:xfrm>
          <a:prstGeom prst="rect">
            <a:avLst/>
          </a:prstGeom>
          <a:solidFill>
            <a:srgbClr val="6CCFC4"/>
          </a:solidFill>
          <a:ln/>
        </p:spPr>
      </p:sp>
      <p:sp>
        <p:nvSpPr>
          <p:cNvPr id="19" name="confetti"/>
          <p:cNvSpPr/>
          <p:nvPr/>
        </p:nvSpPr>
        <p:spPr>
          <a:xfrm>
            <a:off x="12002029" y="6484583"/>
            <a:ext cx="38100" cy="38100"/>
          </a:xfrm>
          <a:prstGeom prst="rect">
            <a:avLst/>
          </a:prstGeom>
          <a:solidFill>
            <a:srgbClr val="6CCFC4"/>
          </a:solidFill>
          <a:ln/>
        </p:spPr>
      </p:sp>
      <p:sp>
        <p:nvSpPr>
          <p:cNvPr id="20" name="confetti"/>
          <p:cNvSpPr/>
          <p:nvPr/>
        </p:nvSpPr>
        <p:spPr>
          <a:xfrm>
            <a:off x="11561420" y="6423898"/>
            <a:ext cx="38100" cy="38100"/>
          </a:xfrm>
          <a:prstGeom prst="rect">
            <a:avLst/>
          </a:prstGeom>
          <a:solidFill>
            <a:srgbClr val="6CCFC4"/>
          </a:solidFill>
          <a:ln/>
        </p:spPr>
      </p:sp>
      <p:sp>
        <p:nvSpPr>
          <p:cNvPr id="21" name="confetti"/>
          <p:cNvSpPr/>
          <p:nvPr/>
        </p:nvSpPr>
        <p:spPr>
          <a:xfrm>
            <a:off x="11478879" y="6742066"/>
            <a:ext cx="38100" cy="38100"/>
          </a:xfrm>
          <a:prstGeom prst="rect">
            <a:avLst/>
          </a:prstGeom>
          <a:solidFill>
            <a:srgbClr val="F7DD7A"/>
          </a:solidFill>
          <a:ln/>
        </p:spPr>
      </p:sp>
      <p:sp>
        <p:nvSpPr>
          <p:cNvPr id="22" name="confetti"/>
          <p:cNvSpPr/>
          <p:nvPr/>
        </p:nvSpPr>
        <p:spPr>
          <a:xfrm>
            <a:off x="12071909" y="6453780"/>
            <a:ext cx="38100" cy="38100"/>
          </a:xfrm>
          <a:prstGeom prst="rect">
            <a:avLst/>
          </a:prstGeom>
          <a:solidFill>
            <a:srgbClr val="F0445A"/>
          </a:solidFill>
          <a:ln/>
        </p:spPr>
      </p:sp>
      <p:sp>
        <p:nvSpPr>
          <p:cNvPr id="23" name="Text 21"/>
          <p:cNvSpPr txBox="1"/>
          <p:nvPr/>
        </p:nvSpPr>
        <p:spPr>
          <a:xfrm>
            <a:off x="1079500" y="457200"/>
            <a:ext cx="6350000" cy="254000"/>
          </a:xfrm>
          <a:prstGeom prst="rect">
            <a:avLst/>
          </a:prstGeom>
          <a:noFill/>
          <a:ln/>
        </p:spPr>
        <p:txBody>
          <a:bodyPr wrap="square" lIns="0" tIns="0" rIns="0" bIns="0" rtlCol="0" anchor="t"/>
          <a:lstStyle/>
          <a:p>
            <a:pPr algn="l" indent="0" marL="0">
              <a:buNone/>
            </a:pPr>
            <a:r>
              <a:rPr lang="en-US" sz="1300" b="1" spc="156" kern="0" dirty="0">
                <a:solidFill>
                  <a:srgbClr val="6CCFC4"/>
                </a:solidFill>
                <a:latin typeface="Source Code Pro" pitchFamily="34" charset="0"/>
                <a:ea typeface="Source Code Pro" pitchFamily="34" charset="-122"/>
                <a:cs typeface="Source Code Pro" pitchFamily="34" charset="-120"/>
              </a:rPr>
              <a:t>APPENDIX A4 · USER RESEARCH</a:t>
            </a:r>
            <a:endParaRPr lang="en-US" sz="1300" dirty="0"/>
          </a:p>
        </p:txBody>
      </p:sp>
      <p:sp>
        <p:nvSpPr>
          <p:cNvPr id="24" name="Text 22"/>
          <p:cNvSpPr txBox="1"/>
          <p:nvPr/>
        </p:nvSpPr>
        <p:spPr>
          <a:xfrm>
            <a:off x="1054100" y="711200"/>
            <a:ext cx="10160000" cy="609600"/>
          </a:xfrm>
          <a:prstGeom prst="rect">
            <a:avLst/>
          </a:prstGeom>
          <a:noFill/>
          <a:ln/>
          <a:effectLst>
            <a:outerShdw sx="100000" sy="100000" kx="0" ky="0" algn="bl" rotWithShape="0" blurRad="101600" dist="38100" dir="2700000">
              <a:srgbClr val="2C5C3C">
                <a:alpha val="100000"/>
              </a:srgbClr>
            </a:outerShdw>
          </a:effectLst>
        </p:spPr>
        <p:txBody>
          <a:bodyPr wrap="square" lIns="0" tIns="0" rIns="0" bIns="0" rtlCol="0" anchor="t"/>
          <a:lstStyle/>
          <a:p>
            <a:pPr algn="l" indent="0" marL="0">
              <a:buNone/>
            </a:pPr>
            <a:r>
              <a:rPr lang="en-US" sz="3600" b="1" spc="100" kern="0" dirty="0">
                <a:solidFill>
                  <a:srgbClr val="6EF58A"/>
                </a:solidFill>
                <a:latin typeface="Silkscreen" pitchFamily="34" charset="0"/>
                <a:ea typeface="Silkscreen" pitchFamily="34" charset="-122"/>
                <a:cs typeface="Silkscreen" pitchFamily="34" charset="-120"/>
              </a:rPr>
              <a:t>COMFORTABLE, BUT SILENT</a:t>
            </a:r>
            <a:endParaRPr lang="en-US" sz="3600" dirty="0"/>
          </a:p>
        </p:txBody>
      </p:sp>
      <p:sp>
        <p:nvSpPr>
          <p:cNvPr id="25" name="Text 23"/>
          <p:cNvSpPr txBox="1"/>
          <p:nvPr/>
        </p:nvSpPr>
        <p:spPr>
          <a:xfrm>
            <a:off x="1079500" y="1409700"/>
            <a:ext cx="10096500" cy="355600"/>
          </a:xfrm>
          <a:prstGeom prst="rect">
            <a:avLst/>
          </a:prstGeom>
          <a:noFill/>
          <a:ln/>
        </p:spPr>
        <p:txBody>
          <a:bodyPr wrap="square" lIns="0" tIns="0" rIns="0" bIns="0" rtlCol="0" anchor="t"/>
          <a:lstStyle/>
          <a:p>
            <a:pPr algn="l" indent="0" marL="0">
              <a:buNone/>
            </a:pPr>
            <a:r>
              <a:rPr lang="en-US" sz="1800" b="1" spc="72" kern="0" dirty="0">
                <a:solidFill>
                  <a:srgbClr val="F7DD7A"/>
                </a:solidFill>
                <a:latin typeface="Source Code Pro" pitchFamily="34" charset="0"/>
                <a:ea typeface="Source Code Pro" pitchFamily="34" charset="-122"/>
                <a:cs typeface="Source Code Pro" pitchFamily="34" charset="-120"/>
              </a:rPr>
              <a:t>Most say they could ask for help. Few actually do.</a:t>
            </a:r>
            <a:endParaRPr lang="en-US" sz="1800" dirty="0"/>
          </a:p>
        </p:txBody>
      </p:sp>
      <p:sp>
        <p:nvSpPr>
          <p:cNvPr id="26" name="Text 24"/>
          <p:cNvSpPr txBox="1"/>
          <p:nvPr/>
        </p:nvSpPr>
        <p:spPr>
          <a:xfrm>
            <a:off x="1079500" y="6464300"/>
            <a:ext cx="8255000" cy="1905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Source: SafeSpace user survey, 31 respondents, 22–30 June 2026.</a:t>
            </a:r>
            <a:endParaRPr lang="en-US" sz="1000" dirty="0"/>
          </a:p>
        </p:txBody>
      </p:sp>
      <p:sp>
        <p:nvSpPr>
          <p:cNvPr id="28" name="stat 55%"/>
          <p:cNvSpPr/>
          <p:nvPr/>
        </p:nvSpPr>
        <p:spPr>
          <a:xfrm>
            <a:off x="1079500" y="2032000"/>
            <a:ext cx="2413000" cy="1905000"/>
          </a:xfrm>
          <a:prstGeom prst="rect">
            <a:avLst/>
          </a:prstGeom>
          <a:solidFill>
            <a:srgbClr val="0E2418"/>
          </a:solidFill>
          <a:ln w="19050">
            <a:solidFill>
              <a:srgbClr val="6EF58A"/>
            </a:solidFill>
            <a:prstDash val="solid"/>
          </a:ln>
        </p:spPr>
      </p:sp>
      <p:sp>
        <p:nvSpPr>
          <p:cNvPr id="29" name="Text 26"/>
          <p:cNvSpPr txBox="1"/>
          <p:nvPr/>
        </p:nvSpPr>
        <p:spPr>
          <a:xfrm>
            <a:off x="1282700" y="2184400"/>
            <a:ext cx="2006600" cy="698500"/>
          </a:xfrm>
          <a:prstGeom prst="rect">
            <a:avLst/>
          </a:prstGeom>
          <a:noFill/>
          <a:ln/>
        </p:spPr>
        <p:txBody>
          <a:bodyPr wrap="square" lIns="0" tIns="0" rIns="0" bIns="0" rtlCol="0" anchor="t"/>
          <a:lstStyle/>
          <a:p>
            <a:pPr algn="l" indent="0" marL="0">
              <a:buNone/>
            </a:pPr>
            <a:r>
              <a:rPr lang="en-US" sz="4200" b="1" spc="100" kern="0" dirty="0">
                <a:solidFill>
                  <a:srgbClr val="6EF58A"/>
                </a:solidFill>
                <a:latin typeface="Silkscreen" pitchFamily="34" charset="0"/>
                <a:ea typeface="Silkscreen" pitchFamily="34" charset="-122"/>
                <a:cs typeface="Silkscreen" pitchFamily="34" charset="-120"/>
              </a:rPr>
              <a:t>55%</a:t>
            </a:r>
            <a:endParaRPr lang="en-US" sz="4200" dirty="0"/>
          </a:p>
        </p:txBody>
      </p:sp>
      <p:sp>
        <p:nvSpPr>
          <p:cNvPr id="30" name="Text 27"/>
          <p:cNvSpPr txBox="1"/>
          <p:nvPr/>
        </p:nvSpPr>
        <p:spPr>
          <a:xfrm>
            <a:off x="1282700" y="2882900"/>
            <a:ext cx="2006600" cy="9271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comfortable asking for help (4–5 of 5)</a:t>
            </a:r>
            <a:endParaRPr lang="en-US" sz="1300" dirty="0"/>
          </a:p>
        </p:txBody>
      </p:sp>
      <p:sp>
        <p:nvSpPr>
          <p:cNvPr id="31" name="Text 28"/>
          <p:cNvSpPr txBox="1"/>
          <p:nvPr/>
        </p:nvSpPr>
        <p:spPr>
          <a:xfrm>
            <a:off x="3492500" y="2603500"/>
            <a:ext cx="508000" cy="635000"/>
          </a:xfrm>
          <a:prstGeom prst="rect">
            <a:avLst/>
          </a:prstGeom>
          <a:noFill/>
          <a:ln/>
        </p:spPr>
        <p:txBody>
          <a:bodyPr wrap="square" lIns="0" tIns="0" rIns="0" bIns="0" rtlCol="0" anchor="ctr"/>
          <a:lstStyle/>
          <a:p>
            <a:pPr algn="ctr" indent="0" marL="0">
              <a:buNone/>
            </a:pPr>
            <a:r>
              <a:rPr lang="en-US" sz="3200" b="1" spc="128" kern="0" dirty="0">
                <a:solidFill>
                  <a:srgbClr val="F7DD7A"/>
                </a:solidFill>
                <a:latin typeface="Source Code Pro" pitchFamily="34" charset="0"/>
                <a:ea typeface="Source Code Pro" pitchFamily="34" charset="-122"/>
                <a:cs typeface="Source Code Pro" pitchFamily="34" charset="-120"/>
              </a:rPr>
              <a:t>→</a:t>
            </a:r>
            <a:endParaRPr lang="en-US" sz="3200" dirty="0"/>
          </a:p>
        </p:txBody>
      </p:sp>
      <p:sp>
        <p:nvSpPr>
          <p:cNvPr id="32" name="stat 13%"/>
          <p:cNvSpPr/>
          <p:nvPr/>
        </p:nvSpPr>
        <p:spPr>
          <a:xfrm>
            <a:off x="4000500" y="2032000"/>
            <a:ext cx="2413000" cy="1905000"/>
          </a:xfrm>
          <a:prstGeom prst="rect">
            <a:avLst/>
          </a:prstGeom>
          <a:solidFill>
            <a:srgbClr val="2C0A28"/>
          </a:solidFill>
          <a:ln w="19050">
            <a:solidFill>
              <a:srgbClr val="F0445A"/>
            </a:solidFill>
            <a:prstDash val="solid"/>
          </a:ln>
        </p:spPr>
      </p:sp>
      <p:sp>
        <p:nvSpPr>
          <p:cNvPr id="33" name="Text 30"/>
          <p:cNvSpPr txBox="1"/>
          <p:nvPr/>
        </p:nvSpPr>
        <p:spPr>
          <a:xfrm>
            <a:off x="4203700" y="2184400"/>
            <a:ext cx="2006600" cy="698500"/>
          </a:xfrm>
          <a:prstGeom prst="rect">
            <a:avLst/>
          </a:prstGeom>
          <a:noFill/>
          <a:ln/>
        </p:spPr>
        <p:txBody>
          <a:bodyPr wrap="square" lIns="0" tIns="0" rIns="0" bIns="0" rtlCol="0" anchor="t"/>
          <a:lstStyle/>
          <a:p>
            <a:pPr algn="l" indent="0" marL="0">
              <a:buNone/>
            </a:pPr>
            <a:r>
              <a:rPr lang="en-US" sz="4200" b="1" spc="100" kern="0" dirty="0">
                <a:solidFill>
                  <a:srgbClr val="F0445A"/>
                </a:solidFill>
                <a:latin typeface="Silkscreen" pitchFamily="34" charset="0"/>
                <a:ea typeface="Silkscreen" pitchFamily="34" charset="-122"/>
                <a:cs typeface="Silkscreen" pitchFamily="34" charset="-120"/>
              </a:rPr>
              <a:t>13%</a:t>
            </a:r>
            <a:endParaRPr lang="en-US" sz="4200" dirty="0"/>
          </a:p>
        </p:txBody>
      </p:sp>
      <p:sp>
        <p:nvSpPr>
          <p:cNvPr id="34" name="Text 31"/>
          <p:cNvSpPr txBox="1"/>
          <p:nvPr/>
        </p:nvSpPr>
        <p:spPr>
          <a:xfrm>
            <a:off x="4203700" y="2882900"/>
            <a:ext cx="2006600" cy="9271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actually ask family or friends</a:t>
            </a:r>
            <a:endParaRPr lang="en-US" sz="1300" dirty="0"/>
          </a:p>
        </p:txBody>
      </p:sp>
      <p:sp>
        <p:nvSpPr>
          <p:cNvPr id="35" name="stat 23%"/>
          <p:cNvSpPr/>
          <p:nvPr/>
        </p:nvSpPr>
        <p:spPr>
          <a:xfrm>
            <a:off x="1079500" y="4191000"/>
            <a:ext cx="5334000" cy="2032000"/>
          </a:xfrm>
          <a:prstGeom prst="rect">
            <a:avLst/>
          </a:prstGeom>
          <a:solidFill>
            <a:srgbClr val="2A2410"/>
          </a:solidFill>
          <a:ln w="19050">
            <a:solidFill>
              <a:srgbClr val="F7DD7A"/>
            </a:solidFill>
            <a:prstDash val="solid"/>
          </a:ln>
        </p:spPr>
      </p:sp>
      <p:sp>
        <p:nvSpPr>
          <p:cNvPr id="36" name="Text 33"/>
          <p:cNvSpPr txBox="1"/>
          <p:nvPr/>
        </p:nvSpPr>
        <p:spPr>
          <a:xfrm>
            <a:off x="1282700" y="4343400"/>
            <a:ext cx="4927600" cy="698500"/>
          </a:xfrm>
          <a:prstGeom prst="rect">
            <a:avLst/>
          </a:prstGeom>
          <a:noFill/>
          <a:ln/>
        </p:spPr>
        <p:txBody>
          <a:bodyPr wrap="square" lIns="0" tIns="0" rIns="0" bIns="0" rtlCol="0" anchor="t"/>
          <a:lstStyle/>
          <a:p>
            <a:pPr algn="l" indent="0" marL="0">
              <a:buNone/>
            </a:pPr>
            <a:r>
              <a:rPr lang="en-US" sz="4200" b="1" spc="100" kern="0" dirty="0">
                <a:solidFill>
                  <a:srgbClr val="F7DD7A"/>
                </a:solidFill>
                <a:latin typeface="Silkscreen" pitchFamily="34" charset="0"/>
                <a:ea typeface="Silkscreen" pitchFamily="34" charset="-122"/>
                <a:cs typeface="Silkscreen" pitchFamily="34" charset="-120"/>
              </a:rPr>
              <a:t>23%</a:t>
            </a:r>
            <a:endParaRPr lang="en-US" sz="4200" dirty="0"/>
          </a:p>
        </p:txBody>
      </p:sp>
      <p:sp>
        <p:nvSpPr>
          <p:cNvPr id="37" name="Text 34"/>
          <p:cNvSpPr txBox="1"/>
          <p:nvPr/>
        </p:nvSpPr>
        <p:spPr>
          <a:xfrm>
            <a:off x="1282700" y="5041900"/>
            <a:ext cx="4927600" cy="10541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felt embarrassed afterwards (7 of 31). Shame makes help harder to ask for.</a:t>
            </a:r>
            <a:endParaRPr lang="en-US" sz="1300" dirty="0"/>
          </a:p>
        </p:txBody>
      </p:sp>
      <p:sp>
        <p:nvSpPr>
          <p:cNvPr id="38" name="panel When it feels suspicious, I…"/>
          <p:cNvSpPr/>
          <p:nvPr/>
        </p:nvSpPr>
        <p:spPr>
          <a:xfrm>
            <a:off x="6667500" y="2032000"/>
            <a:ext cx="4445000" cy="2413000"/>
          </a:xfrm>
          <a:prstGeom prst="rect">
            <a:avLst/>
          </a:prstGeom>
          <a:solidFill>
            <a:srgbClr val="121626"/>
          </a:solidFill>
          <a:ln w="19050">
            <a:solidFill>
              <a:srgbClr val="2A2F45"/>
            </a:solidFill>
            <a:prstDash val="solid"/>
          </a:ln>
        </p:spPr>
      </p:sp>
      <p:sp>
        <p:nvSpPr>
          <p:cNvPr id="39" name="Text 36"/>
          <p:cNvSpPr txBox="1"/>
          <p:nvPr/>
        </p:nvSpPr>
        <p:spPr>
          <a:xfrm>
            <a:off x="6870700" y="2184400"/>
            <a:ext cx="40386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When it feels suspicious, I…</a:t>
            </a:r>
            <a:endParaRPr lang="en-US" sz="1300" dirty="0"/>
          </a:p>
        </p:txBody>
      </p:sp>
      <p:graphicFrame>
        <p:nvGraphicFramePr>
          <p:cNvPr id="40" name="Action when suspicious" descr=""/>
          <p:cNvGraphicFramePr/>
          <p:nvPr/>
        </p:nvGraphicFramePr>
        <p:xfrm>
          <a:off x="6858000" y="2349500"/>
          <a:ext cx="4064000" cy="2032000"/>
        </p:xfrm>
        <a:graphic xmlns:a="http://schemas.openxmlformats.org/drawingml/2006/main">
          <a:graphicData uri="http://schemas.openxmlformats.org/drawingml/2006/chart">
            <c:chart xmlns:c="http://schemas.openxmlformats.org/drawingml/2006/chart" r:id="rId1"/>
          </a:graphicData>
        </a:graphic>
      </p:graphicFrame>
      <p:sp>
        <p:nvSpPr>
          <p:cNvPr id="41" name="panel Family talks about scams"/>
          <p:cNvSpPr/>
          <p:nvPr/>
        </p:nvSpPr>
        <p:spPr>
          <a:xfrm>
            <a:off x="6667500" y="4635500"/>
            <a:ext cx="4445000" cy="1587500"/>
          </a:xfrm>
          <a:prstGeom prst="rect">
            <a:avLst/>
          </a:prstGeom>
          <a:solidFill>
            <a:srgbClr val="121626"/>
          </a:solidFill>
          <a:ln w="19050">
            <a:solidFill>
              <a:srgbClr val="2A2F45"/>
            </a:solidFill>
            <a:prstDash val="solid"/>
          </a:ln>
        </p:spPr>
      </p:sp>
      <p:sp>
        <p:nvSpPr>
          <p:cNvPr id="42" name="Text 38"/>
          <p:cNvSpPr txBox="1"/>
          <p:nvPr/>
        </p:nvSpPr>
        <p:spPr>
          <a:xfrm>
            <a:off x="6870700" y="4787900"/>
            <a:ext cx="40386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Family talks about scams</a:t>
            </a:r>
            <a:endParaRPr lang="en-US" sz="1300" dirty="0"/>
          </a:p>
        </p:txBody>
      </p:sp>
      <p:graphicFrame>
        <p:nvGraphicFramePr>
          <p:cNvPr id="43" name="Family talk" descr=""/>
          <p:cNvGraphicFramePr/>
          <p:nvPr/>
        </p:nvGraphicFramePr>
        <p:xfrm>
          <a:off x="6858000" y="4921250"/>
          <a:ext cx="4064000" cy="123825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12563" y="123961"/>
            <a:ext cx="38100" cy="38100"/>
          </a:xfrm>
          <a:prstGeom prst="rect">
            <a:avLst/>
          </a:prstGeom>
          <a:solidFill>
            <a:srgbClr val="F7DD7A"/>
          </a:solidFill>
          <a:ln/>
        </p:spPr>
      </p:sp>
      <p:sp>
        <p:nvSpPr>
          <p:cNvPr id="3" name="confetti"/>
          <p:cNvSpPr/>
          <p:nvPr/>
        </p:nvSpPr>
        <p:spPr>
          <a:xfrm>
            <a:off x="948512" y="152658"/>
            <a:ext cx="38100" cy="38100"/>
          </a:xfrm>
          <a:prstGeom prst="rect">
            <a:avLst/>
          </a:prstGeom>
          <a:solidFill>
            <a:srgbClr val="6CCFC4"/>
          </a:solidFill>
          <a:ln/>
        </p:spPr>
      </p:sp>
      <p:sp>
        <p:nvSpPr>
          <p:cNvPr id="4" name="confetti"/>
          <p:cNvSpPr/>
          <p:nvPr/>
        </p:nvSpPr>
        <p:spPr>
          <a:xfrm>
            <a:off x="418669" y="243974"/>
            <a:ext cx="38100" cy="38100"/>
          </a:xfrm>
          <a:prstGeom prst="rect">
            <a:avLst/>
          </a:prstGeom>
          <a:solidFill>
            <a:srgbClr val="6EF58A"/>
          </a:solidFill>
          <a:ln/>
        </p:spPr>
      </p:sp>
      <p:sp>
        <p:nvSpPr>
          <p:cNvPr id="5" name="confetti"/>
          <p:cNvSpPr/>
          <p:nvPr/>
        </p:nvSpPr>
        <p:spPr>
          <a:xfrm>
            <a:off x="1661534" y="175657"/>
            <a:ext cx="38100" cy="38100"/>
          </a:xfrm>
          <a:prstGeom prst="rect">
            <a:avLst/>
          </a:prstGeom>
          <a:solidFill>
            <a:srgbClr val="F7DD7A"/>
          </a:solidFill>
          <a:ln/>
        </p:spPr>
      </p:sp>
      <p:sp>
        <p:nvSpPr>
          <p:cNvPr id="6" name="confetti"/>
          <p:cNvSpPr/>
          <p:nvPr/>
        </p:nvSpPr>
        <p:spPr>
          <a:xfrm>
            <a:off x="1057608" y="106459"/>
            <a:ext cx="38100" cy="38100"/>
          </a:xfrm>
          <a:prstGeom prst="rect">
            <a:avLst/>
          </a:prstGeom>
          <a:solidFill>
            <a:srgbClr val="6EF58A"/>
          </a:solidFill>
          <a:ln/>
        </p:spPr>
      </p:sp>
      <p:sp>
        <p:nvSpPr>
          <p:cNvPr id="7" name="confetti"/>
          <p:cNvSpPr/>
          <p:nvPr/>
        </p:nvSpPr>
        <p:spPr>
          <a:xfrm>
            <a:off x="1845390" y="195129"/>
            <a:ext cx="38100" cy="38100"/>
          </a:xfrm>
          <a:prstGeom prst="rect">
            <a:avLst/>
          </a:prstGeom>
          <a:solidFill>
            <a:srgbClr val="7E4CE0"/>
          </a:solidFill>
          <a:ln/>
        </p:spPr>
      </p:sp>
      <p:sp>
        <p:nvSpPr>
          <p:cNvPr id="8" name="confetti"/>
          <p:cNvSpPr/>
          <p:nvPr/>
        </p:nvSpPr>
        <p:spPr>
          <a:xfrm>
            <a:off x="405381" y="219416"/>
            <a:ext cx="38100" cy="38100"/>
          </a:xfrm>
          <a:prstGeom prst="rect">
            <a:avLst/>
          </a:prstGeom>
          <a:solidFill>
            <a:srgbClr val="7E4CE0"/>
          </a:solidFill>
          <a:ln/>
        </p:spPr>
      </p:sp>
      <p:sp>
        <p:nvSpPr>
          <p:cNvPr id="9" name="confetti"/>
          <p:cNvSpPr/>
          <p:nvPr/>
        </p:nvSpPr>
        <p:spPr>
          <a:xfrm>
            <a:off x="12168080" y="507108"/>
            <a:ext cx="38100" cy="38100"/>
          </a:xfrm>
          <a:prstGeom prst="rect">
            <a:avLst/>
          </a:prstGeom>
          <a:solidFill>
            <a:srgbClr val="F7DD7A"/>
          </a:solidFill>
          <a:ln/>
        </p:spPr>
      </p:sp>
      <p:sp>
        <p:nvSpPr>
          <p:cNvPr id="10" name="confetti"/>
          <p:cNvSpPr/>
          <p:nvPr/>
        </p:nvSpPr>
        <p:spPr>
          <a:xfrm>
            <a:off x="11415987" y="493269"/>
            <a:ext cx="38100" cy="38100"/>
          </a:xfrm>
          <a:prstGeom prst="rect">
            <a:avLst/>
          </a:prstGeom>
          <a:solidFill>
            <a:srgbClr val="6EF58A"/>
          </a:solidFill>
          <a:ln/>
        </p:spPr>
      </p:sp>
      <p:sp>
        <p:nvSpPr>
          <p:cNvPr id="11" name="confetti"/>
          <p:cNvSpPr/>
          <p:nvPr/>
        </p:nvSpPr>
        <p:spPr>
          <a:xfrm>
            <a:off x="11293602" y="525732"/>
            <a:ext cx="38100" cy="38100"/>
          </a:xfrm>
          <a:prstGeom prst="rect">
            <a:avLst/>
          </a:prstGeom>
          <a:solidFill>
            <a:srgbClr val="F7DD7A"/>
          </a:solidFill>
          <a:ln/>
        </p:spPr>
      </p:sp>
      <p:sp>
        <p:nvSpPr>
          <p:cNvPr id="12" name="confetti"/>
          <p:cNvSpPr/>
          <p:nvPr/>
        </p:nvSpPr>
        <p:spPr>
          <a:xfrm>
            <a:off x="10467426" y="271122"/>
            <a:ext cx="38100" cy="38100"/>
          </a:xfrm>
          <a:prstGeom prst="rect">
            <a:avLst/>
          </a:prstGeom>
          <a:solidFill>
            <a:srgbClr val="7E4CE0"/>
          </a:solidFill>
          <a:ln/>
        </p:spPr>
      </p:sp>
      <p:sp>
        <p:nvSpPr>
          <p:cNvPr id="13" name="confetti"/>
          <p:cNvSpPr/>
          <p:nvPr/>
        </p:nvSpPr>
        <p:spPr>
          <a:xfrm>
            <a:off x="12175958" y="539064"/>
            <a:ext cx="38100" cy="38100"/>
          </a:xfrm>
          <a:prstGeom prst="rect">
            <a:avLst/>
          </a:prstGeom>
          <a:solidFill>
            <a:srgbClr val="F7DD7A"/>
          </a:solidFill>
          <a:ln/>
        </p:spPr>
      </p:sp>
      <p:sp>
        <p:nvSpPr>
          <p:cNvPr id="14" name="confetti"/>
          <p:cNvSpPr/>
          <p:nvPr/>
        </p:nvSpPr>
        <p:spPr>
          <a:xfrm>
            <a:off x="10513699" y="424683"/>
            <a:ext cx="38100" cy="38100"/>
          </a:xfrm>
          <a:prstGeom prst="rect">
            <a:avLst/>
          </a:prstGeom>
          <a:solidFill>
            <a:srgbClr val="6CCFC4"/>
          </a:solidFill>
          <a:ln/>
        </p:spPr>
      </p:sp>
      <p:sp>
        <p:nvSpPr>
          <p:cNvPr id="15" name="confetti"/>
          <p:cNvSpPr/>
          <p:nvPr/>
        </p:nvSpPr>
        <p:spPr>
          <a:xfrm>
            <a:off x="11005148" y="166104"/>
            <a:ext cx="38100" cy="38100"/>
          </a:xfrm>
          <a:prstGeom prst="rect">
            <a:avLst/>
          </a:prstGeom>
          <a:solidFill>
            <a:srgbClr val="F0445A"/>
          </a:solidFill>
          <a:ln/>
        </p:spPr>
      </p:sp>
      <p:sp>
        <p:nvSpPr>
          <p:cNvPr id="16" name="confetti"/>
          <p:cNvSpPr/>
          <p:nvPr/>
        </p:nvSpPr>
        <p:spPr>
          <a:xfrm>
            <a:off x="11471602" y="6224582"/>
            <a:ext cx="38100" cy="38100"/>
          </a:xfrm>
          <a:prstGeom prst="rect">
            <a:avLst/>
          </a:prstGeom>
          <a:solidFill>
            <a:srgbClr val="6CCFC4"/>
          </a:solidFill>
          <a:ln/>
        </p:spPr>
      </p:sp>
      <p:sp>
        <p:nvSpPr>
          <p:cNvPr id="17" name="confetti"/>
          <p:cNvSpPr/>
          <p:nvPr/>
        </p:nvSpPr>
        <p:spPr>
          <a:xfrm>
            <a:off x="11737723" y="6406862"/>
            <a:ext cx="38100" cy="38100"/>
          </a:xfrm>
          <a:prstGeom prst="rect">
            <a:avLst/>
          </a:prstGeom>
          <a:solidFill>
            <a:srgbClr val="F7DD7A"/>
          </a:solidFill>
          <a:ln/>
        </p:spPr>
      </p:sp>
      <p:sp>
        <p:nvSpPr>
          <p:cNvPr id="18" name="confetti"/>
          <p:cNvSpPr/>
          <p:nvPr/>
        </p:nvSpPr>
        <p:spPr>
          <a:xfrm>
            <a:off x="12150248" y="6587702"/>
            <a:ext cx="38100" cy="38100"/>
          </a:xfrm>
          <a:prstGeom prst="rect">
            <a:avLst/>
          </a:prstGeom>
          <a:solidFill>
            <a:srgbClr val="6EF58A"/>
          </a:solidFill>
          <a:ln/>
        </p:spPr>
      </p:sp>
      <p:sp>
        <p:nvSpPr>
          <p:cNvPr id="19" name="confetti"/>
          <p:cNvSpPr/>
          <p:nvPr/>
        </p:nvSpPr>
        <p:spPr>
          <a:xfrm>
            <a:off x="11502675" y="6404093"/>
            <a:ext cx="38100" cy="38100"/>
          </a:xfrm>
          <a:prstGeom prst="rect">
            <a:avLst/>
          </a:prstGeom>
          <a:solidFill>
            <a:srgbClr val="6CCFC4"/>
          </a:solidFill>
          <a:ln/>
        </p:spPr>
      </p:sp>
      <p:sp>
        <p:nvSpPr>
          <p:cNvPr id="20" name="confetti"/>
          <p:cNvSpPr/>
          <p:nvPr/>
        </p:nvSpPr>
        <p:spPr>
          <a:xfrm>
            <a:off x="11636506" y="6737627"/>
            <a:ext cx="38100" cy="38100"/>
          </a:xfrm>
          <a:prstGeom prst="rect">
            <a:avLst/>
          </a:prstGeom>
          <a:solidFill>
            <a:srgbClr val="6CCFC4"/>
          </a:solidFill>
          <a:ln/>
        </p:spPr>
      </p:sp>
      <p:sp>
        <p:nvSpPr>
          <p:cNvPr id="21" name="confetti"/>
          <p:cNvSpPr/>
          <p:nvPr/>
        </p:nvSpPr>
        <p:spPr>
          <a:xfrm>
            <a:off x="12107239" y="6602996"/>
            <a:ext cx="38100" cy="38100"/>
          </a:xfrm>
          <a:prstGeom prst="rect">
            <a:avLst/>
          </a:prstGeom>
          <a:solidFill>
            <a:srgbClr val="7E4CE0"/>
          </a:solidFill>
          <a:ln/>
        </p:spPr>
      </p:sp>
      <p:sp>
        <p:nvSpPr>
          <p:cNvPr id="22" name="confetti"/>
          <p:cNvSpPr/>
          <p:nvPr/>
        </p:nvSpPr>
        <p:spPr>
          <a:xfrm>
            <a:off x="11708374" y="6259490"/>
            <a:ext cx="38100" cy="38100"/>
          </a:xfrm>
          <a:prstGeom prst="rect">
            <a:avLst/>
          </a:prstGeom>
          <a:solidFill>
            <a:srgbClr val="7E4CE0"/>
          </a:solidFill>
          <a:ln/>
        </p:spPr>
      </p:sp>
      <p:sp>
        <p:nvSpPr>
          <p:cNvPr id="23" name="Text 21"/>
          <p:cNvSpPr txBox="1"/>
          <p:nvPr/>
        </p:nvSpPr>
        <p:spPr>
          <a:xfrm>
            <a:off x="1079500" y="457200"/>
            <a:ext cx="6350000" cy="254000"/>
          </a:xfrm>
          <a:prstGeom prst="rect">
            <a:avLst/>
          </a:prstGeom>
          <a:noFill/>
          <a:ln/>
        </p:spPr>
        <p:txBody>
          <a:bodyPr wrap="square" lIns="0" tIns="0" rIns="0" bIns="0" rtlCol="0" anchor="t"/>
          <a:lstStyle/>
          <a:p>
            <a:pPr algn="l" indent="0" marL="0">
              <a:buNone/>
            </a:pPr>
            <a:r>
              <a:rPr lang="en-US" sz="1300" b="1" spc="156" kern="0" dirty="0">
                <a:solidFill>
                  <a:srgbClr val="6CCFC4"/>
                </a:solidFill>
                <a:latin typeface="Source Code Pro" pitchFamily="34" charset="0"/>
                <a:ea typeface="Source Code Pro" pitchFamily="34" charset="-122"/>
                <a:cs typeface="Source Code Pro" pitchFamily="34" charset="-120"/>
              </a:rPr>
              <a:t>APPENDIX A5 · USER RESEARCH</a:t>
            </a:r>
            <a:endParaRPr lang="en-US" sz="1300" dirty="0"/>
          </a:p>
        </p:txBody>
      </p:sp>
      <p:sp>
        <p:nvSpPr>
          <p:cNvPr id="24" name="Text 22"/>
          <p:cNvSpPr txBox="1"/>
          <p:nvPr/>
        </p:nvSpPr>
        <p:spPr>
          <a:xfrm>
            <a:off x="1054100" y="711200"/>
            <a:ext cx="10160000" cy="609600"/>
          </a:xfrm>
          <a:prstGeom prst="rect">
            <a:avLst/>
          </a:prstGeom>
          <a:noFill/>
          <a:ln/>
          <a:effectLst>
            <a:outerShdw sx="100000" sy="100000" kx="0" ky="0" algn="bl" rotWithShape="0" blurRad="101600" dist="38100" dir="2700000">
              <a:srgbClr val="2C5C3C">
                <a:alpha val="100000"/>
              </a:srgbClr>
            </a:outerShdw>
          </a:effectLst>
        </p:spPr>
        <p:txBody>
          <a:bodyPr wrap="square" lIns="0" tIns="0" rIns="0" bIns="0" rtlCol="0" anchor="t"/>
          <a:lstStyle/>
          <a:p>
            <a:pPr algn="l" indent="0" marL="0">
              <a:buNone/>
            </a:pPr>
            <a:r>
              <a:rPr lang="en-US" sz="3600" b="1" spc="100" kern="0" dirty="0">
                <a:solidFill>
                  <a:srgbClr val="6EF58A"/>
                </a:solidFill>
                <a:latin typeface="Silkscreen" pitchFamily="34" charset="0"/>
                <a:ea typeface="Silkscreen" pitchFamily="34" charset="-122"/>
                <a:cs typeface="Silkscreen" pitchFamily="34" charset="-120"/>
              </a:rPr>
              <a:t>TOOLS AREN'T ENOUGH</a:t>
            </a:r>
            <a:endParaRPr lang="en-US" sz="3600" dirty="0"/>
          </a:p>
        </p:txBody>
      </p:sp>
      <p:sp>
        <p:nvSpPr>
          <p:cNvPr id="25" name="Text 23"/>
          <p:cNvSpPr txBox="1"/>
          <p:nvPr/>
        </p:nvSpPr>
        <p:spPr>
          <a:xfrm>
            <a:off x="1079500" y="1409700"/>
            <a:ext cx="10096500" cy="355600"/>
          </a:xfrm>
          <a:prstGeom prst="rect">
            <a:avLst/>
          </a:prstGeom>
          <a:noFill/>
          <a:ln/>
        </p:spPr>
        <p:txBody>
          <a:bodyPr wrap="square" lIns="0" tIns="0" rIns="0" bIns="0" rtlCol="0" anchor="t"/>
          <a:lstStyle/>
          <a:p>
            <a:pPr algn="l" indent="0" marL="0">
              <a:buNone/>
            </a:pPr>
            <a:r>
              <a:rPr lang="en-US" sz="1800" b="1" spc="72" kern="0" dirty="0">
                <a:solidFill>
                  <a:srgbClr val="F7DD7A"/>
                </a:solidFill>
                <a:latin typeface="Source Code Pro" pitchFamily="34" charset="0"/>
                <a:ea typeface="Source Code Pro" pitchFamily="34" charset="-122"/>
                <a:cs typeface="Source Code Pro" pitchFamily="34" charset="-120"/>
              </a:rPr>
              <a:t>Blocking and alerts are common. Confidence in them is lukewarm.</a:t>
            </a:r>
            <a:endParaRPr lang="en-US" sz="1800" dirty="0"/>
          </a:p>
        </p:txBody>
      </p:sp>
      <p:sp>
        <p:nvSpPr>
          <p:cNvPr id="26" name="Text 24"/>
          <p:cNvSpPr txBox="1"/>
          <p:nvPr/>
        </p:nvSpPr>
        <p:spPr>
          <a:xfrm>
            <a:off x="1079500" y="6464300"/>
            <a:ext cx="8255000" cy="1905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Source: SafeSpace user survey, 31 respondents, 22–30 June 2026.</a:t>
            </a:r>
            <a:endParaRPr lang="en-US" sz="1000" dirty="0"/>
          </a:p>
        </p:txBody>
      </p:sp>
      <p:sp>
        <p:nvSpPr>
          <p:cNvPr id="28" name="stat 19%"/>
          <p:cNvSpPr/>
          <p:nvPr/>
        </p:nvSpPr>
        <p:spPr>
          <a:xfrm>
            <a:off x="1079500" y="2032000"/>
            <a:ext cx="2794000" cy="1968500"/>
          </a:xfrm>
          <a:prstGeom prst="rect">
            <a:avLst/>
          </a:prstGeom>
          <a:solidFill>
            <a:srgbClr val="2C0A28"/>
          </a:solidFill>
          <a:ln w="19050">
            <a:solidFill>
              <a:srgbClr val="F0445A"/>
            </a:solidFill>
            <a:prstDash val="solid"/>
          </a:ln>
        </p:spPr>
      </p:sp>
      <p:sp>
        <p:nvSpPr>
          <p:cNvPr id="29" name="Text 26"/>
          <p:cNvSpPr txBox="1"/>
          <p:nvPr/>
        </p:nvSpPr>
        <p:spPr>
          <a:xfrm>
            <a:off x="1282700" y="2184400"/>
            <a:ext cx="2387600" cy="698500"/>
          </a:xfrm>
          <a:prstGeom prst="rect">
            <a:avLst/>
          </a:prstGeom>
          <a:noFill/>
          <a:ln/>
        </p:spPr>
        <p:txBody>
          <a:bodyPr wrap="square" lIns="0" tIns="0" rIns="0" bIns="0" rtlCol="0" anchor="t"/>
          <a:lstStyle/>
          <a:p>
            <a:pPr algn="l" indent="0" marL="0">
              <a:buNone/>
            </a:pPr>
            <a:r>
              <a:rPr lang="en-US" sz="4800" b="1" spc="100" kern="0" dirty="0">
                <a:solidFill>
                  <a:srgbClr val="F0445A"/>
                </a:solidFill>
                <a:latin typeface="Silkscreen" pitchFamily="34" charset="0"/>
                <a:ea typeface="Silkscreen" pitchFamily="34" charset="-122"/>
                <a:cs typeface="Silkscreen" pitchFamily="34" charset="-120"/>
              </a:rPr>
              <a:t>19%</a:t>
            </a:r>
            <a:endParaRPr lang="en-US" sz="4800" dirty="0"/>
          </a:p>
        </p:txBody>
      </p:sp>
      <p:sp>
        <p:nvSpPr>
          <p:cNvPr id="30" name="Text 27"/>
          <p:cNvSpPr txBox="1"/>
          <p:nvPr/>
        </p:nvSpPr>
        <p:spPr>
          <a:xfrm>
            <a:off x="1282700" y="2959100"/>
            <a:ext cx="2387600" cy="9144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use no tools at all (6 of 31)</a:t>
            </a:r>
            <a:endParaRPr lang="en-US" sz="1300" dirty="0"/>
          </a:p>
        </p:txBody>
      </p:sp>
      <p:sp>
        <p:nvSpPr>
          <p:cNvPr id="31" name="stat 3.4/5"/>
          <p:cNvSpPr/>
          <p:nvPr/>
        </p:nvSpPr>
        <p:spPr>
          <a:xfrm>
            <a:off x="1079500" y="4191000"/>
            <a:ext cx="2794000" cy="2032000"/>
          </a:xfrm>
          <a:prstGeom prst="rect">
            <a:avLst/>
          </a:prstGeom>
          <a:solidFill>
            <a:srgbClr val="2A2410"/>
          </a:solidFill>
          <a:ln w="19050">
            <a:solidFill>
              <a:srgbClr val="F7DD7A"/>
            </a:solidFill>
            <a:prstDash val="solid"/>
          </a:ln>
        </p:spPr>
      </p:sp>
      <p:sp>
        <p:nvSpPr>
          <p:cNvPr id="32" name="Text 29"/>
          <p:cNvSpPr txBox="1"/>
          <p:nvPr/>
        </p:nvSpPr>
        <p:spPr>
          <a:xfrm>
            <a:off x="1282700" y="4343400"/>
            <a:ext cx="2387600" cy="698500"/>
          </a:xfrm>
          <a:prstGeom prst="rect">
            <a:avLst/>
          </a:prstGeom>
          <a:noFill/>
          <a:ln/>
        </p:spPr>
        <p:txBody>
          <a:bodyPr wrap="square" lIns="0" tIns="0" rIns="0" bIns="0" rtlCol="0" anchor="t"/>
          <a:lstStyle/>
          <a:p>
            <a:pPr algn="l" indent="0" marL="0">
              <a:buNone/>
            </a:pPr>
            <a:r>
              <a:rPr lang="en-US" sz="4200" b="1" spc="100" kern="0" dirty="0">
                <a:solidFill>
                  <a:srgbClr val="F7DD7A"/>
                </a:solidFill>
                <a:latin typeface="Silkscreen" pitchFamily="34" charset="0"/>
                <a:ea typeface="Silkscreen" pitchFamily="34" charset="-122"/>
                <a:cs typeface="Silkscreen" pitchFamily="34" charset="-120"/>
              </a:rPr>
              <a:t>3.4/5</a:t>
            </a:r>
            <a:endParaRPr lang="en-US" sz="4200" dirty="0"/>
          </a:p>
        </p:txBody>
      </p:sp>
      <p:sp>
        <p:nvSpPr>
          <p:cNvPr id="33" name="Text 30"/>
          <p:cNvSpPr txBox="1"/>
          <p:nvPr/>
        </p:nvSpPr>
        <p:spPr>
          <a:xfrm>
            <a:off x="1282700" y="5041900"/>
            <a:ext cx="2387600" cy="10541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average rating for how well their tools work</a:t>
            </a:r>
            <a:endParaRPr lang="en-US" sz="1300" dirty="0"/>
          </a:p>
        </p:txBody>
      </p:sp>
      <p:sp>
        <p:nvSpPr>
          <p:cNvPr id="34" name="panel Tools used (select all)"/>
          <p:cNvSpPr/>
          <p:nvPr/>
        </p:nvSpPr>
        <p:spPr>
          <a:xfrm>
            <a:off x="4127500" y="2032000"/>
            <a:ext cx="3302000" cy="4191000"/>
          </a:xfrm>
          <a:prstGeom prst="rect">
            <a:avLst/>
          </a:prstGeom>
          <a:solidFill>
            <a:srgbClr val="121626"/>
          </a:solidFill>
          <a:ln w="19050">
            <a:solidFill>
              <a:srgbClr val="2A2F45"/>
            </a:solidFill>
            <a:prstDash val="solid"/>
          </a:ln>
        </p:spPr>
      </p:sp>
      <p:sp>
        <p:nvSpPr>
          <p:cNvPr id="35" name="Text 32"/>
          <p:cNvSpPr txBox="1"/>
          <p:nvPr/>
        </p:nvSpPr>
        <p:spPr>
          <a:xfrm>
            <a:off x="4330700" y="2184400"/>
            <a:ext cx="28956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Tools used (select all)</a:t>
            </a:r>
            <a:endParaRPr lang="en-US" sz="1300" dirty="0"/>
          </a:p>
        </p:txBody>
      </p:sp>
      <p:graphicFrame>
        <p:nvGraphicFramePr>
          <p:cNvPr id="36" name="Tools used" descr=""/>
          <p:cNvGraphicFramePr/>
          <p:nvPr/>
        </p:nvGraphicFramePr>
        <p:xfrm>
          <a:off x="4318000" y="2413000"/>
          <a:ext cx="2921000" cy="3683000"/>
        </p:xfrm>
        <a:graphic xmlns:a="http://schemas.openxmlformats.org/drawingml/2006/main">
          <a:graphicData uri="http://schemas.openxmlformats.org/drawingml/2006/chart">
            <c:chart xmlns:c="http://schemas.openxmlformats.org/drawingml/2006/chart" r:id="rId1"/>
          </a:graphicData>
        </a:graphic>
      </p:graphicFrame>
      <p:sp>
        <p:nvSpPr>
          <p:cNvPr id="37" name="panel How effective are they?"/>
          <p:cNvSpPr/>
          <p:nvPr/>
        </p:nvSpPr>
        <p:spPr>
          <a:xfrm>
            <a:off x="7683500" y="2032000"/>
            <a:ext cx="3429000" cy="4191000"/>
          </a:xfrm>
          <a:prstGeom prst="rect">
            <a:avLst/>
          </a:prstGeom>
          <a:solidFill>
            <a:srgbClr val="121626"/>
          </a:solidFill>
          <a:ln w="19050">
            <a:solidFill>
              <a:srgbClr val="2A2F45"/>
            </a:solidFill>
            <a:prstDash val="solid"/>
          </a:ln>
        </p:spPr>
      </p:sp>
      <p:sp>
        <p:nvSpPr>
          <p:cNvPr id="38" name="Text 34"/>
          <p:cNvSpPr txBox="1"/>
          <p:nvPr/>
        </p:nvSpPr>
        <p:spPr>
          <a:xfrm>
            <a:off x="7886700" y="2184400"/>
            <a:ext cx="30226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How effective are they?</a:t>
            </a:r>
            <a:endParaRPr lang="en-US" sz="1300" dirty="0"/>
          </a:p>
        </p:txBody>
      </p:sp>
      <p:graphicFrame>
        <p:nvGraphicFramePr>
          <p:cNvPr id="39" name="Tool effectiveness" descr=""/>
          <p:cNvGraphicFramePr/>
          <p:nvPr/>
        </p:nvGraphicFramePr>
        <p:xfrm>
          <a:off x="7874000" y="2413000"/>
          <a:ext cx="3048000" cy="3302000"/>
        </p:xfrm>
        <a:graphic xmlns:a="http://schemas.openxmlformats.org/drawingml/2006/main">
          <a:graphicData uri="http://schemas.openxmlformats.org/drawingml/2006/chart">
            <c:chart xmlns:c="http://schemas.openxmlformats.org/drawingml/2006/chart" r:id="rId2"/>
          </a:graphicData>
        </a:graphic>
      </p:graphicFrame>
      <p:sp>
        <p:nvSpPr>
          <p:cNvPr id="40" name="Text 35"/>
          <p:cNvSpPr txBox="1"/>
          <p:nvPr/>
        </p:nvSpPr>
        <p:spPr>
          <a:xfrm>
            <a:off x="7886700" y="5842000"/>
            <a:ext cx="3048000" cy="2286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1 = not · 5 = very effective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650571" y="67332"/>
            <a:ext cx="38100" cy="38100"/>
          </a:xfrm>
          <a:prstGeom prst="rect">
            <a:avLst/>
          </a:prstGeom>
          <a:solidFill>
            <a:srgbClr val="6CCFC4"/>
          </a:solidFill>
          <a:ln/>
        </p:spPr>
      </p:sp>
      <p:sp>
        <p:nvSpPr>
          <p:cNvPr id="3" name="confetti"/>
          <p:cNvSpPr/>
          <p:nvPr/>
        </p:nvSpPr>
        <p:spPr>
          <a:xfrm>
            <a:off x="2103340" y="9305"/>
            <a:ext cx="38100" cy="38100"/>
          </a:xfrm>
          <a:prstGeom prst="rect">
            <a:avLst/>
          </a:prstGeom>
          <a:solidFill>
            <a:srgbClr val="F7DD7A"/>
          </a:solidFill>
          <a:ln/>
        </p:spPr>
      </p:sp>
      <p:sp>
        <p:nvSpPr>
          <p:cNvPr id="4" name="confetti"/>
          <p:cNvSpPr/>
          <p:nvPr/>
        </p:nvSpPr>
        <p:spPr>
          <a:xfrm>
            <a:off x="2026816" y="257312"/>
            <a:ext cx="38100" cy="38100"/>
          </a:xfrm>
          <a:prstGeom prst="rect">
            <a:avLst/>
          </a:prstGeom>
          <a:solidFill>
            <a:srgbClr val="7E4CE0"/>
          </a:solidFill>
          <a:ln/>
        </p:spPr>
      </p:sp>
      <p:sp>
        <p:nvSpPr>
          <p:cNvPr id="5" name="confetti"/>
          <p:cNvSpPr/>
          <p:nvPr/>
        </p:nvSpPr>
        <p:spPr>
          <a:xfrm>
            <a:off x="1373501" y="208105"/>
            <a:ext cx="38100" cy="38100"/>
          </a:xfrm>
          <a:prstGeom prst="rect">
            <a:avLst/>
          </a:prstGeom>
          <a:solidFill>
            <a:srgbClr val="F0445A"/>
          </a:solidFill>
          <a:ln/>
        </p:spPr>
      </p:sp>
      <p:sp>
        <p:nvSpPr>
          <p:cNvPr id="6" name="confetti"/>
          <p:cNvSpPr/>
          <p:nvPr/>
        </p:nvSpPr>
        <p:spPr>
          <a:xfrm>
            <a:off x="1095894" y="20432"/>
            <a:ext cx="38100" cy="38100"/>
          </a:xfrm>
          <a:prstGeom prst="rect">
            <a:avLst/>
          </a:prstGeom>
          <a:solidFill>
            <a:srgbClr val="6CCFC4"/>
          </a:solidFill>
          <a:ln/>
        </p:spPr>
      </p:sp>
      <p:sp>
        <p:nvSpPr>
          <p:cNvPr id="7" name="confetti"/>
          <p:cNvSpPr/>
          <p:nvPr/>
        </p:nvSpPr>
        <p:spPr>
          <a:xfrm>
            <a:off x="2146496" y="234044"/>
            <a:ext cx="38100" cy="38100"/>
          </a:xfrm>
          <a:prstGeom prst="rect">
            <a:avLst/>
          </a:prstGeom>
          <a:solidFill>
            <a:srgbClr val="7E4CE0"/>
          </a:solidFill>
          <a:ln/>
        </p:spPr>
      </p:sp>
      <p:sp>
        <p:nvSpPr>
          <p:cNvPr id="8" name="confetti"/>
          <p:cNvSpPr/>
          <p:nvPr/>
        </p:nvSpPr>
        <p:spPr>
          <a:xfrm>
            <a:off x="905806" y="245690"/>
            <a:ext cx="38100" cy="38100"/>
          </a:xfrm>
          <a:prstGeom prst="rect">
            <a:avLst/>
          </a:prstGeom>
          <a:solidFill>
            <a:srgbClr val="6EF58A"/>
          </a:solidFill>
          <a:ln/>
        </p:spPr>
      </p:sp>
      <p:sp>
        <p:nvSpPr>
          <p:cNvPr id="9" name="confetti"/>
          <p:cNvSpPr/>
          <p:nvPr/>
        </p:nvSpPr>
        <p:spPr>
          <a:xfrm>
            <a:off x="10518324" y="321182"/>
            <a:ext cx="38100" cy="38100"/>
          </a:xfrm>
          <a:prstGeom prst="rect">
            <a:avLst/>
          </a:prstGeom>
          <a:solidFill>
            <a:srgbClr val="F7DD7A"/>
          </a:solidFill>
          <a:ln/>
        </p:spPr>
      </p:sp>
      <p:sp>
        <p:nvSpPr>
          <p:cNvPr id="10" name="confetti"/>
          <p:cNvSpPr/>
          <p:nvPr/>
        </p:nvSpPr>
        <p:spPr>
          <a:xfrm>
            <a:off x="12124551" y="447131"/>
            <a:ext cx="38100" cy="38100"/>
          </a:xfrm>
          <a:prstGeom prst="rect">
            <a:avLst/>
          </a:prstGeom>
          <a:solidFill>
            <a:srgbClr val="6EF58A"/>
          </a:solidFill>
          <a:ln/>
        </p:spPr>
      </p:sp>
      <p:sp>
        <p:nvSpPr>
          <p:cNvPr id="11" name="confetti"/>
          <p:cNvSpPr/>
          <p:nvPr/>
        </p:nvSpPr>
        <p:spPr>
          <a:xfrm>
            <a:off x="12010986" y="413007"/>
            <a:ext cx="38100" cy="38100"/>
          </a:xfrm>
          <a:prstGeom prst="rect">
            <a:avLst/>
          </a:prstGeom>
          <a:solidFill>
            <a:srgbClr val="7E4CE0"/>
          </a:solidFill>
          <a:ln/>
        </p:spPr>
      </p:sp>
      <p:sp>
        <p:nvSpPr>
          <p:cNvPr id="12" name="confetti"/>
          <p:cNvSpPr/>
          <p:nvPr/>
        </p:nvSpPr>
        <p:spPr>
          <a:xfrm>
            <a:off x="11130129" y="456935"/>
            <a:ext cx="38100" cy="38100"/>
          </a:xfrm>
          <a:prstGeom prst="rect">
            <a:avLst/>
          </a:prstGeom>
          <a:solidFill>
            <a:srgbClr val="7E4CE0"/>
          </a:solidFill>
          <a:ln/>
        </p:spPr>
      </p:sp>
      <p:sp>
        <p:nvSpPr>
          <p:cNvPr id="13" name="confetti"/>
          <p:cNvSpPr/>
          <p:nvPr/>
        </p:nvSpPr>
        <p:spPr>
          <a:xfrm>
            <a:off x="10434481" y="245541"/>
            <a:ext cx="38100" cy="38100"/>
          </a:xfrm>
          <a:prstGeom prst="rect">
            <a:avLst/>
          </a:prstGeom>
          <a:solidFill>
            <a:srgbClr val="F7DD7A"/>
          </a:solidFill>
          <a:ln/>
        </p:spPr>
      </p:sp>
      <p:sp>
        <p:nvSpPr>
          <p:cNvPr id="14" name="confetti"/>
          <p:cNvSpPr/>
          <p:nvPr/>
        </p:nvSpPr>
        <p:spPr>
          <a:xfrm>
            <a:off x="10876541" y="16948"/>
            <a:ext cx="38100" cy="38100"/>
          </a:xfrm>
          <a:prstGeom prst="rect">
            <a:avLst/>
          </a:prstGeom>
          <a:solidFill>
            <a:srgbClr val="6EF58A"/>
          </a:solidFill>
          <a:ln/>
        </p:spPr>
      </p:sp>
      <p:sp>
        <p:nvSpPr>
          <p:cNvPr id="15" name="confetti"/>
          <p:cNvSpPr/>
          <p:nvPr/>
        </p:nvSpPr>
        <p:spPr>
          <a:xfrm>
            <a:off x="11122809" y="9282"/>
            <a:ext cx="38100" cy="38100"/>
          </a:xfrm>
          <a:prstGeom prst="rect">
            <a:avLst/>
          </a:prstGeom>
          <a:solidFill>
            <a:srgbClr val="F7DD7A"/>
          </a:solidFill>
          <a:ln/>
        </p:spPr>
      </p:sp>
      <p:sp>
        <p:nvSpPr>
          <p:cNvPr id="16" name="confetti"/>
          <p:cNvSpPr/>
          <p:nvPr/>
        </p:nvSpPr>
        <p:spPr>
          <a:xfrm>
            <a:off x="12169929" y="6724617"/>
            <a:ext cx="38100" cy="38100"/>
          </a:xfrm>
          <a:prstGeom prst="rect">
            <a:avLst/>
          </a:prstGeom>
          <a:solidFill>
            <a:srgbClr val="F0445A"/>
          </a:solidFill>
          <a:ln/>
        </p:spPr>
      </p:sp>
      <p:sp>
        <p:nvSpPr>
          <p:cNvPr id="17" name="confetti"/>
          <p:cNvSpPr/>
          <p:nvPr/>
        </p:nvSpPr>
        <p:spPr>
          <a:xfrm>
            <a:off x="11549990" y="6730675"/>
            <a:ext cx="38100" cy="38100"/>
          </a:xfrm>
          <a:prstGeom prst="rect">
            <a:avLst/>
          </a:prstGeom>
          <a:solidFill>
            <a:srgbClr val="6EF58A"/>
          </a:solidFill>
          <a:ln/>
        </p:spPr>
      </p:sp>
      <p:sp>
        <p:nvSpPr>
          <p:cNvPr id="18" name="confetti"/>
          <p:cNvSpPr/>
          <p:nvPr/>
        </p:nvSpPr>
        <p:spPr>
          <a:xfrm>
            <a:off x="11817288" y="6510574"/>
            <a:ext cx="38100" cy="38100"/>
          </a:xfrm>
          <a:prstGeom prst="rect">
            <a:avLst/>
          </a:prstGeom>
          <a:solidFill>
            <a:srgbClr val="F7DD7A"/>
          </a:solidFill>
          <a:ln/>
        </p:spPr>
      </p:sp>
      <p:sp>
        <p:nvSpPr>
          <p:cNvPr id="19" name="confetti"/>
          <p:cNvSpPr/>
          <p:nvPr/>
        </p:nvSpPr>
        <p:spPr>
          <a:xfrm>
            <a:off x="11765322" y="6323604"/>
            <a:ext cx="38100" cy="38100"/>
          </a:xfrm>
          <a:prstGeom prst="rect">
            <a:avLst/>
          </a:prstGeom>
          <a:solidFill>
            <a:srgbClr val="6CCFC4"/>
          </a:solidFill>
          <a:ln/>
        </p:spPr>
      </p:sp>
      <p:sp>
        <p:nvSpPr>
          <p:cNvPr id="20" name="confetti"/>
          <p:cNvSpPr/>
          <p:nvPr/>
        </p:nvSpPr>
        <p:spPr>
          <a:xfrm>
            <a:off x="11711592" y="6429057"/>
            <a:ext cx="38100" cy="38100"/>
          </a:xfrm>
          <a:prstGeom prst="rect">
            <a:avLst/>
          </a:prstGeom>
          <a:solidFill>
            <a:srgbClr val="6CCFC4"/>
          </a:solidFill>
          <a:ln/>
        </p:spPr>
      </p:sp>
      <p:sp>
        <p:nvSpPr>
          <p:cNvPr id="21" name="confetti"/>
          <p:cNvSpPr/>
          <p:nvPr/>
        </p:nvSpPr>
        <p:spPr>
          <a:xfrm>
            <a:off x="11973598" y="6463925"/>
            <a:ext cx="38100" cy="38100"/>
          </a:xfrm>
          <a:prstGeom prst="rect">
            <a:avLst/>
          </a:prstGeom>
          <a:solidFill>
            <a:srgbClr val="6EF58A"/>
          </a:solidFill>
          <a:ln/>
        </p:spPr>
      </p:sp>
      <p:sp>
        <p:nvSpPr>
          <p:cNvPr id="22" name="confetti"/>
          <p:cNvSpPr/>
          <p:nvPr/>
        </p:nvSpPr>
        <p:spPr>
          <a:xfrm>
            <a:off x="12106840" y="6687500"/>
            <a:ext cx="38100" cy="38100"/>
          </a:xfrm>
          <a:prstGeom prst="rect">
            <a:avLst/>
          </a:prstGeom>
          <a:solidFill>
            <a:srgbClr val="7E4CE0"/>
          </a:solidFill>
          <a:ln/>
        </p:spPr>
      </p:sp>
      <p:sp>
        <p:nvSpPr>
          <p:cNvPr id="23" name="Text 21"/>
          <p:cNvSpPr txBox="1"/>
          <p:nvPr/>
        </p:nvSpPr>
        <p:spPr>
          <a:xfrm>
            <a:off x="1079500" y="457200"/>
            <a:ext cx="6350000" cy="254000"/>
          </a:xfrm>
          <a:prstGeom prst="rect">
            <a:avLst/>
          </a:prstGeom>
          <a:noFill/>
          <a:ln/>
        </p:spPr>
        <p:txBody>
          <a:bodyPr wrap="square" lIns="0" tIns="0" rIns="0" bIns="0" rtlCol="0" anchor="t"/>
          <a:lstStyle/>
          <a:p>
            <a:pPr algn="l" indent="0" marL="0">
              <a:buNone/>
            </a:pPr>
            <a:r>
              <a:rPr lang="en-US" sz="1300" b="1" spc="156" kern="0" dirty="0">
                <a:solidFill>
                  <a:srgbClr val="6CCFC4"/>
                </a:solidFill>
                <a:latin typeface="Source Code Pro" pitchFamily="34" charset="0"/>
                <a:ea typeface="Source Code Pro" pitchFamily="34" charset="-122"/>
                <a:cs typeface="Source Code Pro" pitchFamily="34" charset="-120"/>
              </a:rPr>
              <a:t>APPENDIX A6 · USER RESEARCH</a:t>
            </a:r>
            <a:endParaRPr lang="en-US" sz="1300" dirty="0"/>
          </a:p>
        </p:txBody>
      </p:sp>
      <p:sp>
        <p:nvSpPr>
          <p:cNvPr id="24" name="Text 22"/>
          <p:cNvSpPr txBox="1"/>
          <p:nvPr/>
        </p:nvSpPr>
        <p:spPr>
          <a:xfrm>
            <a:off x="1054100" y="711200"/>
            <a:ext cx="10160000" cy="609600"/>
          </a:xfrm>
          <a:prstGeom prst="rect">
            <a:avLst/>
          </a:prstGeom>
          <a:noFill/>
          <a:ln/>
          <a:effectLst>
            <a:outerShdw sx="100000" sy="100000" kx="0" ky="0" algn="bl" rotWithShape="0" blurRad="101600" dist="38100" dir="2700000">
              <a:srgbClr val="2C5C3C">
                <a:alpha val="100000"/>
              </a:srgbClr>
            </a:outerShdw>
          </a:effectLst>
        </p:spPr>
        <p:txBody>
          <a:bodyPr wrap="square" lIns="0" tIns="0" rIns="0" bIns="0" rtlCol="0" anchor="t"/>
          <a:lstStyle/>
          <a:p>
            <a:pPr algn="l" indent="0" marL="0">
              <a:buNone/>
            </a:pPr>
            <a:r>
              <a:rPr lang="en-US" sz="3600" b="1" spc="100" kern="0" dirty="0">
                <a:solidFill>
                  <a:srgbClr val="6EF58A"/>
                </a:solidFill>
                <a:latin typeface="Silkscreen" pitchFamily="34" charset="0"/>
                <a:ea typeface="Silkscreen" pitchFamily="34" charset="-122"/>
                <a:cs typeface="Silkscreen" pitchFamily="34" charset="-120"/>
              </a:rPr>
              <a:t>WOULD THEY USE IT?</a:t>
            </a:r>
            <a:endParaRPr lang="en-US" sz="3600" dirty="0"/>
          </a:p>
        </p:txBody>
      </p:sp>
      <p:sp>
        <p:nvSpPr>
          <p:cNvPr id="25" name="Text 23"/>
          <p:cNvSpPr txBox="1"/>
          <p:nvPr/>
        </p:nvSpPr>
        <p:spPr>
          <a:xfrm>
            <a:off x="1079500" y="1409700"/>
            <a:ext cx="10096500" cy="355600"/>
          </a:xfrm>
          <a:prstGeom prst="rect">
            <a:avLst/>
          </a:prstGeom>
          <a:noFill/>
          <a:ln/>
        </p:spPr>
        <p:txBody>
          <a:bodyPr wrap="square" lIns="0" tIns="0" rIns="0" bIns="0" rtlCol="0" anchor="t"/>
          <a:lstStyle/>
          <a:p>
            <a:pPr algn="l" indent="0" marL="0">
              <a:buNone/>
            </a:pPr>
            <a:r>
              <a:rPr lang="en-US" sz="1800" b="1" spc="72" kern="0" dirty="0">
                <a:solidFill>
                  <a:srgbClr val="F7DD7A"/>
                </a:solidFill>
                <a:latin typeface="Source Code Pro" pitchFamily="34" charset="0"/>
                <a:ea typeface="Source Code Pro" pitchFamily="34" charset="-122"/>
                <a:cs typeface="Source Code Pro" pitchFamily="34" charset="-120"/>
              </a:rPr>
              <a:t>Strong interest, especially for families and the elderly.</a:t>
            </a:r>
            <a:endParaRPr lang="en-US" sz="1800" dirty="0"/>
          </a:p>
        </p:txBody>
      </p:sp>
      <p:sp>
        <p:nvSpPr>
          <p:cNvPr id="26" name="Text 24"/>
          <p:cNvSpPr txBox="1"/>
          <p:nvPr/>
        </p:nvSpPr>
        <p:spPr>
          <a:xfrm>
            <a:off x="1079500" y="6464300"/>
            <a:ext cx="8255000" cy="1905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Source: SafeSpace user survey, 31 respondents, 22–30 June 2026.</a:t>
            </a:r>
            <a:endParaRPr lang="en-US" sz="1000" dirty="0"/>
          </a:p>
        </p:txBody>
      </p:sp>
      <p:sp>
        <p:nvSpPr>
          <p:cNvPr id="28" name="stat 71%"/>
          <p:cNvSpPr/>
          <p:nvPr/>
        </p:nvSpPr>
        <p:spPr>
          <a:xfrm>
            <a:off x="1079500" y="2032000"/>
            <a:ext cx="2349500" cy="1778000"/>
          </a:xfrm>
          <a:prstGeom prst="rect">
            <a:avLst/>
          </a:prstGeom>
          <a:solidFill>
            <a:srgbClr val="0E2418"/>
          </a:solidFill>
          <a:ln w="19050">
            <a:solidFill>
              <a:srgbClr val="6EF58A"/>
            </a:solidFill>
            <a:prstDash val="solid"/>
          </a:ln>
        </p:spPr>
      </p:sp>
      <p:sp>
        <p:nvSpPr>
          <p:cNvPr id="29" name="Text 26"/>
          <p:cNvSpPr txBox="1"/>
          <p:nvPr/>
        </p:nvSpPr>
        <p:spPr>
          <a:xfrm>
            <a:off x="1282700" y="2184400"/>
            <a:ext cx="1943100" cy="698500"/>
          </a:xfrm>
          <a:prstGeom prst="rect">
            <a:avLst/>
          </a:prstGeom>
          <a:noFill/>
          <a:ln/>
        </p:spPr>
        <p:txBody>
          <a:bodyPr wrap="square" lIns="0" tIns="0" rIns="0" bIns="0" rtlCol="0" anchor="t"/>
          <a:lstStyle/>
          <a:p>
            <a:pPr algn="l" indent="0" marL="0">
              <a:buNone/>
            </a:pPr>
            <a:r>
              <a:rPr lang="en-US" sz="4000" b="1" spc="100" kern="0" dirty="0">
                <a:solidFill>
                  <a:srgbClr val="6EF58A"/>
                </a:solidFill>
                <a:latin typeface="Silkscreen" pitchFamily="34" charset="0"/>
                <a:ea typeface="Silkscreen" pitchFamily="34" charset="-122"/>
                <a:cs typeface="Silkscreen" pitchFamily="34" charset="-120"/>
              </a:rPr>
              <a:t>71%</a:t>
            </a:r>
            <a:endParaRPr lang="en-US" sz="4000" dirty="0"/>
          </a:p>
        </p:txBody>
      </p:sp>
      <p:sp>
        <p:nvSpPr>
          <p:cNvPr id="30" name="Text 27"/>
          <p:cNvSpPr txBox="1"/>
          <p:nvPr/>
        </p:nvSpPr>
        <p:spPr>
          <a:xfrm>
            <a:off x="1282700" y="2857500"/>
            <a:ext cx="1943100" cy="8255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rated it useful (4–5 of 5)</a:t>
            </a:r>
            <a:endParaRPr lang="en-US" sz="1300" dirty="0"/>
          </a:p>
        </p:txBody>
      </p:sp>
      <p:sp>
        <p:nvSpPr>
          <p:cNvPr id="31" name="stat 61%"/>
          <p:cNvSpPr/>
          <p:nvPr/>
        </p:nvSpPr>
        <p:spPr>
          <a:xfrm>
            <a:off x="3619500" y="2032000"/>
            <a:ext cx="2349500" cy="1778000"/>
          </a:xfrm>
          <a:prstGeom prst="rect">
            <a:avLst/>
          </a:prstGeom>
          <a:solidFill>
            <a:srgbClr val="0E2418"/>
          </a:solidFill>
          <a:ln w="19050">
            <a:solidFill>
              <a:srgbClr val="6EF58A"/>
            </a:solidFill>
            <a:prstDash val="solid"/>
          </a:ln>
        </p:spPr>
      </p:sp>
      <p:sp>
        <p:nvSpPr>
          <p:cNvPr id="32" name="Text 29"/>
          <p:cNvSpPr txBox="1"/>
          <p:nvPr/>
        </p:nvSpPr>
        <p:spPr>
          <a:xfrm>
            <a:off x="3822700" y="2184400"/>
            <a:ext cx="1943100" cy="698500"/>
          </a:xfrm>
          <a:prstGeom prst="rect">
            <a:avLst/>
          </a:prstGeom>
          <a:noFill/>
          <a:ln/>
        </p:spPr>
        <p:txBody>
          <a:bodyPr wrap="square" lIns="0" tIns="0" rIns="0" bIns="0" rtlCol="0" anchor="t"/>
          <a:lstStyle/>
          <a:p>
            <a:pPr algn="l" indent="0" marL="0">
              <a:buNone/>
            </a:pPr>
            <a:r>
              <a:rPr lang="en-US" sz="4000" b="1" spc="100" kern="0" dirty="0">
                <a:solidFill>
                  <a:srgbClr val="6EF58A"/>
                </a:solidFill>
                <a:latin typeface="Silkscreen" pitchFamily="34" charset="0"/>
                <a:ea typeface="Silkscreen" pitchFamily="34" charset="-122"/>
                <a:cs typeface="Silkscreen" pitchFamily="34" charset="-120"/>
              </a:rPr>
              <a:t>61%</a:t>
            </a:r>
            <a:endParaRPr lang="en-US" sz="4000" dirty="0"/>
          </a:p>
        </p:txBody>
      </p:sp>
      <p:sp>
        <p:nvSpPr>
          <p:cNvPr id="33" name="Text 30"/>
          <p:cNvSpPr txBox="1"/>
          <p:nvPr/>
        </p:nvSpPr>
        <p:spPr>
          <a:xfrm>
            <a:off x="3822700" y="2857500"/>
            <a:ext cx="1943100" cy="8255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would try it, +29% maybe</a:t>
            </a:r>
            <a:endParaRPr lang="en-US" sz="1300" dirty="0"/>
          </a:p>
        </p:txBody>
      </p:sp>
      <p:sp>
        <p:nvSpPr>
          <p:cNvPr id="34" name="stat 65%"/>
          <p:cNvSpPr/>
          <p:nvPr/>
        </p:nvSpPr>
        <p:spPr>
          <a:xfrm>
            <a:off x="6159500" y="2032000"/>
            <a:ext cx="2349500" cy="1778000"/>
          </a:xfrm>
          <a:prstGeom prst="rect">
            <a:avLst/>
          </a:prstGeom>
          <a:solidFill>
            <a:srgbClr val="2A2410"/>
          </a:solidFill>
          <a:ln w="19050">
            <a:solidFill>
              <a:srgbClr val="F7DD7A"/>
            </a:solidFill>
            <a:prstDash val="solid"/>
          </a:ln>
        </p:spPr>
      </p:sp>
      <p:sp>
        <p:nvSpPr>
          <p:cNvPr id="35" name="Text 32"/>
          <p:cNvSpPr txBox="1"/>
          <p:nvPr/>
        </p:nvSpPr>
        <p:spPr>
          <a:xfrm>
            <a:off x="6362700" y="2184400"/>
            <a:ext cx="1943100" cy="698500"/>
          </a:xfrm>
          <a:prstGeom prst="rect">
            <a:avLst/>
          </a:prstGeom>
          <a:noFill/>
          <a:ln/>
        </p:spPr>
        <p:txBody>
          <a:bodyPr wrap="square" lIns="0" tIns="0" rIns="0" bIns="0" rtlCol="0" anchor="t"/>
          <a:lstStyle/>
          <a:p>
            <a:pPr algn="l" indent="0" marL="0">
              <a:buNone/>
            </a:pPr>
            <a:r>
              <a:rPr lang="en-US" sz="4000" b="1" spc="100" kern="0" dirty="0">
                <a:solidFill>
                  <a:srgbClr val="F7DD7A"/>
                </a:solidFill>
                <a:latin typeface="Silkscreen" pitchFamily="34" charset="0"/>
                <a:ea typeface="Silkscreen" pitchFamily="34" charset="-122"/>
                <a:cs typeface="Silkscreen" pitchFamily="34" charset="-120"/>
              </a:rPr>
              <a:t>65%</a:t>
            </a:r>
            <a:endParaRPr lang="en-US" sz="4000" dirty="0"/>
          </a:p>
        </p:txBody>
      </p:sp>
      <p:sp>
        <p:nvSpPr>
          <p:cNvPr id="36" name="Text 33"/>
          <p:cNvSpPr txBox="1"/>
          <p:nvPr/>
        </p:nvSpPr>
        <p:spPr>
          <a:xfrm>
            <a:off x="6362700" y="2857500"/>
            <a:ext cx="1943100" cy="8255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comfortable using it with family</a:t>
            </a:r>
            <a:endParaRPr lang="en-US" sz="1300" dirty="0"/>
          </a:p>
        </p:txBody>
      </p:sp>
      <p:sp>
        <p:nvSpPr>
          <p:cNvPr id="37" name="stat 45%"/>
          <p:cNvSpPr/>
          <p:nvPr/>
        </p:nvSpPr>
        <p:spPr>
          <a:xfrm>
            <a:off x="8699500" y="2032000"/>
            <a:ext cx="2349500" cy="1778000"/>
          </a:xfrm>
          <a:prstGeom prst="rect">
            <a:avLst/>
          </a:prstGeom>
          <a:solidFill>
            <a:srgbClr val="2A2410"/>
          </a:solidFill>
          <a:ln w="19050">
            <a:solidFill>
              <a:srgbClr val="F7DD7A"/>
            </a:solidFill>
            <a:prstDash val="solid"/>
          </a:ln>
        </p:spPr>
      </p:sp>
      <p:sp>
        <p:nvSpPr>
          <p:cNvPr id="38" name="Text 35"/>
          <p:cNvSpPr txBox="1"/>
          <p:nvPr/>
        </p:nvSpPr>
        <p:spPr>
          <a:xfrm>
            <a:off x="8902700" y="2184400"/>
            <a:ext cx="1943100" cy="698500"/>
          </a:xfrm>
          <a:prstGeom prst="rect">
            <a:avLst/>
          </a:prstGeom>
          <a:noFill/>
          <a:ln/>
        </p:spPr>
        <p:txBody>
          <a:bodyPr wrap="square" lIns="0" tIns="0" rIns="0" bIns="0" rtlCol="0" anchor="t"/>
          <a:lstStyle/>
          <a:p>
            <a:pPr algn="l" indent="0" marL="0">
              <a:buNone/>
            </a:pPr>
            <a:r>
              <a:rPr lang="en-US" sz="4000" b="1" spc="100" kern="0" dirty="0">
                <a:solidFill>
                  <a:srgbClr val="F7DD7A"/>
                </a:solidFill>
                <a:latin typeface="Silkscreen" pitchFamily="34" charset="0"/>
                <a:ea typeface="Silkscreen" pitchFamily="34" charset="-122"/>
                <a:cs typeface="Silkscreen" pitchFamily="34" charset="-120"/>
              </a:rPr>
              <a:t>45%</a:t>
            </a:r>
            <a:endParaRPr lang="en-US" sz="4000" dirty="0"/>
          </a:p>
        </p:txBody>
      </p:sp>
      <p:sp>
        <p:nvSpPr>
          <p:cNvPr id="39" name="Text 36"/>
          <p:cNvSpPr txBox="1"/>
          <p:nvPr/>
        </p:nvSpPr>
        <p:spPr>
          <a:xfrm>
            <a:off x="8902700" y="2857500"/>
            <a:ext cx="1943100" cy="825500"/>
          </a:xfrm>
          <a:prstGeom prst="rect">
            <a:avLst/>
          </a:prstGeom>
          <a:noFill/>
          <a:ln/>
        </p:spPr>
        <p:txBody>
          <a:bodyPr wrap="square" lIns="0" tIns="0" rIns="0" bIns="0" rtlCol="0" anchor="t"/>
          <a:lstStyle/>
          <a:p>
            <a:pPr algn="l" indent="0" marL="0">
              <a:lnSpc>
                <a:spcPct val="120000"/>
              </a:lnSpc>
              <a:buNone/>
            </a:pPr>
            <a:r>
              <a:rPr lang="en-US" sz="1300" spc="52" kern="0" dirty="0">
                <a:solidFill>
                  <a:srgbClr val="F4F4F4"/>
                </a:solidFill>
                <a:latin typeface="Source Code Pro" pitchFamily="34" charset="0"/>
                <a:ea typeface="Source Code Pro" pitchFamily="34" charset="-122"/>
                <a:cs typeface="Source Code Pro" pitchFamily="34" charset="-120"/>
              </a:rPr>
              <a:t>say families benefit most</a:t>
            </a:r>
            <a:endParaRPr lang="en-US" sz="1300" dirty="0"/>
          </a:p>
        </p:txBody>
      </p:sp>
      <p:sp>
        <p:nvSpPr>
          <p:cNvPr id="40" name="panel How useful is the idea? (1–5)"/>
          <p:cNvSpPr/>
          <p:nvPr/>
        </p:nvSpPr>
        <p:spPr>
          <a:xfrm>
            <a:off x="1079500" y="4000500"/>
            <a:ext cx="4889500" cy="2222500"/>
          </a:xfrm>
          <a:prstGeom prst="rect">
            <a:avLst/>
          </a:prstGeom>
          <a:solidFill>
            <a:srgbClr val="121626"/>
          </a:solidFill>
          <a:ln w="19050">
            <a:solidFill>
              <a:srgbClr val="2A2F45"/>
            </a:solidFill>
            <a:prstDash val="solid"/>
          </a:ln>
        </p:spPr>
      </p:sp>
      <p:sp>
        <p:nvSpPr>
          <p:cNvPr id="41" name="Text 38"/>
          <p:cNvSpPr txBox="1"/>
          <p:nvPr/>
        </p:nvSpPr>
        <p:spPr>
          <a:xfrm>
            <a:off x="1282700" y="4152900"/>
            <a:ext cx="44831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How useful is the idea? (1–5)</a:t>
            </a:r>
            <a:endParaRPr lang="en-US" sz="1300" dirty="0"/>
          </a:p>
        </p:txBody>
      </p:sp>
      <p:graphicFrame>
        <p:nvGraphicFramePr>
          <p:cNvPr id="42" name="Usefulness" descr=""/>
          <p:cNvGraphicFramePr/>
          <p:nvPr/>
        </p:nvGraphicFramePr>
        <p:xfrm>
          <a:off x="1270000" y="4318000"/>
          <a:ext cx="4508500" cy="1809750"/>
        </p:xfrm>
        <a:graphic xmlns:a="http://schemas.openxmlformats.org/drawingml/2006/main">
          <a:graphicData uri="http://schemas.openxmlformats.org/drawingml/2006/chart">
            <c:chart xmlns:c="http://schemas.openxmlformats.org/drawingml/2006/chart" r:id="rId1"/>
          </a:graphicData>
        </a:graphic>
      </p:graphicFrame>
      <p:sp>
        <p:nvSpPr>
          <p:cNvPr id="43" name="panel Who would benefit most?"/>
          <p:cNvSpPr/>
          <p:nvPr/>
        </p:nvSpPr>
        <p:spPr>
          <a:xfrm>
            <a:off x="6159500" y="4000500"/>
            <a:ext cx="4953000" cy="2222500"/>
          </a:xfrm>
          <a:prstGeom prst="rect">
            <a:avLst/>
          </a:prstGeom>
          <a:solidFill>
            <a:srgbClr val="121626"/>
          </a:solidFill>
          <a:ln w="19050">
            <a:solidFill>
              <a:srgbClr val="2A2F45"/>
            </a:solidFill>
            <a:prstDash val="solid"/>
          </a:ln>
        </p:spPr>
      </p:sp>
      <p:sp>
        <p:nvSpPr>
          <p:cNvPr id="44" name="Text 40"/>
          <p:cNvSpPr txBox="1"/>
          <p:nvPr/>
        </p:nvSpPr>
        <p:spPr>
          <a:xfrm>
            <a:off x="6362700" y="4152900"/>
            <a:ext cx="4546600" cy="254000"/>
          </a:xfrm>
          <a:prstGeom prst="rect">
            <a:avLst/>
          </a:prstGeom>
          <a:noFill/>
          <a:ln/>
        </p:spPr>
        <p:txBody>
          <a:bodyPr wrap="square" lIns="0" tIns="0" rIns="0" bIns="0" rtlCol="0" anchor="t"/>
          <a:lstStyle/>
          <a:p>
            <a:pPr algn="l" indent="0" marL="0">
              <a:buNone/>
            </a:pPr>
            <a:r>
              <a:rPr lang="en-US" sz="1300" b="1" spc="52" kern="0" dirty="0">
                <a:solidFill>
                  <a:srgbClr val="F7DD7A"/>
                </a:solidFill>
                <a:latin typeface="Source Code Pro" pitchFamily="34" charset="0"/>
                <a:ea typeface="Source Code Pro" pitchFamily="34" charset="-122"/>
                <a:cs typeface="Source Code Pro" pitchFamily="34" charset="-120"/>
              </a:rPr>
              <a:t>Who would benefit most?</a:t>
            </a:r>
            <a:endParaRPr lang="en-US" sz="1300" dirty="0"/>
          </a:p>
        </p:txBody>
      </p:sp>
      <p:graphicFrame>
        <p:nvGraphicFramePr>
          <p:cNvPr id="45" name="Benefits most" descr=""/>
          <p:cNvGraphicFramePr/>
          <p:nvPr/>
        </p:nvGraphicFramePr>
        <p:xfrm>
          <a:off x="6350000" y="4318000"/>
          <a:ext cx="4572000" cy="180975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1288580" y="10703"/>
            <a:ext cx="38100" cy="38100"/>
          </a:xfrm>
          <a:prstGeom prst="rect">
            <a:avLst/>
          </a:prstGeom>
          <a:solidFill>
            <a:srgbClr val="F0445A"/>
          </a:solidFill>
          <a:ln/>
        </p:spPr>
      </p:sp>
      <p:sp>
        <p:nvSpPr>
          <p:cNvPr id="3" name="confetti"/>
          <p:cNvSpPr/>
          <p:nvPr/>
        </p:nvSpPr>
        <p:spPr>
          <a:xfrm>
            <a:off x="972167" y="246951"/>
            <a:ext cx="38100" cy="38100"/>
          </a:xfrm>
          <a:prstGeom prst="rect">
            <a:avLst/>
          </a:prstGeom>
          <a:solidFill>
            <a:srgbClr val="7E4CE0"/>
          </a:solidFill>
          <a:ln/>
        </p:spPr>
      </p:sp>
      <p:sp>
        <p:nvSpPr>
          <p:cNvPr id="4" name="confetti"/>
          <p:cNvSpPr/>
          <p:nvPr/>
        </p:nvSpPr>
        <p:spPr>
          <a:xfrm>
            <a:off x="1348963" y="270651"/>
            <a:ext cx="38100" cy="38100"/>
          </a:xfrm>
          <a:prstGeom prst="rect">
            <a:avLst/>
          </a:prstGeom>
          <a:solidFill>
            <a:srgbClr val="F7DD7A"/>
          </a:solidFill>
          <a:ln/>
        </p:spPr>
      </p:sp>
      <p:sp>
        <p:nvSpPr>
          <p:cNvPr id="5" name="confetti"/>
          <p:cNvSpPr/>
          <p:nvPr/>
        </p:nvSpPr>
        <p:spPr>
          <a:xfrm>
            <a:off x="1085468" y="240552"/>
            <a:ext cx="38100" cy="38100"/>
          </a:xfrm>
          <a:prstGeom prst="rect">
            <a:avLst/>
          </a:prstGeom>
          <a:solidFill>
            <a:srgbClr val="F0445A"/>
          </a:solidFill>
          <a:ln/>
        </p:spPr>
      </p:sp>
      <p:sp>
        <p:nvSpPr>
          <p:cNvPr id="6" name="confetti"/>
          <p:cNvSpPr/>
          <p:nvPr/>
        </p:nvSpPr>
        <p:spPr>
          <a:xfrm>
            <a:off x="1134181" y="315405"/>
            <a:ext cx="38100" cy="38100"/>
          </a:xfrm>
          <a:prstGeom prst="rect">
            <a:avLst/>
          </a:prstGeom>
          <a:solidFill>
            <a:srgbClr val="6CCFC4"/>
          </a:solidFill>
          <a:ln/>
        </p:spPr>
      </p:sp>
      <p:sp>
        <p:nvSpPr>
          <p:cNvPr id="7" name="confetti"/>
          <p:cNvSpPr/>
          <p:nvPr/>
        </p:nvSpPr>
        <p:spPr>
          <a:xfrm>
            <a:off x="161602" y="272959"/>
            <a:ext cx="38100" cy="38100"/>
          </a:xfrm>
          <a:prstGeom prst="rect">
            <a:avLst/>
          </a:prstGeom>
          <a:solidFill>
            <a:srgbClr val="7E4CE0"/>
          </a:solidFill>
          <a:ln/>
        </p:spPr>
      </p:sp>
      <p:sp>
        <p:nvSpPr>
          <p:cNvPr id="8" name="confetti"/>
          <p:cNvSpPr/>
          <p:nvPr/>
        </p:nvSpPr>
        <p:spPr>
          <a:xfrm>
            <a:off x="1406231" y="271964"/>
            <a:ext cx="38100" cy="38100"/>
          </a:xfrm>
          <a:prstGeom prst="rect">
            <a:avLst/>
          </a:prstGeom>
          <a:solidFill>
            <a:srgbClr val="F0445A"/>
          </a:solidFill>
          <a:ln/>
        </p:spPr>
      </p:sp>
      <p:sp>
        <p:nvSpPr>
          <p:cNvPr id="9" name="confetti"/>
          <p:cNvSpPr/>
          <p:nvPr/>
        </p:nvSpPr>
        <p:spPr>
          <a:xfrm>
            <a:off x="11154569" y="135256"/>
            <a:ext cx="38100" cy="38100"/>
          </a:xfrm>
          <a:prstGeom prst="rect">
            <a:avLst/>
          </a:prstGeom>
          <a:solidFill>
            <a:srgbClr val="F0445A"/>
          </a:solidFill>
          <a:ln/>
        </p:spPr>
      </p:sp>
      <p:sp>
        <p:nvSpPr>
          <p:cNvPr id="10" name="confetti"/>
          <p:cNvSpPr/>
          <p:nvPr/>
        </p:nvSpPr>
        <p:spPr>
          <a:xfrm>
            <a:off x="10547115" y="400993"/>
            <a:ext cx="38100" cy="38100"/>
          </a:xfrm>
          <a:prstGeom prst="rect">
            <a:avLst/>
          </a:prstGeom>
          <a:solidFill>
            <a:srgbClr val="F7DD7A"/>
          </a:solidFill>
          <a:ln/>
        </p:spPr>
      </p:sp>
      <p:sp>
        <p:nvSpPr>
          <p:cNvPr id="11" name="confetti"/>
          <p:cNvSpPr/>
          <p:nvPr/>
        </p:nvSpPr>
        <p:spPr>
          <a:xfrm>
            <a:off x="10442369" y="300282"/>
            <a:ext cx="38100" cy="38100"/>
          </a:xfrm>
          <a:prstGeom prst="rect">
            <a:avLst/>
          </a:prstGeom>
          <a:solidFill>
            <a:srgbClr val="F7DD7A"/>
          </a:solidFill>
          <a:ln/>
        </p:spPr>
      </p:sp>
      <p:sp>
        <p:nvSpPr>
          <p:cNvPr id="12" name="confetti"/>
          <p:cNvSpPr/>
          <p:nvPr/>
        </p:nvSpPr>
        <p:spPr>
          <a:xfrm>
            <a:off x="11792832" y="71249"/>
            <a:ext cx="38100" cy="38100"/>
          </a:xfrm>
          <a:prstGeom prst="rect">
            <a:avLst/>
          </a:prstGeom>
          <a:solidFill>
            <a:srgbClr val="7E4CE0"/>
          </a:solidFill>
          <a:ln/>
        </p:spPr>
      </p:sp>
      <p:sp>
        <p:nvSpPr>
          <p:cNvPr id="13" name="confetti"/>
          <p:cNvSpPr/>
          <p:nvPr/>
        </p:nvSpPr>
        <p:spPr>
          <a:xfrm>
            <a:off x="10979003" y="523517"/>
            <a:ext cx="38100" cy="38100"/>
          </a:xfrm>
          <a:prstGeom prst="rect">
            <a:avLst/>
          </a:prstGeom>
          <a:solidFill>
            <a:srgbClr val="F7DD7A"/>
          </a:solidFill>
          <a:ln/>
        </p:spPr>
      </p:sp>
      <p:sp>
        <p:nvSpPr>
          <p:cNvPr id="14" name="confetti"/>
          <p:cNvSpPr/>
          <p:nvPr/>
        </p:nvSpPr>
        <p:spPr>
          <a:xfrm>
            <a:off x="11239382" y="180713"/>
            <a:ext cx="38100" cy="38100"/>
          </a:xfrm>
          <a:prstGeom prst="rect">
            <a:avLst/>
          </a:prstGeom>
          <a:solidFill>
            <a:srgbClr val="F7DD7A"/>
          </a:solidFill>
          <a:ln/>
        </p:spPr>
      </p:sp>
      <p:sp>
        <p:nvSpPr>
          <p:cNvPr id="15" name="confetti"/>
          <p:cNvSpPr/>
          <p:nvPr/>
        </p:nvSpPr>
        <p:spPr>
          <a:xfrm>
            <a:off x="11240470" y="423960"/>
            <a:ext cx="38100" cy="38100"/>
          </a:xfrm>
          <a:prstGeom prst="rect">
            <a:avLst/>
          </a:prstGeom>
          <a:solidFill>
            <a:srgbClr val="6EF58A"/>
          </a:solidFill>
          <a:ln/>
        </p:spPr>
      </p:sp>
      <p:sp>
        <p:nvSpPr>
          <p:cNvPr id="16" name="confetti"/>
          <p:cNvSpPr/>
          <p:nvPr/>
        </p:nvSpPr>
        <p:spPr>
          <a:xfrm>
            <a:off x="12106255" y="6602353"/>
            <a:ext cx="38100" cy="38100"/>
          </a:xfrm>
          <a:prstGeom prst="rect">
            <a:avLst/>
          </a:prstGeom>
          <a:solidFill>
            <a:srgbClr val="6EF58A"/>
          </a:solidFill>
          <a:ln/>
        </p:spPr>
      </p:sp>
      <p:sp>
        <p:nvSpPr>
          <p:cNvPr id="17" name="confetti"/>
          <p:cNvSpPr/>
          <p:nvPr/>
        </p:nvSpPr>
        <p:spPr>
          <a:xfrm>
            <a:off x="12124257" y="6432189"/>
            <a:ext cx="38100" cy="38100"/>
          </a:xfrm>
          <a:prstGeom prst="rect">
            <a:avLst/>
          </a:prstGeom>
          <a:solidFill>
            <a:srgbClr val="7E4CE0"/>
          </a:solidFill>
          <a:ln/>
        </p:spPr>
      </p:sp>
      <p:sp>
        <p:nvSpPr>
          <p:cNvPr id="18" name="confetti"/>
          <p:cNvSpPr/>
          <p:nvPr/>
        </p:nvSpPr>
        <p:spPr>
          <a:xfrm>
            <a:off x="11484328" y="6433445"/>
            <a:ext cx="38100" cy="38100"/>
          </a:xfrm>
          <a:prstGeom prst="rect">
            <a:avLst/>
          </a:prstGeom>
          <a:solidFill>
            <a:srgbClr val="F0445A"/>
          </a:solidFill>
          <a:ln/>
        </p:spPr>
      </p:sp>
      <p:sp>
        <p:nvSpPr>
          <p:cNvPr id="19" name="confetti"/>
          <p:cNvSpPr/>
          <p:nvPr/>
        </p:nvSpPr>
        <p:spPr>
          <a:xfrm>
            <a:off x="12027968" y="6243114"/>
            <a:ext cx="38100" cy="38100"/>
          </a:xfrm>
          <a:prstGeom prst="rect">
            <a:avLst/>
          </a:prstGeom>
          <a:solidFill>
            <a:srgbClr val="6CCFC4"/>
          </a:solidFill>
          <a:ln/>
        </p:spPr>
      </p:sp>
      <p:sp>
        <p:nvSpPr>
          <p:cNvPr id="20" name="confetti"/>
          <p:cNvSpPr/>
          <p:nvPr/>
        </p:nvSpPr>
        <p:spPr>
          <a:xfrm>
            <a:off x="11786678" y="6742786"/>
            <a:ext cx="38100" cy="38100"/>
          </a:xfrm>
          <a:prstGeom prst="rect">
            <a:avLst/>
          </a:prstGeom>
          <a:solidFill>
            <a:srgbClr val="6EF58A"/>
          </a:solidFill>
          <a:ln/>
        </p:spPr>
      </p:sp>
      <p:sp>
        <p:nvSpPr>
          <p:cNvPr id="21" name="confetti"/>
          <p:cNvSpPr/>
          <p:nvPr/>
        </p:nvSpPr>
        <p:spPr>
          <a:xfrm>
            <a:off x="11839957" y="6324855"/>
            <a:ext cx="38100" cy="38100"/>
          </a:xfrm>
          <a:prstGeom prst="rect">
            <a:avLst/>
          </a:prstGeom>
          <a:solidFill>
            <a:srgbClr val="F0445A"/>
          </a:solidFill>
          <a:ln/>
        </p:spPr>
      </p:sp>
      <p:sp>
        <p:nvSpPr>
          <p:cNvPr id="22" name="confetti"/>
          <p:cNvSpPr/>
          <p:nvPr/>
        </p:nvSpPr>
        <p:spPr>
          <a:xfrm>
            <a:off x="11743306" y="6493210"/>
            <a:ext cx="38100" cy="38100"/>
          </a:xfrm>
          <a:prstGeom prst="rect">
            <a:avLst/>
          </a:prstGeom>
          <a:solidFill>
            <a:srgbClr val="6CCFC4"/>
          </a:solidFill>
          <a:ln/>
        </p:spPr>
      </p:sp>
      <p:sp>
        <p:nvSpPr>
          <p:cNvPr id="23" name="Text 21"/>
          <p:cNvSpPr txBox="1"/>
          <p:nvPr/>
        </p:nvSpPr>
        <p:spPr>
          <a:xfrm>
            <a:off x="1079500" y="457200"/>
            <a:ext cx="6350000" cy="254000"/>
          </a:xfrm>
          <a:prstGeom prst="rect">
            <a:avLst/>
          </a:prstGeom>
          <a:noFill/>
          <a:ln/>
        </p:spPr>
        <p:txBody>
          <a:bodyPr wrap="square" lIns="0" tIns="0" rIns="0" bIns="0" rtlCol="0" anchor="t"/>
          <a:lstStyle/>
          <a:p>
            <a:pPr algn="l" indent="0" marL="0">
              <a:buNone/>
            </a:pPr>
            <a:r>
              <a:rPr lang="en-US" sz="1300" b="1" spc="156" kern="0" dirty="0">
                <a:solidFill>
                  <a:srgbClr val="6CCFC4"/>
                </a:solidFill>
                <a:latin typeface="Source Code Pro" pitchFamily="34" charset="0"/>
                <a:ea typeface="Source Code Pro" pitchFamily="34" charset="-122"/>
                <a:cs typeface="Source Code Pro" pitchFamily="34" charset="-120"/>
              </a:rPr>
              <a:t>APPENDIX A7 · USER RESEARCH</a:t>
            </a:r>
            <a:endParaRPr lang="en-US" sz="1300" dirty="0"/>
          </a:p>
        </p:txBody>
      </p:sp>
      <p:sp>
        <p:nvSpPr>
          <p:cNvPr id="24" name="Text 22"/>
          <p:cNvSpPr txBox="1"/>
          <p:nvPr/>
        </p:nvSpPr>
        <p:spPr>
          <a:xfrm>
            <a:off x="1054100" y="711200"/>
            <a:ext cx="10160000" cy="609600"/>
          </a:xfrm>
          <a:prstGeom prst="rect">
            <a:avLst/>
          </a:prstGeom>
          <a:noFill/>
          <a:ln/>
          <a:effectLst>
            <a:outerShdw sx="100000" sy="100000" kx="0" ky="0" algn="bl" rotWithShape="0" blurRad="101600" dist="38100" dir="2700000">
              <a:srgbClr val="2C5C3C">
                <a:alpha val="100000"/>
              </a:srgbClr>
            </a:outerShdw>
          </a:effectLst>
        </p:spPr>
        <p:txBody>
          <a:bodyPr wrap="square" lIns="0" tIns="0" rIns="0" bIns="0" rtlCol="0" anchor="t"/>
          <a:lstStyle/>
          <a:p>
            <a:pPr algn="l" indent="0" marL="0">
              <a:buNone/>
            </a:pPr>
            <a:r>
              <a:rPr lang="en-US" sz="3600" b="1" spc="100" kern="0" dirty="0">
                <a:solidFill>
                  <a:srgbClr val="6EF58A"/>
                </a:solidFill>
                <a:latin typeface="Silkscreen" pitchFamily="34" charset="0"/>
                <a:ea typeface="Silkscreen" pitchFamily="34" charset="-122"/>
                <a:cs typeface="Silkscreen" pitchFamily="34" charset="-120"/>
              </a:rPr>
              <a:t>YOU ASKED, WE BUILT</a:t>
            </a:r>
            <a:endParaRPr lang="en-US" sz="3600" dirty="0"/>
          </a:p>
        </p:txBody>
      </p:sp>
      <p:sp>
        <p:nvSpPr>
          <p:cNvPr id="25" name="Text 23"/>
          <p:cNvSpPr txBox="1"/>
          <p:nvPr/>
        </p:nvSpPr>
        <p:spPr>
          <a:xfrm>
            <a:off x="1079500" y="1409700"/>
            <a:ext cx="10096500" cy="355600"/>
          </a:xfrm>
          <a:prstGeom prst="rect">
            <a:avLst/>
          </a:prstGeom>
          <a:noFill/>
          <a:ln/>
        </p:spPr>
        <p:txBody>
          <a:bodyPr wrap="square" lIns="0" tIns="0" rIns="0" bIns="0" rtlCol="0" anchor="t"/>
          <a:lstStyle/>
          <a:p>
            <a:pPr algn="l" indent="0" marL="0">
              <a:buNone/>
            </a:pPr>
            <a:r>
              <a:rPr lang="en-US" sz="1800" b="1" spc="72" kern="0" dirty="0">
                <a:solidFill>
                  <a:srgbClr val="F7DD7A"/>
                </a:solidFill>
                <a:latin typeface="Source Code Pro" pitchFamily="34" charset="0"/>
                <a:ea typeface="Source Code Pro" pitchFamily="34" charset="-122"/>
                <a:cs typeface="Source Code Pro" pitchFamily="34" charset="-120"/>
              </a:rPr>
              <a:t>Every concern from the survey has an answer, or an honest flag.</a:t>
            </a:r>
            <a:endParaRPr lang="en-US" sz="1800" dirty="0"/>
          </a:p>
        </p:txBody>
      </p:sp>
      <p:sp>
        <p:nvSpPr>
          <p:cNvPr id="26" name="Text 24"/>
          <p:cNvSpPr txBox="1"/>
          <p:nvPr/>
        </p:nvSpPr>
        <p:spPr>
          <a:xfrm>
            <a:off x="1079500" y="6464300"/>
            <a:ext cx="8255000" cy="1905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Source: SafeSpace user survey, 31 respondents, 22–30 June 2026.</a:t>
            </a:r>
            <a:endParaRPr lang="en-US" sz="1000" dirty="0"/>
          </a:p>
        </p:txBody>
      </p:sp>
      <p:graphicFrame>
        <p:nvGraphicFramePr>
          <p:cNvPr id="9" name="concerns table"/>
          <p:cNvGraphicFramePr>
            <a:graphicFrameLocks noGrp="1"/>
          </p:cNvGraphicFramePr>
          <p:nvPr>
            <p:extLst>
              <p:ext uri="{D42A27DB-BD31-4B8C-83A1-F6EECF244321}">
                <p14:modId xmlns:p14="http://schemas.microsoft.com/office/powerpoint/2010/main" val="1579011935"/>
              </p:ext>
            </p:extLst>
          </p:nvPr>
        </p:nvGraphicFramePr>
        <p:xfrm>
          <a:off x="1079500" y="2032000"/>
          <a:ext cx="10033000" cy="914400"/>
        </p:xfrm>
        <a:graphic>
          <a:graphicData uri="http://schemas.openxmlformats.org/drawingml/2006/table">
            <a:tbl>
              <a:tblPr/>
              <a:tblGrid>
                <a:gridCol w="4064000"/>
                <a:gridCol w="4699000"/>
                <a:gridCol w="1270000"/>
              </a:tblGrid>
              <a:tr h="381000">
                <a:tc>
                  <a:txBody>
                    <a:bodyPr/>
                    <a:lstStyle/>
                    <a:p>
                      <a:pPr indent="0" marL="0">
                        <a:buNone/>
                      </a:pPr>
                      <a:r>
                        <a:rPr lang="en-US" sz="1200" b="1" dirty="0">
                          <a:solidFill>
                            <a:srgbClr val="0A0D18"/>
                          </a:solidFill>
                          <a:latin typeface="Source Code Pro" pitchFamily="34" charset="0"/>
                          <a:ea typeface="Source Code Pro" pitchFamily="34" charset="-122"/>
                          <a:cs typeface="Source Code Pro" pitchFamily="34" charset="-120"/>
                        </a:rPr>
                        <a:t>What respondents asked</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F7DD7A"/>
                    </a:solidFill>
                  </a:tcPr>
                </a:tc>
                <a:tc>
                  <a:txBody>
                    <a:bodyPr/>
                    <a:lstStyle/>
                    <a:p>
                      <a:pPr indent="0" marL="0">
                        <a:buNone/>
                      </a:pPr>
                      <a:r>
                        <a:rPr lang="en-US" sz="1200" b="1" dirty="0">
                          <a:solidFill>
                            <a:srgbClr val="0A0D18"/>
                          </a:solidFill>
                          <a:latin typeface="Source Code Pro" pitchFamily="34" charset="0"/>
                          <a:ea typeface="Source Code Pro" pitchFamily="34" charset="-122"/>
                          <a:cs typeface="Source Code Pro" pitchFamily="34" charset="-120"/>
                        </a:rPr>
                        <a:t>How Drill Mode answers</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F7DD7A"/>
                    </a:solidFill>
                  </a:tcPr>
                </a:tc>
                <a:tc>
                  <a:txBody>
                    <a:bodyPr/>
                    <a:lstStyle/>
                    <a:p>
                      <a:pPr indent="0" marL="0">
                        <a:buNone/>
                      </a:pPr>
                      <a:r>
                        <a:rPr lang="en-US" sz="1200" b="1" dirty="0">
                          <a:solidFill>
                            <a:srgbClr val="0A0D18"/>
                          </a:solidFill>
                          <a:latin typeface="Source Code Pro" pitchFamily="34" charset="0"/>
                          <a:ea typeface="Source Code Pro" pitchFamily="34" charset="-122"/>
                          <a:cs typeface="Source Code Pro" pitchFamily="34" charset="-120"/>
                        </a:rPr>
                        <a:t>Status</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F7DD7A"/>
                    </a:solidFill>
                  </a:tcPr>
                </a:tc>
              </a:tr>
              <a:tr h="749300">
                <a:tc>
                  <a:txBody>
                    <a:bodyPr/>
                    <a:lstStyle/>
                    <a:p>
                      <a:pPr indent="0" marL="0">
                        <a:buNone/>
                      </a:pPr>
                      <a:r>
                        <a:rPr lang="en-US" sz="1200" dirty="0">
                          <a:solidFill>
                            <a:srgbClr val="6CCFC4"/>
                          </a:solidFill>
                          <a:latin typeface="Source Code Pro" pitchFamily="34" charset="0"/>
                          <a:ea typeface="Source Code Pro" pitchFamily="34" charset="-122"/>
                          <a:cs typeface="Source Code Pro" pitchFamily="34" charset="-120"/>
                        </a:rPr>
                        <a:t>"Who decides when the drill happens? Will our reactions be recorded and graded?"</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indent="0" marL="0">
                        <a:buNone/>
                      </a:pPr>
                      <a:r>
                        <a:rPr lang="en-US" sz="1200" dirty="0">
                          <a:solidFill>
                            <a:srgbClr val="F4F4F4"/>
                          </a:solidFill>
                          <a:latin typeface="Source Code Pro" pitchFamily="34" charset="0"/>
                          <a:ea typeface="Source Code Pro" pitchFamily="34" charset="-122"/>
                          <a:cs typeface="Source Code Pro" pitchFamily="34" charset="-120"/>
                        </a:rPr>
                        <a:t>Consent first. You start every drill. A personal debrief after each one.</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algn="ctr" indent="0" marL="0">
                        <a:buNone/>
                      </a:pPr>
                      <a:r>
                        <a:rPr lang="en-US" sz="1100" b="1" dirty="0">
                          <a:solidFill>
                            <a:srgbClr val="6EF58A"/>
                          </a:solidFill>
                          <a:latin typeface="Source Code Pro" pitchFamily="34" charset="0"/>
                          <a:ea typeface="Source Code Pro" pitchFamily="34" charset="-122"/>
                          <a:cs typeface="Source Code Pro" pitchFamily="34" charset="-120"/>
                        </a:rPr>
                        <a:t>LIVE</a:t>
                      </a:r>
                      <a:endParaRPr lang="en-US" sz="11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r>
              <a:tr h="749300">
                <a:tc>
                  <a:txBody>
                    <a:bodyPr/>
                    <a:lstStyle/>
                    <a:p>
                      <a:pPr indent="0" marL="0">
                        <a:buNone/>
                      </a:pPr>
                      <a:r>
                        <a:rPr lang="en-US" sz="1200" dirty="0">
                          <a:solidFill>
                            <a:srgbClr val="6CCFC4"/>
                          </a:solidFill>
                          <a:latin typeface="Source Code Pro" pitchFamily="34" charset="0"/>
                          <a:ea typeface="Source Code Pro" pitchFamily="34" charset="-122"/>
                          <a:cs typeface="Source Code Pro" pitchFamily="34" charset="-120"/>
                        </a:rPr>
                        <a:t>"…will their personal data be recorded…"</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indent="0" marL="0">
                        <a:buNone/>
                      </a:pPr>
                      <a:r>
                        <a:rPr lang="en-US" sz="1200" dirty="0">
                          <a:solidFill>
                            <a:srgbClr val="F4F4F4"/>
                          </a:solidFill>
                          <a:latin typeface="Source Code Pro" pitchFamily="34" charset="0"/>
                          <a:ea typeface="Source Code Pro" pitchFamily="34" charset="-122"/>
                          <a:cs typeface="Source Code Pro" pitchFamily="34" charset="-120"/>
                        </a:rPr>
                        <a:t>We store the outcome only, not audio or transcripts. A tripwire ends the call if real data comes up.</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algn="ctr" indent="0" marL="0">
                        <a:buNone/>
                      </a:pPr>
                      <a:r>
                        <a:rPr lang="en-US" sz="1100" b="1" dirty="0">
                          <a:solidFill>
                            <a:srgbClr val="6EF58A"/>
                          </a:solidFill>
                          <a:latin typeface="Source Code Pro" pitchFamily="34" charset="0"/>
                          <a:ea typeface="Source Code Pro" pitchFamily="34" charset="-122"/>
                          <a:cs typeface="Source Code Pro" pitchFamily="34" charset="-120"/>
                        </a:rPr>
                        <a:t>LIVE</a:t>
                      </a:r>
                      <a:endParaRPr lang="en-US" sz="11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r>
              <a:tr h="749300">
                <a:tc>
                  <a:txBody>
                    <a:bodyPr/>
                    <a:lstStyle/>
                    <a:p>
                      <a:pPr indent="0" marL="0">
                        <a:buNone/>
                      </a:pPr>
                      <a:r>
                        <a:rPr lang="en-US" sz="1200" dirty="0">
                          <a:solidFill>
                            <a:srgbClr val="6CCFC4"/>
                          </a:solidFill>
                          <a:latin typeface="Source Code Pro" pitchFamily="34" charset="0"/>
                          <a:ea typeface="Source Code Pro" pitchFamily="34" charset="-122"/>
                          <a:cs typeface="Source Code Pro" pitchFamily="34" charset="-120"/>
                        </a:rPr>
                        <a:t>"No one will willingly take their time and do this kinda stuff"</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indent="0" marL="0">
                        <a:buNone/>
                      </a:pPr>
                      <a:r>
                        <a:rPr lang="en-US" sz="1200" dirty="0">
                          <a:solidFill>
                            <a:srgbClr val="F4F4F4"/>
                          </a:solidFill>
                          <a:latin typeface="Source Code Pro" pitchFamily="34" charset="0"/>
                          <a:ea typeface="Source Code Pro" pitchFamily="34" charset="-122"/>
                          <a:cs typeface="Source Code Pro" pitchFamily="34" charset="-120"/>
                        </a:rPr>
                        <a:t>XP, streaks, coins and a virtual house. One respondent suggested exactly this.</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algn="ctr" indent="0" marL="0">
                        <a:buNone/>
                      </a:pPr>
                      <a:r>
                        <a:rPr lang="en-US" sz="1100" b="1" dirty="0">
                          <a:solidFill>
                            <a:srgbClr val="6EF58A"/>
                          </a:solidFill>
                          <a:latin typeface="Source Code Pro" pitchFamily="34" charset="0"/>
                          <a:ea typeface="Source Code Pro" pitchFamily="34" charset="-122"/>
                          <a:cs typeface="Source Code Pro" pitchFamily="34" charset="-120"/>
                        </a:rPr>
                        <a:t>LIVE</a:t>
                      </a:r>
                      <a:endParaRPr lang="en-US" sz="11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r>
              <a:tr h="749300">
                <a:tc>
                  <a:txBody>
                    <a:bodyPr/>
                    <a:lstStyle/>
                    <a:p>
                      <a:pPr indent="0" marL="0">
                        <a:buNone/>
                      </a:pPr>
                      <a:r>
                        <a:rPr lang="en-US" sz="1200" dirty="0">
                          <a:solidFill>
                            <a:srgbClr val="6CCFC4"/>
                          </a:solidFill>
                          <a:latin typeface="Source Code Pro" pitchFamily="34" charset="0"/>
                          <a:ea typeface="Source Code Pro" pitchFamily="34" charset="-122"/>
                          <a:cs typeface="Source Code Pro" pitchFamily="34" charset="-120"/>
                        </a:rPr>
                        <a:t>"…real messages can be ignored by accident…"</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indent="0" marL="0">
                        <a:buNone/>
                      </a:pPr>
                      <a:r>
                        <a:rPr lang="en-US" sz="1200" dirty="0">
                          <a:solidFill>
                            <a:srgbClr val="F4F4F4"/>
                          </a:solidFill>
                          <a:latin typeface="Source Code Pro" pitchFamily="34" charset="0"/>
                          <a:ea typeface="Source Code Pro" pitchFamily="34" charset="-122"/>
                          <a:cs typeface="Source Code Pro" pitchFamily="34" charset="-120"/>
                        </a:rPr>
                        <a:t>A clear reveal after every drill. We will measure this in the pilot.</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algn="ctr" indent="0" marL="0">
                        <a:buNone/>
                      </a:pPr>
                      <a:r>
                        <a:rPr lang="en-US" sz="1100" b="1" dirty="0">
                          <a:solidFill>
                            <a:srgbClr val="F0445A"/>
                          </a:solidFill>
                          <a:latin typeface="Source Code Pro" pitchFamily="34" charset="0"/>
                          <a:ea typeface="Source Code Pro" pitchFamily="34" charset="-122"/>
                          <a:cs typeface="Source Code Pro" pitchFamily="34" charset="-120"/>
                        </a:rPr>
                        <a:t>OPEN RISK</a:t>
                      </a:r>
                      <a:endParaRPr lang="en-US" sz="11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r>
              <a:tr h="749300">
                <a:tc>
                  <a:txBody>
                    <a:bodyPr/>
                    <a:lstStyle/>
                    <a:p>
                      <a:pPr indent="0" marL="0">
                        <a:buNone/>
                      </a:pPr>
                      <a:r>
                        <a:rPr lang="en-US" sz="1200" dirty="0">
                          <a:solidFill>
                            <a:srgbClr val="6CCFC4"/>
                          </a:solidFill>
                          <a:latin typeface="Source Code Pro" pitchFamily="34" charset="0"/>
                          <a:ea typeface="Source Code Pro" pitchFamily="34" charset="-122"/>
                          <a:cs typeface="Source Code Pro" pitchFamily="34" charset="-120"/>
                        </a:rPr>
                        <a:t>"mix in a few non-scam scenarios" · "age-group specific scenarios"</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indent="0" marL="0">
                        <a:buNone/>
                      </a:pPr>
                      <a:r>
                        <a:rPr lang="en-US" sz="1200" dirty="0">
                          <a:solidFill>
                            <a:srgbClr val="F4F4F4"/>
                          </a:solidFill>
                          <a:latin typeface="Source Code Pro" pitchFamily="34" charset="0"/>
                          <a:ea typeface="Source Code Pro" pitchFamily="34" charset="-122"/>
                          <a:cs typeface="Source Code Pro" pitchFamily="34" charset="-120"/>
                        </a:rPr>
                        <a:t>Next on the scenario roadmap.</a:t>
                      </a:r>
                      <a:endParaRPr lang="en-US" sz="12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c>
                  <a:txBody>
                    <a:bodyPr/>
                    <a:lstStyle/>
                    <a:p>
                      <a:pPr algn="ctr" indent="0" marL="0">
                        <a:buNone/>
                      </a:pPr>
                      <a:r>
                        <a:rPr lang="en-US" sz="1100" b="1" dirty="0">
                          <a:solidFill>
                            <a:srgbClr val="F7DD7A"/>
                          </a:solidFill>
                          <a:latin typeface="Source Code Pro" pitchFamily="34" charset="0"/>
                          <a:ea typeface="Source Code Pro" pitchFamily="34" charset="-122"/>
                          <a:cs typeface="Source Code Pro" pitchFamily="34" charset="-120"/>
                        </a:rPr>
                        <a:t>PLANNED</a:t>
                      </a:r>
                      <a:endParaRPr lang="en-US" sz="1100" dirty="0">
                        <a:latin typeface="Source Code Pro" charset="0"/>
                        <a:ea typeface="Source Code Pro" charset="0"/>
                        <a:cs typeface="Source Code Pro" charset="0"/>
                      </a:endParaRPr>
                    </a:p>
                  </a:txBody>
                  <a:tcPr marL="128016" marR="128016" marT="73152" marB="73152" anchor="ctr">
                    <a:lnL w="12700" cap="flat" cmpd="sng" algn="ctr">
                      <a:solidFill>
                        <a:srgbClr val="2A2F45"/>
                      </a:solidFill>
                      <a:prstDash val="solid"/>
                      <a:round/>
                      <a:headEnd type="none" w="med" len="med"/>
                      <a:tailEnd type="none" w="med" len="med"/>
                    </a:lnL>
                    <a:lnR w="12700" cap="flat" cmpd="sng" algn="ctr">
                      <a:solidFill>
                        <a:srgbClr val="2A2F45"/>
                      </a:solidFill>
                      <a:prstDash val="solid"/>
                      <a:round/>
                      <a:headEnd type="none" w="med" len="med"/>
                      <a:tailEnd type="none" w="med" len="med"/>
                    </a:lnR>
                    <a:lnT w="12700" cap="flat" cmpd="sng" algn="ctr">
                      <a:solidFill>
                        <a:srgbClr val="2A2F45"/>
                      </a:solidFill>
                      <a:prstDash val="solid"/>
                      <a:round/>
                      <a:headEnd type="none" w="med" len="med"/>
                      <a:tailEnd type="none" w="med" len="med"/>
                    </a:lnT>
                    <a:lnB w="12700" cap="flat" cmpd="sng" algn="ctr">
                      <a:solidFill>
                        <a:srgbClr val="2A2F45"/>
                      </a:solidFill>
                      <a:prstDash val="solid"/>
                      <a:round/>
                      <a:headEnd type="none" w="med" len="med"/>
                      <a:tailEnd type="none" w="med" len="med"/>
                    </a:lnB>
                    <a:solidFill>
                      <a:srgbClr val="121626"/>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D18"/>
        </a:solidFill>
      </p:bgPr>
    </p:bg>
    <p:spTree>
      <p:nvGrpSpPr>
        <p:cNvPr id="1" name=""/>
        <p:cNvGrpSpPr/>
        <p:nvPr/>
      </p:nvGrpSpPr>
      <p:grpSpPr>
        <a:xfrm>
          <a:off x="0" y="0"/>
          <a:ext cx="0" cy="0"/>
          <a:chOff x="0" y="0"/>
          <a:chExt cx="0" cy="0"/>
        </a:xfrm>
      </p:grpSpPr>
      <p:sp>
        <p:nvSpPr>
          <p:cNvPr id="2" name="confetti"/>
          <p:cNvSpPr/>
          <p:nvPr/>
        </p:nvSpPr>
        <p:spPr>
          <a:xfrm>
            <a:off x="1926588" y="335074"/>
            <a:ext cx="38100" cy="38100"/>
          </a:xfrm>
          <a:prstGeom prst="rect">
            <a:avLst/>
          </a:prstGeom>
          <a:solidFill>
            <a:srgbClr val="6EF58A"/>
          </a:solidFill>
          <a:ln/>
        </p:spPr>
      </p:sp>
      <p:sp>
        <p:nvSpPr>
          <p:cNvPr id="3" name="confetti"/>
          <p:cNvSpPr/>
          <p:nvPr/>
        </p:nvSpPr>
        <p:spPr>
          <a:xfrm>
            <a:off x="2126995" y="103597"/>
            <a:ext cx="38100" cy="38100"/>
          </a:xfrm>
          <a:prstGeom prst="rect">
            <a:avLst/>
          </a:prstGeom>
          <a:solidFill>
            <a:srgbClr val="F7DD7A"/>
          </a:solidFill>
          <a:ln/>
        </p:spPr>
      </p:sp>
      <p:sp>
        <p:nvSpPr>
          <p:cNvPr id="4" name="confetti"/>
          <p:cNvSpPr/>
          <p:nvPr/>
        </p:nvSpPr>
        <p:spPr>
          <a:xfrm>
            <a:off x="671111" y="283989"/>
            <a:ext cx="38100" cy="38100"/>
          </a:xfrm>
          <a:prstGeom prst="rect">
            <a:avLst/>
          </a:prstGeom>
          <a:solidFill>
            <a:srgbClr val="6CCFC4"/>
          </a:solidFill>
          <a:ln/>
        </p:spPr>
      </p:sp>
      <p:sp>
        <p:nvSpPr>
          <p:cNvPr id="5" name="confetti"/>
          <p:cNvSpPr/>
          <p:nvPr/>
        </p:nvSpPr>
        <p:spPr>
          <a:xfrm>
            <a:off x="797435" y="272999"/>
            <a:ext cx="38100" cy="38100"/>
          </a:xfrm>
          <a:prstGeom prst="rect">
            <a:avLst/>
          </a:prstGeom>
          <a:solidFill>
            <a:srgbClr val="7E4CE0"/>
          </a:solidFill>
          <a:ln/>
        </p:spPr>
      </p:sp>
      <p:sp>
        <p:nvSpPr>
          <p:cNvPr id="6" name="confetti"/>
          <p:cNvSpPr/>
          <p:nvPr/>
        </p:nvSpPr>
        <p:spPr>
          <a:xfrm>
            <a:off x="1172467" y="229377"/>
            <a:ext cx="38100" cy="38100"/>
          </a:xfrm>
          <a:prstGeom prst="rect">
            <a:avLst/>
          </a:prstGeom>
          <a:solidFill>
            <a:srgbClr val="7E4CE0"/>
          </a:solidFill>
          <a:ln/>
        </p:spPr>
      </p:sp>
      <p:sp>
        <p:nvSpPr>
          <p:cNvPr id="7" name="confetti"/>
          <p:cNvSpPr/>
          <p:nvPr/>
        </p:nvSpPr>
        <p:spPr>
          <a:xfrm>
            <a:off x="462707" y="311874"/>
            <a:ext cx="38100" cy="38100"/>
          </a:xfrm>
          <a:prstGeom prst="rect">
            <a:avLst/>
          </a:prstGeom>
          <a:solidFill>
            <a:srgbClr val="7E4CE0"/>
          </a:solidFill>
          <a:ln/>
        </p:spPr>
      </p:sp>
      <p:sp>
        <p:nvSpPr>
          <p:cNvPr id="8" name="confetti"/>
          <p:cNvSpPr/>
          <p:nvPr/>
        </p:nvSpPr>
        <p:spPr>
          <a:xfrm>
            <a:off x="1906656" y="298238"/>
            <a:ext cx="38100" cy="38100"/>
          </a:xfrm>
          <a:prstGeom prst="rect">
            <a:avLst/>
          </a:prstGeom>
          <a:solidFill>
            <a:srgbClr val="6CCFC4"/>
          </a:solidFill>
          <a:ln/>
        </p:spPr>
      </p:sp>
      <p:sp>
        <p:nvSpPr>
          <p:cNvPr id="9" name="confetti"/>
          <p:cNvSpPr/>
          <p:nvPr/>
        </p:nvSpPr>
        <p:spPr>
          <a:xfrm>
            <a:off x="11790813" y="520830"/>
            <a:ext cx="38100" cy="38100"/>
          </a:xfrm>
          <a:prstGeom prst="rect">
            <a:avLst/>
          </a:prstGeom>
          <a:solidFill>
            <a:srgbClr val="F0445A"/>
          </a:solidFill>
          <a:ln/>
        </p:spPr>
      </p:sp>
      <p:sp>
        <p:nvSpPr>
          <p:cNvPr id="10" name="confetti"/>
          <p:cNvSpPr/>
          <p:nvPr/>
        </p:nvSpPr>
        <p:spPr>
          <a:xfrm>
            <a:off x="11255679" y="354855"/>
            <a:ext cx="38100" cy="38100"/>
          </a:xfrm>
          <a:prstGeom prst="rect">
            <a:avLst/>
          </a:prstGeom>
          <a:solidFill>
            <a:srgbClr val="F7DD7A"/>
          </a:solidFill>
          <a:ln/>
        </p:spPr>
      </p:sp>
      <p:sp>
        <p:nvSpPr>
          <p:cNvPr id="11" name="confetti"/>
          <p:cNvSpPr/>
          <p:nvPr/>
        </p:nvSpPr>
        <p:spPr>
          <a:xfrm>
            <a:off x="11159753" y="187558"/>
            <a:ext cx="38100" cy="38100"/>
          </a:xfrm>
          <a:prstGeom prst="rect">
            <a:avLst/>
          </a:prstGeom>
          <a:solidFill>
            <a:srgbClr val="7E4CE0"/>
          </a:solidFill>
          <a:ln/>
        </p:spPr>
      </p:sp>
      <p:sp>
        <p:nvSpPr>
          <p:cNvPr id="12" name="confetti"/>
          <p:cNvSpPr/>
          <p:nvPr/>
        </p:nvSpPr>
        <p:spPr>
          <a:xfrm>
            <a:off x="10169535" y="257062"/>
            <a:ext cx="38100" cy="38100"/>
          </a:xfrm>
          <a:prstGeom prst="rect">
            <a:avLst/>
          </a:prstGeom>
          <a:solidFill>
            <a:srgbClr val="6CCFC4"/>
          </a:solidFill>
          <a:ln/>
        </p:spPr>
      </p:sp>
      <p:sp>
        <p:nvSpPr>
          <p:cNvPr id="13" name="confetti"/>
          <p:cNvSpPr/>
          <p:nvPr/>
        </p:nvSpPr>
        <p:spPr>
          <a:xfrm>
            <a:off x="11523525" y="229994"/>
            <a:ext cx="38100" cy="38100"/>
          </a:xfrm>
          <a:prstGeom prst="rect">
            <a:avLst/>
          </a:prstGeom>
          <a:solidFill>
            <a:srgbClr val="F7DD7A"/>
          </a:solidFill>
          <a:ln/>
        </p:spPr>
      </p:sp>
      <p:sp>
        <p:nvSpPr>
          <p:cNvPr id="14" name="confetti"/>
          <p:cNvSpPr/>
          <p:nvPr/>
        </p:nvSpPr>
        <p:spPr>
          <a:xfrm>
            <a:off x="11602224" y="344478"/>
            <a:ext cx="38100" cy="38100"/>
          </a:xfrm>
          <a:prstGeom prst="rect">
            <a:avLst/>
          </a:prstGeom>
          <a:solidFill>
            <a:srgbClr val="F0445A"/>
          </a:solidFill>
          <a:ln/>
        </p:spPr>
      </p:sp>
      <p:sp>
        <p:nvSpPr>
          <p:cNvPr id="15" name="confetti"/>
          <p:cNvSpPr/>
          <p:nvPr/>
        </p:nvSpPr>
        <p:spPr>
          <a:xfrm>
            <a:off x="11358131" y="267139"/>
            <a:ext cx="38100" cy="38100"/>
          </a:xfrm>
          <a:prstGeom prst="rect">
            <a:avLst/>
          </a:prstGeom>
          <a:solidFill>
            <a:srgbClr val="6CCFC4"/>
          </a:solidFill>
          <a:ln/>
        </p:spPr>
      </p:sp>
      <p:sp>
        <p:nvSpPr>
          <p:cNvPr id="16" name="confetti"/>
          <p:cNvSpPr/>
          <p:nvPr/>
        </p:nvSpPr>
        <p:spPr>
          <a:xfrm>
            <a:off x="12042582" y="6480088"/>
            <a:ext cx="38100" cy="38100"/>
          </a:xfrm>
          <a:prstGeom prst="rect">
            <a:avLst/>
          </a:prstGeom>
          <a:solidFill>
            <a:srgbClr val="7E4CE0"/>
          </a:solidFill>
          <a:ln/>
        </p:spPr>
      </p:sp>
      <p:sp>
        <p:nvSpPr>
          <p:cNvPr id="17" name="confetti"/>
          <p:cNvSpPr/>
          <p:nvPr/>
        </p:nvSpPr>
        <p:spPr>
          <a:xfrm>
            <a:off x="11936524" y="6756002"/>
            <a:ext cx="38100" cy="38100"/>
          </a:xfrm>
          <a:prstGeom prst="rect">
            <a:avLst/>
          </a:prstGeom>
          <a:solidFill>
            <a:srgbClr val="F0445A"/>
          </a:solidFill>
          <a:ln/>
        </p:spPr>
      </p:sp>
      <p:sp>
        <p:nvSpPr>
          <p:cNvPr id="18" name="confetti"/>
          <p:cNvSpPr/>
          <p:nvPr/>
        </p:nvSpPr>
        <p:spPr>
          <a:xfrm>
            <a:off x="11913368" y="6356316"/>
            <a:ext cx="38100" cy="38100"/>
          </a:xfrm>
          <a:prstGeom prst="rect">
            <a:avLst/>
          </a:prstGeom>
          <a:solidFill>
            <a:srgbClr val="7E4CE0"/>
          </a:solidFill>
          <a:ln/>
        </p:spPr>
      </p:sp>
      <p:sp>
        <p:nvSpPr>
          <p:cNvPr id="19" name="confetti"/>
          <p:cNvSpPr/>
          <p:nvPr/>
        </p:nvSpPr>
        <p:spPr>
          <a:xfrm>
            <a:off x="11528614" y="6784924"/>
            <a:ext cx="38100" cy="38100"/>
          </a:xfrm>
          <a:prstGeom prst="rect">
            <a:avLst/>
          </a:prstGeom>
          <a:solidFill>
            <a:srgbClr val="6CCFC4"/>
          </a:solidFill>
          <a:ln/>
        </p:spPr>
      </p:sp>
      <p:sp>
        <p:nvSpPr>
          <p:cNvPr id="20" name="confetti"/>
          <p:cNvSpPr/>
          <p:nvPr/>
        </p:nvSpPr>
        <p:spPr>
          <a:xfrm>
            <a:off x="11861764" y="6434216"/>
            <a:ext cx="38100" cy="38100"/>
          </a:xfrm>
          <a:prstGeom prst="rect">
            <a:avLst/>
          </a:prstGeom>
          <a:solidFill>
            <a:srgbClr val="6EF58A"/>
          </a:solidFill>
          <a:ln/>
        </p:spPr>
      </p:sp>
      <p:sp>
        <p:nvSpPr>
          <p:cNvPr id="21" name="confetti"/>
          <p:cNvSpPr/>
          <p:nvPr/>
        </p:nvSpPr>
        <p:spPr>
          <a:xfrm>
            <a:off x="11706316" y="6808084"/>
            <a:ext cx="38100" cy="38100"/>
          </a:xfrm>
          <a:prstGeom prst="rect">
            <a:avLst/>
          </a:prstGeom>
          <a:solidFill>
            <a:srgbClr val="6CCFC4"/>
          </a:solidFill>
          <a:ln/>
        </p:spPr>
      </p:sp>
      <p:sp>
        <p:nvSpPr>
          <p:cNvPr id="22" name="confetti"/>
          <p:cNvSpPr/>
          <p:nvPr/>
        </p:nvSpPr>
        <p:spPr>
          <a:xfrm>
            <a:off x="12141772" y="6298920"/>
            <a:ext cx="38100" cy="38100"/>
          </a:xfrm>
          <a:prstGeom prst="rect">
            <a:avLst/>
          </a:prstGeom>
          <a:solidFill>
            <a:srgbClr val="6CCFC4"/>
          </a:solidFill>
          <a:ln/>
        </p:spPr>
      </p:sp>
      <p:sp>
        <p:nvSpPr>
          <p:cNvPr id="23" name="Text 21"/>
          <p:cNvSpPr txBox="1"/>
          <p:nvPr/>
        </p:nvSpPr>
        <p:spPr>
          <a:xfrm>
            <a:off x="1079500" y="457200"/>
            <a:ext cx="6350000" cy="254000"/>
          </a:xfrm>
          <a:prstGeom prst="rect">
            <a:avLst/>
          </a:prstGeom>
          <a:noFill/>
          <a:ln/>
        </p:spPr>
        <p:txBody>
          <a:bodyPr wrap="square" lIns="0" tIns="0" rIns="0" bIns="0" rtlCol="0" anchor="t"/>
          <a:lstStyle/>
          <a:p>
            <a:pPr algn="l" indent="0" marL="0">
              <a:buNone/>
            </a:pPr>
            <a:r>
              <a:rPr lang="en-US" sz="1300" b="1" spc="156" kern="0" dirty="0">
                <a:solidFill>
                  <a:srgbClr val="6CCFC4"/>
                </a:solidFill>
                <a:latin typeface="Source Code Pro" pitchFamily="34" charset="0"/>
                <a:ea typeface="Source Code Pro" pitchFamily="34" charset="-122"/>
                <a:cs typeface="Source Code Pro" pitchFamily="34" charset="-120"/>
              </a:rPr>
              <a:t>APPENDIX A8 · USER RESEARCH</a:t>
            </a:r>
            <a:endParaRPr lang="en-US" sz="1300" dirty="0"/>
          </a:p>
        </p:txBody>
      </p:sp>
      <p:sp>
        <p:nvSpPr>
          <p:cNvPr id="24" name="Text 22"/>
          <p:cNvSpPr txBox="1"/>
          <p:nvPr/>
        </p:nvSpPr>
        <p:spPr>
          <a:xfrm>
            <a:off x="1054100" y="711200"/>
            <a:ext cx="10160000" cy="609600"/>
          </a:xfrm>
          <a:prstGeom prst="rect">
            <a:avLst/>
          </a:prstGeom>
          <a:noFill/>
          <a:ln/>
          <a:effectLst>
            <a:outerShdw sx="100000" sy="100000" kx="0" ky="0" algn="bl" rotWithShape="0" blurRad="101600" dist="38100" dir="2700000">
              <a:srgbClr val="2C5C3C">
                <a:alpha val="100000"/>
              </a:srgbClr>
            </a:outerShdw>
          </a:effectLst>
        </p:spPr>
        <p:txBody>
          <a:bodyPr wrap="square" lIns="0" tIns="0" rIns="0" bIns="0" rtlCol="0" anchor="t"/>
          <a:lstStyle/>
          <a:p>
            <a:pPr algn="l" indent="0" marL="0">
              <a:buNone/>
            </a:pPr>
            <a:r>
              <a:rPr lang="en-US" sz="3600" b="1" spc="100" kern="0" dirty="0">
                <a:solidFill>
                  <a:srgbClr val="6EF58A"/>
                </a:solidFill>
                <a:latin typeface="Silkscreen" pitchFamily="34" charset="0"/>
                <a:ea typeface="Silkscreen" pitchFamily="34" charset="-122"/>
                <a:cs typeface="Silkscreen" pitchFamily="34" charset="-120"/>
              </a:rPr>
              <a:t>IN THEIR WORDS</a:t>
            </a:r>
            <a:endParaRPr lang="en-US" sz="3600" dirty="0"/>
          </a:p>
        </p:txBody>
      </p:sp>
      <p:sp>
        <p:nvSpPr>
          <p:cNvPr id="25" name="Text 23"/>
          <p:cNvSpPr txBox="1"/>
          <p:nvPr/>
        </p:nvSpPr>
        <p:spPr>
          <a:xfrm>
            <a:off x="1079500" y="1409700"/>
            <a:ext cx="10096500" cy="355600"/>
          </a:xfrm>
          <a:prstGeom prst="rect">
            <a:avLst/>
          </a:prstGeom>
          <a:noFill/>
          <a:ln/>
        </p:spPr>
        <p:txBody>
          <a:bodyPr wrap="square" lIns="0" tIns="0" rIns="0" bIns="0" rtlCol="0" anchor="t"/>
          <a:lstStyle/>
          <a:p>
            <a:pPr algn="l" indent="0" marL="0">
              <a:buNone/>
            </a:pPr>
            <a:r>
              <a:rPr lang="en-US" sz="1800" b="1" spc="72" kern="0" dirty="0">
                <a:solidFill>
                  <a:srgbClr val="F7DD7A"/>
                </a:solidFill>
                <a:latin typeface="Source Code Pro" pitchFamily="34" charset="0"/>
                <a:ea typeface="Source Code Pro" pitchFamily="34" charset="-122"/>
                <a:cs typeface="Source Code Pro" pitchFamily="34" charset="-120"/>
              </a:rPr>
              <a:t>What people told us, the good and the hard.</a:t>
            </a:r>
            <a:endParaRPr lang="en-US" sz="1800" dirty="0"/>
          </a:p>
        </p:txBody>
      </p:sp>
      <p:sp>
        <p:nvSpPr>
          <p:cNvPr id="26" name="Text 24"/>
          <p:cNvSpPr txBox="1"/>
          <p:nvPr/>
        </p:nvSpPr>
        <p:spPr>
          <a:xfrm>
            <a:off x="1079500" y="6464300"/>
            <a:ext cx="8255000" cy="190500"/>
          </a:xfrm>
          <a:prstGeom prst="rect">
            <a:avLst/>
          </a:prstGeom>
          <a:noFill/>
          <a:ln/>
        </p:spPr>
        <p:txBody>
          <a:bodyPr wrap="square" lIns="0" tIns="0" rIns="0" bIns="0" rtlCol="0" anchor="t"/>
          <a:lstStyle/>
          <a:p>
            <a:pPr algn="l" indent="0" marL="0">
              <a:buNone/>
            </a:pPr>
            <a:r>
              <a:rPr lang="en-US" sz="1000" spc="40" kern="0" dirty="0">
                <a:solidFill>
                  <a:srgbClr val="8E95AD"/>
                </a:solidFill>
                <a:latin typeface="Source Code Pro" pitchFamily="34" charset="0"/>
                <a:ea typeface="Source Code Pro" pitchFamily="34" charset="-122"/>
                <a:cs typeface="Source Code Pro" pitchFamily="34" charset="-120"/>
              </a:rPr>
              <a:t>Source: SafeSpace user survey, 31 respondents, 22–30 June 2026.</a:t>
            </a:r>
            <a:endParaRPr lang="en-US" sz="1000" dirty="0"/>
          </a:p>
        </p:txBody>
      </p:sp>
      <p:sp>
        <p:nvSpPr>
          <p:cNvPr id="28" name="quote 1"/>
          <p:cNvSpPr/>
          <p:nvPr/>
        </p:nvSpPr>
        <p:spPr>
          <a:xfrm>
            <a:off x="1079500" y="2032000"/>
            <a:ext cx="4921250" cy="1968500"/>
          </a:xfrm>
          <a:prstGeom prst="rect">
            <a:avLst/>
          </a:prstGeom>
          <a:solidFill>
            <a:srgbClr val="0E2418"/>
          </a:solidFill>
          <a:ln w="19050">
            <a:solidFill>
              <a:srgbClr val="6EF58A"/>
            </a:solidFill>
            <a:prstDash val="solid"/>
          </a:ln>
        </p:spPr>
      </p:sp>
      <p:sp>
        <p:nvSpPr>
          <p:cNvPr id="29" name="Text 26"/>
          <p:cNvSpPr txBox="1"/>
          <p:nvPr/>
        </p:nvSpPr>
        <p:spPr>
          <a:xfrm>
            <a:off x="1308100" y="2222500"/>
            <a:ext cx="2540000" cy="215900"/>
          </a:xfrm>
          <a:prstGeom prst="rect">
            <a:avLst/>
          </a:prstGeom>
          <a:noFill/>
          <a:ln/>
        </p:spPr>
        <p:txBody>
          <a:bodyPr wrap="square" lIns="0" tIns="0" rIns="0" bIns="0" rtlCol="0" anchor="t"/>
          <a:lstStyle/>
          <a:p>
            <a:pPr algn="l" indent="0" marL="0">
              <a:buNone/>
            </a:pPr>
            <a:r>
              <a:rPr lang="en-US" sz="1100" b="1" spc="132" kern="0" dirty="0">
                <a:solidFill>
                  <a:srgbClr val="6EF58A"/>
                </a:solidFill>
                <a:latin typeface="Source Code Pro" pitchFamily="34" charset="0"/>
                <a:ea typeface="Source Code Pro" pitchFamily="34" charset="-122"/>
                <a:cs typeface="Source Code Pro" pitchFamily="34" charset="-120"/>
              </a:rPr>
              <a:t>SUPPORT</a:t>
            </a:r>
            <a:endParaRPr lang="en-US" sz="1100" dirty="0"/>
          </a:p>
        </p:txBody>
      </p:sp>
      <p:sp>
        <p:nvSpPr>
          <p:cNvPr id="30" name="Text 27"/>
          <p:cNvSpPr txBox="1"/>
          <p:nvPr/>
        </p:nvSpPr>
        <p:spPr>
          <a:xfrm>
            <a:off x="1308100" y="2565400"/>
            <a:ext cx="4445000" cy="1270000"/>
          </a:xfrm>
          <a:prstGeom prst="rect">
            <a:avLst/>
          </a:prstGeom>
          <a:noFill/>
          <a:ln/>
        </p:spPr>
        <p:txBody>
          <a:bodyPr wrap="square" lIns="0" tIns="0" rIns="0" bIns="0" rtlCol="0" anchor="t"/>
          <a:lstStyle/>
          <a:p>
            <a:pPr algn="l" indent="0" marL="0">
              <a:lnSpc>
                <a:spcPct val="125000"/>
              </a:lnSpc>
              <a:buNone/>
            </a:pPr>
            <a:r>
              <a:rPr lang="en-US" sz="1600" spc="64" kern="0" dirty="0">
                <a:solidFill>
                  <a:srgbClr val="F4F4F4"/>
                </a:solidFill>
                <a:latin typeface="Source Code Pro" pitchFamily="34" charset="0"/>
                <a:ea typeface="Source Code Pro" pitchFamily="34" charset="-122"/>
                <a:cs typeface="Source Code Pro" pitchFamily="34" charset="-120"/>
              </a:rPr>
              <a:t>"Making it game like with rewards to earn may help it gain better adoption"</a:t>
            </a:r>
            <a:endParaRPr lang="en-US" sz="1600" dirty="0"/>
          </a:p>
        </p:txBody>
      </p:sp>
      <p:sp>
        <p:nvSpPr>
          <p:cNvPr id="31" name="quote 2"/>
          <p:cNvSpPr/>
          <p:nvPr/>
        </p:nvSpPr>
        <p:spPr>
          <a:xfrm>
            <a:off x="6191250" y="2032000"/>
            <a:ext cx="4921250" cy="1968500"/>
          </a:xfrm>
          <a:prstGeom prst="rect">
            <a:avLst/>
          </a:prstGeom>
          <a:solidFill>
            <a:srgbClr val="0E2418"/>
          </a:solidFill>
          <a:ln w="19050">
            <a:solidFill>
              <a:srgbClr val="6EF58A"/>
            </a:solidFill>
            <a:prstDash val="solid"/>
          </a:ln>
        </p:spPr>
      </p:sp>
      <p:sp>
        <p:nvSpPr>
          <p:cNvPr id="32" name="Text 29"/>
          <p:cNvSpPr txBox="1"/>
          <p:nvPr/>
        </p:nvSpPr>
        <p:spPr>
          <a:xfrm>
            <a:off x="6419850" y="2222500"/>
            <a:ext cx="2540000" cy="215900"/>
          </a:xfrm>
          <a:prstGeom prst="rect">
            <a:avLst/>
          </a:prstGeom>
          <a:noFill/>
          <a:ln/>
        </p:spPr>
        <p:txBody>
          <a:bodyPr wrap="square" lIns="0" tIns="0" rIns="0" bIns="0" rtlCol="0" anchor="t"/>
          <a:lstStyle/>
          <a:p>
            <a:pPr algn="l" indent="0" marL="0">
              <a:buNone/>
            </a:pPr>
            <a:r>
              <a:rPr lang="en-US" sz="1100" b="1" spc="132" kern="0" dirty="0">
                <a:solidFill>
                  <a:srgbClr val="6EF58A"/>
                </a:solidFill>
                <a:latin typeface="Source Code Pro" pitchFamily="34" charset="0"/>
                <a:ea typeface="Source Code Pro" pitchFamily="34" charset="-122"/>
                <a:cs typeface="Source Code Pro" pitchFamily="34" charset="-120"/>
              </a:rPr>
              <a:t>SUPPORT</a:t>
            </a:r>
            <a:endParaRPr lang="en-US" sz="1100" dirty="0"/>
          </a:p>
        </p:txBody>
      </p:sp>
      <p:sp>
        <p:nvSpPr>
          <p:cNvPr id="33" name="Text 30"/>
          <p:cNvSpPr txBox="1"/>
          <p:nvPr/>
        </p:nvSpPr>
        <p:spPr>
          <a:xfrm>
            <a:off x="6419850" y="2565400"/>
            <a:ext cx="4445000" cy="1270000"/>
          </a:xfrm>
          <a:prstGeom prst="rect">
            <a:avLst/>
          </a:prstGeom>
          <a:noFill/>
          <a:ln/>
        </p:spPr>
        <p:txBody>
          <a:bodyPr wrap="square" lIns="0" tIns="0" rIns="0" bIns="0" rtlCol="0" anchor="t"/>
          <a:lstStyle/>
          <a:p>
            <a:pPr algn="l" indent="0" marL="0">
              <a:lnSpc>
                <a:spcPct val="125000"/>
              </a:lnSpc>
              <a:buNone/>
            </a:pPr>
            <a:r>
              <a:rPr lang="en-US" sz="1600" spc="64" kern="0" dirty="0">
                <a:solidFill>
                  <a:srgbClr val="F4F4F4"/>
                </a:solidFill>
                <a:latin typeface="Source Code Pro" pitchFamily="34" charset="0"/>
                <a:ea typeface="Source Code Pro" pitchFamily="34" charset="-122"/>
                <a:cs typeface="Source Code Pro" pitchFamily="34" charset="-120"/>
              </a:rPr>
              <a:t>"It's helpful to act as training wheels… particularly children and elderly"</a:t>
            </a:r>
            <a:endParaRPr lang="en-US" sz="1600" dirty="0"/>
          </a:p>
        </p:txBody>
      </p:sp>
      <p:sp>
        <p:nvSpPr>
          <p:cNvPr id="34" name="quote 3"/>
          <p:cNvSpPr/>
          <p:nvPr/>
        </p:nvSpPr>
        <p:spPr>
          <a:xfrm>
            <a:off x="1079500" y="4191000"/>
            <a:ext cx="4921250" cy="1968500"/>
          </a:xfrm>
          <a:prstGeom prst="rect">
            <a:avLst/>
          </a:prstGeom>
          <a:solidFill>
            <a:srgbClr val="2C0A28"/>
          </a:solidFill>
          <a:ln w="19050">
            <a:solidFill>
              <a:srgbClr val="E0409E"/>
            </a:solidFill>
            <a:prstDash val="solid"/>
          </a:ln>
        </p:spPr>
      </p:sp>
      <p:sp>
        <p:nvSpPr>
          <p:cNvPr id="35" name="Text 32"/>
          <p:cNvSpPr txBox="1"/>
          <p:nvPr/>
        </p:nvSpPr>
        <p:spPr>
          <a:xfrm>
            <a:off x="1308100" y="4381500"/>
            <a:ext cx="2540000" cy="215900"/>
          </a:xfrm>
          <a:prstGeom prst="rect">
            <a:avLst/>
          </a:prstGeom>
          <a:noFill/>
          <a:ln/>
        </p:spPr>
        <p:txBody>
          <a:bodyPr wrap="square" lIns="0" tIns="0" rIns="0" bIns="0" rtlCol="0" anchor="t"/>
          <a:lstStyle/>
          <a:p>
            <a:pPr algn="l" indent="0" marL="0">
              <a:buNone/>
            </a:pPr>
            <a:r>
              <a:rPr lang="en-US" sz="1100" b="1" spc="132" kern="0" dirty="0">
                <a:solidFill>
                  <a:srgbClr val="E0409E"/>
                </a:solidFill>
                <a:latin typeface="Source Code Pro" pitchFamily="34" charset="0"/>
                <a:ea typeface="Source Code Pro" pitchFamily="34" charset="-122"/>
                <a:cs typeface="Source Code Pro" pitchFamily="34" charset="-120"/>
              </a:rPr>
              <a:t>CHALLENGE</a:t>
            </a:r>
            <a:endParaRPr lang="en-US" sz="1100" dirty="0"/>
          </a:p>
        </p:txBody>
      </p:sp>
      <p:sp>
        <p:nvSpPr>
          <p:cNvPr id="36" name="Text 33"/>
          <p:cNvSpPr txBox="1"/>
          <p:nvPr/>
        </p:nvSpPr>
        <p:spPr>
          <a:xfrm>
            <a:off x="1308100" y="4724400"/>
            <a:ext cx="4445000" cy="1270000"/>
          </a:xfrm>
          <a:prstGeom prst="rect">
            <a:avLst/>
          </a:prstGeom>
          <a:noFill/>
          <a:ln/>
        </p:spPr>
        <p:txBody>
          <a:bodyPr wrap="square" lIns="0" tIns="0" rIns="0" bIns="0" rtlCol="0" anchor="t"/>
          <a:lstStyle/>
          <a:p>
            <a:pPr algn="l" indent="0" marL="0">
              <a:lnSpc>
                <a:spcPct val="125000"/>
              </a:lnSpc>
              <a:buNone/>
            </a:pPr>
            <a:r>
              <a:rPr lang="en-US" sz="1600" spc="64" kern="0" dirty="0">
                <a:solidFill>
                  <a:srgbClr val="F4F4F4"/>
                </a:solidFill>
                <a:latin typeface="Source Code Pro" pitchFamily="34" charset="0"/>
                <a:ea typeface="Source Code Pro" pitchFamily="34" charset="-122"/>
                <a:cs typeface="Source Code Pro" pitchFamily="34" charset="-120"/>
              </a:rPr>
              <a:t>"I think it has to feel real enough for people to find it useful."</a:t>
            </a:r>
            <a:endParaRPr lang="en-US" sz="1600" dirty="0"/>
          </a:p>
        </p:txBody>
      </p:sp>
      <p:sp>
        <p:nvSpPr>
          <p:cNvPr id="37" name="quote 4"/>
          <p:cNvSpPr/>
          <p:nvPr/>
        </p:nvSpPr>
        <p:spPr>
          <a:xfrm>
            <a:off x="6191250" y="4191000"/>
            <a:ext cx="4921250" cy="1968500"/>
          </a:xfrm>
          <a:prstGeom prst="rect">
            <a:avLst/>
          </a:prstGeom>
          <a:solidFill>
            <a:srgbClr val="2C0A28"/>
          </a:solidFill>
          <a:ln w="19050">
            <a:solidFill>
              <a:srgbClr val="E0409E"/>
            </a:solidFill>
            <a:prstDash val="solid"/>
          </a:ln>
        </p:spPr>
      </p:sp>
      <p:sp>
        <p:nvSpPr>
          <p:cNvPr id="38" name="Text 35"/>
          <p:cNvSpPr txBox="1"/>
          <p:nvPr/>
        </p:nvSpPr>
        <p:spPr>
          <a:xfrm>
            <a:off x="6419850" y="4381500"/>
            <a:ext cx="2540000" cy="215900"/>
          </a:xfrm>
          <a:prstGeom prst="rect">
            <a:avLst/>
          </a:prstGeom>
          <a:noFill/>
          <a:ln/>
        </p:spPr>
        <p:txBody>
          <a:bodyPr wrap="square" lIns="0" tIns="0" rIns="0" bIns="0" rtlCol="0" anchor="t"/>
          <a:lstStyle/>
          <a:p>
            <a:pPr algn="l" indent="0" marL="0">
              <a:buNone/>
            </a:pPr>
            <a:r>
              <a:rPr lang="en-US" sz="1100" b="1" spc="132" kern="0" dirty="0">
                <a:solidFill>
                  <a:srgbClr val="E0409E"/>
                </a:solidFill>
                <a:latin typeface="Source Code Pro" pitchFamily="34" charset="0"/>
                <a:ea typeface="Source Code Pro" pitchFamily="34" charset="-122"/>
                <a:cs typeface="Source Code Pro" pitchFamily="34" charset="-120"/>
              </a:rPr>
              <a:t>CHALLENGE</a:t>
            </a:r>
            <a:endParaRPr lang="en-US" sz="1100" dirty="0"/>
          </a:p>
        </p:txBody>
      </p:sp>
      <p:sp>
        <p:nvSpPr>
          <p:cNvPr id="39" name="Text 36"/>
          <p:cNvSpPr txBox="1"/>
          <p:nvPr/>
        </p:nvSpPr>
        <p:spPr>
          <a:xfrm>
            <a:off x="6419850" y="4724400"/>
            <a:ext cx="4445000" cy="1270000"/>
          </a:xfrm>
          <a:prstGeom prst="rect">
            <a:avLst/>
          </a:prstGeom>
          <a:noFill/>
          <a:ln/>
        </p:spPr>
        <p:txBody>
          <a:bodyPr wrap="square" lIns="0" tIns="0" rIns="0" bIns="0" rtlCol="0" anchor="t"/>
          <a:lstStyle/>
          <a:p>
            <a:pPr algn="l" indent="0" marL="0">
              <a:lnSpc>
                <a:spcPct val="125000"/>
              </a:lnSpc>
              <a:buNone/>
            </a:pPr>
            <a:r>
              <a:rPr lang="en-US" sz="1600" spc="64" kern="0" dirty="0">
                <a:solidFill>
                  <a:srgbClr val="F4F4F4"/>
                </a:solidFill>
                <a:latin typeface="Source Code Pro" pitchFamily="34" charset="0"/>
                <a:ea typeface="Source Code Pro" pitchFamily="34" charset="-122"/>
                <a:cs typeface="Source Code Pro" pitchFamily="34" charset="-120"/>
              </a:rPr>
              <a:t>"Good in practice but people may not care enough to adopt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SafeSpace Drill Mode: Appendix, user research</dc:title>
  <dc:subject>PptxGenJS Presentation</dc:subject>
  <dc:creator>PptxGenJS</dc:creator>
  <cp:lastModifiedBy>PptxGenJS</cp:lastModifiedBy>
  <cp:revision>1</cp:revision>
  <dcterms:created xsi:type="dcterms:W3CDTF">2026-10-20T09:16:09Z</dcterms:created>
  <dcterms:modified xsi:type="dcterms:W3CDTF">2026-10-20T09:16:09Z</dcterms:modified>
</cp:coreProperties>
</file>