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never charge families. Charging them would be the one thing that stops them using it. Government pays per programme licence, and banks and telcos co-fund pilots. In return, agencies get anonymised results showing whether people are getting harder to scam. We start with a grant-funded pilot and turn it into a licence once we have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GovTech just launched Scam Vaccine, which validates that practice works. It gives individuals surprise drills built from the newest scams. Drill Mode does the other half: it brings the whole family in, makes practice a habit, and makes talking about scams normal.
If asked: Drill Mode could become the family layer on top of Scam Vaccine.
Sources: scamvaccine.gov.sg; The Straits Times,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tti"/>
          <p:cNvSpPr/>
          <p:nvPr/>
        </p:nvSpPr>
        <p:spPr>
          <a:xfrm>
            <a:off x="1121089" y="320491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3" name="confetti"/>
          <p:cNvSpPr/>
          <p:nvPr/>
        </p:nvSpPr>
        <p:spPr>
          <a:xfrm>
            <a:off x="557732" y="253294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4" name="confetti"/>
          <p:cNvSpPr/>
          <p:nvPr/>
        </p:nvSpPr>
        <p:spPr>
          <a:xfrm>
            <a:off x="179583" y="502275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5" name="confetti"/>
          <p:cNvSpPr/>
          <p:nvPr/>
        </p:nvSpPr>
        <p:spPr>
          <a:xfrm>
            <a:off x="939143" y="162557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6" name="confetti"/>
          <p:cNvSpPr/>
          <p:nvPr/>
        </p:nvSpPr>
        <p:spPr>
          <a:xfrm>
            <a:off x="1502912" y="43766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7" name="confetti"/>
          <p:cNvSpPr/>
          <p:nvPr/>
        </p:nvSpPr>
        <p:spPr>
          <a:xfrm>
            <a:off x="537388" y="384028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8" name="confetti"/>
          <p:cNvSpPr/>
          <p:nvPr/>
        </p:nvSpPr>
        <p:spPr>
          <a:xfrm>
            <a:off x="1281073" y="278467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" name="confetti"/>
          <p:cNvSpPr/>
          <p:nvPr/>
        </p:nvSpPr>
        <p:spPr>
          <a:xfrm>
            <a:off x="114467" y="536707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10" name="confetti"/>
          <p:cNvSpPr/>
          <p:nvPr/>
        </p:nvSpPr>
        <p:spPr>
          <a:xfrm>
            <a:off x="276068" y="253875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11" name="confetti"/>
          <p:cNvSpPr/>
          <p:nvPr/>
        </p:nvSpPr>
        <p:spPr>
          <a:xfrm>
            <a:off x="10029441" y="665541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12" name="confetti"/>
          <p:cNvSpPr/>
          <p:nvPr/>
        </p:nvSpPr>
        <p:spPr>
          <a:xfrm>
            <a:off x="11316879" y="445811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13" name="confetti"/>
          <p:cNvSpPr/>
          <p:nvPr/>
        </p:nvSpPr>
        <p:spPr>
          <a:xfrm>
            <a:off x="12153644" y="707475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4" name="confetti"/>
          <p:cNvSpPr/>
          <p:nvPr/>
        </p:nvSpPr>
        <p:spPr>
          <a:xfrm>
            <a:off x="10983984" y="524492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15" name="confetti"/>
          <p:cNvSpPr/>
          <p:nvPr/>
        </p:nvSpPr>
        <p:spPr>
          <a:xfrm>
            <a:off x="11586152" y="558320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6" name="confetti"/>
          <p:cNvSpPr/>
          <p:nvPr/>
        </p:nvSpPr>
        <p:spPr>
          <a:xfrm>
            <a:off x="9737395" y="1470418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7" name="confetti"/>
          <p:cNvSpPr/>
          <p:nvPr/>
        </p:nvSpPr>
        <p:spPr>
          <a:xfrm>
            <a:off x="11882965" y="747244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8" name="confetti"/>
          <p:cNvSpPr/>
          <p:nvPr/>
        </p:nvSpPr>
        <p:spPr>
          <a:xfrm>
            <a:off x="11133111" y="637756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19" name="confetti"/>
          <p:cNvSpPr/>
          <p:nvPr/>
        </p:nvSpPr>
        <p:spPr>
          <a:xfrm>
            <a:off x="11266084" y="215913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20" name="confetti"/>
          <p:cNvSpPr/>
          <p:nvPr/>
        </p:nvSpPr>
        <p:spPr>
          <a:xfrm>
            <a:off x="10935543" y="5586992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21" name="confetti"/>
          <p:cNvSpPr/>
          <p:nvPr/>
        </p:nvSpPr>
        <p:spPr>
          <a:xfrm>
            <a:off x="10848436" y="6412275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22" name="confetti"/>
          <p:cNvSpPr/>
          <p:nvPr/>
        </p:nvSpPr>
        <p:spPr>
          <a:xfrm>
            <a:off x="12089538" y="5914935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3" name="confetti"/>
          <p:cNvSpPr/>
          <p:nvPr/>
        </p:nvSpPr>
        <p:spPr>
          <a:xfrm>
            <a:off x="11039348" y="6074056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24" name="confetti"/>
          <p:cNvSpPr/>
          <p:nvPr/>
        </p:nvSpPr>
        <p:spPr>
          <a:xfrm>
            <a:off x="10936366" y="6074721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25" name="confetti"/>
          <p:cNvSpPr/>
          <p:nvPr/>
        </p:nvSpPr>
        <p:spPr>
          <a:xfrm>
            <a:off x="10447093" y="6499013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26" name="confetti"/>
          <p:cNvSpPr/>
          <p:nvPr/>
        </p:nvSpPr>
        <p:spPr>
          <a:xfrm>
            <a:off x="10524027" y="6532015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27" name="confetti"/>
          <p:cNvSpPr/>
          <p:nvPr/>
        </p:nvSpPr>
        <p:spPr>
          <a:xfrm>
            <a:off x="12119671" y="6755812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28" name="confetti"/>
          <p:cNvSpPr/>
          <p:nvPr/>
        </p:nvSpPr>
        <p:spPr>
          <a:xfrm>
            <a:off x="11614522" y="6355486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9" name="confetti"/>
          <p:cNvSpPr/>
          <p:nvPr/>
        </p:nvSpPr>
        <p:spPr>
          <a:xfrm>
            <a:off x="64263" y="6632979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30" name="confetti"/>
          <p:cNvSpPr/>
          <p:nvPr/>
        </p:nvSpPr>
        <p:spPr>
          <a:xfrm>
            <a:off x="573826" y="6652959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31" name="confetti"/>
          <p:cNvSpPr/>
          <p:nvPr/>
        </p:nvSpPr>
        <p:spPr>
          <a:xfrm>
            <a:off x="1966215" y="6616715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32" name="confetti"/>
          <p:cNvSpPr/>
          <p:nvPr/>
        </p:nvSpPr>
        <p:spPr>
          <a:xfrm>
            <a:off x="18681" y="6643309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33" name="confetti"/>
          <p:cNvSpPr/>
          <p:nvPr/>
        </p:nvSpPr>
        <p:spPr>
          <a:xfrm>
            <a:off x="1176473" y="6566054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34" name="confetti"/>
          <p:cNvSpPr/>
          <p:nvPr/>
        </p:nvSpPr>
        <p:spPr>
          <a:xfrm>
            <a:off x="1216842" y="6789763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35" name="confetti"/>
          <p:cNvSpPr/>
          <p:nvPr/>
        </p:nvSpPr>
        <p:spPr>
          <a:xfrm>
            <a:off x="1251037" y="6576248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36" name="confetti"/>
          <p:cNvSpPr/>
          <p:nvPr/>
        </p:nvSpPr>
        <p:spPr>
          <a:xfrm>
            <a:off x="2390308" y="6616072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37" name="confetti"/>
          <p:cNvSpPr/>
          <p:nvPr/>
        </p:nvSpPr>
        <p:spPr>
          <a:xfrm>
            <a:off x="411906" y="6742546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79500" y="584200"/>
            <a:ext cx="571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BUSINESS MODEL · B2G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41400" y="825500"/>
            <a:ext cx="8890000" cy="9525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2700000">
              <a:srgbClr val="2C5C3C">
                <a:alpha val="100000"/>
              </a:srgbClr>
            </a:outerShdw>
          </a:effectLst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spc="100" kern="0" dirty="0">
                <a:solidFill>
                  <a:srgbClr val="6EF58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WHO PAYS?</a:t>
            </a:r>
            <a:endParaRPr lang="en-US" sz="6400" dirty="0"/>
          </a:p>
        </p:txBody>
      </p:sp>
      <p:sp>
        <p:nvSpPr>
          <p:cNvPr id="40" name="Text 38"/>
          <p:cNvSpPr txBox="1"/>
          <p:nvPr/>
        </p:nvSpPr>
        <p:spPr>
          <a:xfrm>
            <a:off x="1079500" y="1879600"/>
            <a:ext cx="1016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spc="88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Families practise </a:t>
            </a:r>
            <a:pPr algn="l" indent="0" marL="0">
              <a:buNone/>
            </a:pPr>
            <a:r>
              <a:rPr lang="en-US" sz="2200" b="1" spc="88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free</a:t>
            </a:r>
            <a:pPr algn="l" indent="0" marL="0">
              <a:buNone/>
            </a:pPr>
            <a:r>
              <a:rPr lang="en-US" sz="2200" b="1" spc="88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 Government pays to protect them.</a:t>
            </a:r>
            <a:endParaRPr lang="en-US" sz="2200" dirty="0"/>
          </a:p>
        </p:txBody>
      </p:sp>
      <p:sp>
        <p:nvSpPr>
          <p:cNvPr id="41" name="GOVERNMENT card"/>
          <p:cNvSpPr/>
          <p:nvPr/>
        </p:nvSpPr>
        <p:spPr>
          <a:xfrm>
            <a:off x="1079500" y="2603500"/>
            <a:ext cx="2794000" cy="2413000"/>
          </a:xfrm>
          <a:prstGeom prst="rect">
            <a:avLst/>
          </a:prstGeom>
          <a:solidFill>
            <a:srgbClr val="2C0A28"/>
          </a:solidFill>
          <a:ln w="19050">
            <a:solidFill>
              <a:srgbClr val="E0409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308100" y="28575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spc="76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GOVERNMENT</a:t>
            </a:r>
            <a:endParaRPr lang="en-US" sz="1900" dirty="0"/>
          </a:p>
        </p:txBody>
      </p:sp>
      <p:sp>
        <p:nvSpPr>
          <p:cNvPr id="43" name="GOVERNMENT icon 1"/>
          <p:cNvSpPr/>
          <p:nvPr/>
        </p:nvSpPr>
        <p:spPr>
          <a:xfrm>
            <a:off x="3416300" y="2844800"/>
            <a:ext cx="50800" cy="254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44" name="GOVERNMENT icon 2"/>
          <p:cNvSpPr/>
          <p:nvPr/>
        </p:nvSpPr>
        <p:spPr>
          <a:xfrm>
            <a:off x="3416300" y="2870200"/>
            <a:ext cx="25400" cy="50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5" name="GOVERNMENT icon 3"/>
          <p:cNvSpPr/>
          <p:nvPr/>
        </p:nvSpPr>
        <p:spPr>
          <a:xfrm>
            <a:off x="3314700" y="2921000"/>
            <a:ext cx="254000" cy="25400"/>
          </a:xfrm>
          <a:prstGeom prst="rect">
            <a:avLst/>
          </a:prstGeom>
          <a:solidFill>
            <a:srgbClr val="E0409E"/>
          </a:solidFill>
          <a:ln/>
        </p:spPr>
      </p:sp>
      <p:sp>
        <p:nvSpPr>
          <p:cNvPr id="46" name="GOVERNMENT icon 4"/>
          <p:cNvSpPr/>
          <p:nvPr/>
        </p:nvSpPr>
        <p:spPr>
          <a:xfrm>
            <a:off x="3289300" y="2946400"/>
            <a:ext cx="304800" cy="50800"/>
          </a:xfrm>
          <a:prstGeom prst="rect">
            <a:avLst/>
          </a:prstGeom>
          <a:solidFill>
            <a:srgbClr val="E0409E"/>
          </a:solidFill>
          <a:ln/>
        </p:spPr>
      </p:sp>
      <p:sp>
        <p:nvSpPr>
          <p:cNvPr id="47" name="GOVERNMENT icon 5"/>
          <p:cNvSpPr/>
          <p:nvPr/>
        </p:nvSpPr>
        <p:spPr>
          <a:xfrm>
            <a:off x="3314700" y="3022600"/>
            <a:ext cx="50800" cy="152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8" name="GOVERNMENT icon 6"/>
          <p:cNvSpPr/>
          <p:nvPr/>
        </p:nvSpPr>
        <p:spPr>
          <a:xfrm>
            <a:off x="3416300" y="3022600"/>
            <a:ext cx="50800" cy="152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9" name="GOVERNMENT icon 7"/>
          <p:cNvSpPr/>
          <p:nvPr/>
        </p:nvSpPr>
        <p:spPr>
          <a:xfrm>
            <a:off x="3517900" y="3022600"/>
            <a:ext cx="50800" cy="1524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0" name="GOVERNMENT icon 8"/>
          <p:cNvSpPr/>
          <p:nvPr/>
        </p:nvSpPr>
        <p:spPr>
          <a:xfrm>
            <a:off x="3263900" y="3175000"/>
            <a:ext cx="355600" cy="50800"/>
          </a:xfrm>
          <a:prstGeom prst="rect">
            <a:avLst/>
          </a:prstGeom>
          <a:solidFill>
            <a:srgbClr val="E0409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308100" y="34036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Buys a 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programme licence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1308100" y="4394200"/>
            <a:ext cx="2349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48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IMDA · SPF · NCPC · MOE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spc="48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Banks &amp; telcos co-fund</a:t>
            </a:r>
            <a:endParaRPr lang="en-US" sz="1200" dirty="0"/>
          </a:p>
        </p:txBody>
      </p:sp>
      <p:sp>
        <p:nvSpPr>
          <p:cNvPr id="53" name="DRILL MODE card"/>
          <p:cNvSpPr/>
          <p:nvPr/>
        </p:nvSpPr>
        <p:spPr>
          <a:xfrm>
            <a:off x="4699000" y="2603500"/>
            <a:ext cx="2794000" cy="2413000"/>
          </a:xfrm>
          <a:prstGeom prst="rect">
            <a:avLst/>
          </a:prstGeom>
          <a:solidFill>
            <a:srgbClr val="0E2418"/>
          </a:solidFill>
          <a:ln w="19050">
            <a:solidFill>
              <a:srgbClr val="6EF58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927600" y="2857500"/>
            <a:ext cx="185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spc="76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DRILL MODE</a:t>
            </a:r>
            <a:endParaRPr lang="en-US" sz="1900" dirty="0"/>
          </a:p>
        </p:txBody>
      </p:sp>
      <p:sp>
        <p:nvSpPr>
          <p:cNvPr id="55" name="DRILL MODE icon 1"/>
          <p:cNvSpPr/>
          <p:nvPr/>
        </p:nvSpPr>
        <p:spPr>
          <a:xfrm>
            <a:off x="6959600" y="2844800"/>
            <a:ext cx="203200" cy="1524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56" name="DRILL MODE icon 2"/>
          <p:cNvSpPr/>
          <p:nvPr/>
        </p:nvSpPr>
        <p:spPr>
          <a:xfrm>
            <a:off x="6985000" y="28956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57" name="DRILL MODE icon 3"/>
          <p:cNvSpPr/>
          <p:nvPr/>
        </p:nvSpPr>
        <p:spPr>
          <a:xfrm>
            <a:off x="7086600" y="28956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58" name="DRILL MODE icon 4"/>
          <p:cNvSpPr/>
          <p:nvPr/>
        </p:nvSpPr>
        <p:spPr>
          <a:xfrm>
            <a:off x="7010400" y="2946400"/>
            <a:ext cx="1016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59" name="DRILL MODE icon 5"/>
          <p:cNvSpPr/>
          <p:nvPr/>
        </p:nvSpPr>
        <p:spPr>
          <a:xfrm>
            <a:off x="6883400" y="30480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60" name="DRILL MODE icon 6"/>
          <p:cNvSpPr/>
          <p:nvPr/>
        </p:nvSpPr>
        <p:spPr>
          <a:xfrm>
            <a:off x="7188200" y="30480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61" name="DRILL MODE icon 7"/>
          <p:cNvSpPr/>
          <p:nvPr/>
        </p:nvSpPr>
        <p:spPr>
          <a:xfrm>
            <a:off x="6934200" y="3022600"/>
            <a:ext cx="254000" cy="1524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62" name="DRILL MODE icon 8"/>
          <p:cNvSpPr/>
          <p:nvPr/>
        </p:nvSpPr>
        <p:spPr>
          <a:xfrm>
            <a:off x="6985000" y="3073400"/>
            <a:ext cx="152400" cy="50800"/>
          </a:xfrm>
          <a:prstGeom prst="rect">
            <a:avLst/>
          </a:prstGeom>
          <a:solidFill>
            <a:srgbClr val="0E2418"/>
          </a:solidFill>
          <a:ln/>
        </p:spPr>
      </p:sp>
      <p:sp>
        <p:nvSpPr>
          <p:cNvPr id="63" name="DRILL MODE icon 9"/>
          <p:cNvSpPr/>
          <p:nvPr/>
        </p:nvSpPr>
        <p:spPr>
          <a:xfrm>
            <a:off x="6959600" y="31750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64" name="DRILL MODE icon 10"/>
          <p:cNvSpPr/>
          <p:nvPr/>
        </p:nvSpPr>
        <p:spPr>
          <a:xfrm>
            <a:off x="7112000" y="31750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927600" y="34036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0445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Realistic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scam drills, with 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consent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built in.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4927600" y="4394200"/>
            <a:ext cx="2349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48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Voice · SMS · email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spc="48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+ results dashboard</a:t>
            </a:r>
            <a:endParaRPr lang="en-US" sz="1200" dirty="0"/>
          </a:p>
        </p:txBody>
      </p:sp>
      <p:sp>
        <p:nvSpPr>
          <p:cNvPr id="67" name="FAMILIES card"/>
          <p:cNvSpPr/>
          <p:nvPr/>
        </p:nvSpPr>
        <p:spPr>
          <a:xfrm>
            <a:off x="8318500" y="2603500"/>
            <a:ext cx="2794000" cy="2413000"/>
          </a:xfrm>
          <a:prstGeom prst="rect">
            <a:avLst/>
          </a:prstGeom>
          <a:solidFill>
            <a:srgbClr val="1D1530"/>
          </a:solidFill>
          <a:ln w="19050">
            <a:solidFill>
              <a:srgbClr val="7E4CE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547100" y="28575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spc="76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FAMILIES</a:t>
            </a:r>
            <a:endParaRPr lang="en-US" sz="1900" dirty="0"/>
          </a:p>
        </p:txBody>
      </p:sp>
      <p:sp>
        <p:nvSpPr>
          <p:cNvPr id="69" name="FAMILIES icon 1"/>
          <p:cNvSpPr/>
          <p:nvPr/>
        </p:nvSpPr>
        <p:spPr>
          <a:xfrm>
            <a:off x="10299700" y="2870200"/>
            <a:ext cx="203200" cy="1524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70" name="FAMILIES icon 2"/>
          <p:cNvSpPr/>
          <p:nvPr/>
        </p:nvSpPr>
        <p:spPr>
          <a:xfrm>
            <a:off x="10274300" y="3048000"/>
            <a:ext cx="254000" cy="1016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71" name="FAMILIES icon 3"/>
          <p:cNvSpPr/>
          <p:nvPr/>
        </p:nvSpPr>
        <p:spPr>
          <a:xfrm>
            <a:off x="10325100" y="3149600"/>
            <a:ext cx="508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72" name="FAMILIES icon 4"/>
          <p:cNvSpPr/>
          <p:nvPr/>
        </p:nvSpPr>
        <p:spPr>
          <a:xfrm>
            <a:off x="10426700" y="3149600"/>
            <a:ext cx="508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73" name="FAMILIES icon 5"/>
          <p:cNvSpPr/>
          <p:nvPr/>
        </p:nvSpPr>
        <p:spPr>
          <a:xfrm>
            <a:off x="10350500" y="2921000"/>
            <a:ext cx="254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4" name="FAMILIES icon 6"/>
          <p:cNvSpPr/>
          <p:nvPr/>
        </p:nvSpPr>
        <p:spPr>
          <a:xfrm>
            <a:off x="10426700" y="2921000"/>
            <a:ext cx="254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5" name="FAMILIES icon 7"/>
          <p:cNvSpPr/>
          <p:nvPr/>
        </p:nvSpPr>
        <p:spPr>
          <a:xfrm>
            <a:off x="10375900" y="29718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6" name="FAMILIES icon 8"/>
          <p:cNvSpPr/>
          <p:nvPr/>
        </p:nvSpPr>
        <p:spPr>
          <a:xfrm>
            <a:off x="10629900" y="2895600"/>
            <a:ext cx="203200" cy="1524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77" name="FAMILIES icon 9"/>
          <p:cNvSpPr/>
          <p:nvPr/>
        </p:nvSpPr>
        <p:spPr>
          <a:xfrm>
            <a:off x="10604500" y="3073400"/>
            <a:ext cx="254000" cy="762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78" name="FAMILIES icon 10"/>
          <p:cNvSpPr/>
          <p:nvPr/>
        </p:nvSpPr>
        <p:spPr>
          <a:xfrm>
            <a:off x="10655300" y="3149600"/>
            <a:ext cx="50800" cy="762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79" name="FAMILIES icon 11"/>
          <p:cNvSpPr/>
          <p:nvPr/>
        </p:nvSpPr>
        <p:spPr>
          <a:xfrm>
            <a:off x="10756900" y="3149600"/>
            <a:ext cx="50800" cy="762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80" name="FAMILIES icon 12"/>
          <p:cNvSpPr/>
          <p:nvPr/>
        </p:nvSpPr>
        <p:spPr>
          <a:xfrm>
            <a:off x="10680700" y="2946400"/>
            <a:ext cx="254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81" name="FAMILIES icon 13"/>
          <p:cNvSpPr/>
          <p:nvPr/>
        </p:nvSpPr>
        <p:spPr>
          <a:xfrm>
            <a:off x="10756900" y="2946400"/>
            <a:ext cx="254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82" name="FAMILIES icon 14"/>
          <p:cNvSpPr/>
          <p:nvPr/>
        </p:nvSpPr>
        <p:spPr>
          <a:xfrm>
            <a:off x="10706100" y="29972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547100" y="34036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Practise 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free</a:t>
            </a:r>
            <a:pPr algn="l" indent="0" marL="0">
              <a:lnSpc>
                <a:spcPct val="125000"/>
              </a:lnSpc>
              <a:buNone/>
            </a:pPr>
            <a:r>
              <a:rPr lang="en-US" sz="1600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 Nothing blocks uptake.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8547100" y="4394200"/>
            <a:ext cx="23495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48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Seniors, parents, kids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3873500" y="35306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52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funds</a:t>
            </a:r>
            <a:endParaRPr lang="en-US" sz="1300" dirty="0"/>
          </a:p>
        </p:txBody>
      </p:sp>
      <p:sp>
        <p:nvSpPr>
          <p:cNvPr id="86" name="funds arrow 1"/>
          <p:cNvSpPr/>
          <p:nvPr/>
        </p:nvSpPr>
        <p:spPr>
          <a:xfrm>
            <a:off x="4000500" y="3911600"/>
            <a:ext cx="3810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87" name="funds arrow 2"/>
          <p:cNvSpPr/>
          <p:nvPr/>
        </p:nvSpPr>
        <p:spPr>
          <a:xfrm>
            <a:off x="4381500" y="3835400"/>
            <a:ext cx="76200" cy="2286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88" name="funds arrow 3"/>
          <p:cNvSpPr/>
          <p:nvPr/>
        </p:nvSpPr>
        <p:spPr>
          <a:xfrm>
            <a:off x="4457700" y="3873500"/>
            <a:ext cx="76200" cy="1524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89" name="funds arrow 4"/>
          <p:cNvSpPr/>
          <p:nvPr/>
        </p:nvSpPr>
        <p:spPr>
          <a:xfrm>
            <a:off x="4533900" y="3911600"/>
            <a:ext cx="381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7493000" y="3530600"/>
            <a:ext cx="82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52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free</a:t>
            </a:r>
            <a:endParaRPr lang="en-US" sz="1300" dirty="0"/>
          </a:p>
        </p:txBody>
      </p:sp>
      <p:sp>
        <p:nvSpPr>
          <p:cNvPr id="91" name="free arrow 1"/>
          <p:cNvSpPr/>
          <p:nvPr/>
        </p:nvSpPr>
        <p:spPr>
          <a:xfrm>
            <a:off x="7620000" y="3911600"/>
            <a:ext cx="3810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2" name="free arrow 2"/>
          <p:cNvSpPr/>
          <p:nvPr/>
        </p:nvSpPr>
        <p:spPr>
          <a:xfrm>
            <a:off x="8001000" y="3835400"/>
            <a:ext cx="76200" cy="2286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3" name="free arrow 3"/>
          <p:cNvSpPr/>
          <p:nvPr/>
        </p:nvSpPr>
        <p:spPr>
          <a:xfrm>
            <a:off x="8077200" y="3873500"/>
            <a:ext cx="76200" cy="1524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4" name="free arrow 4"/>
          <p:cNvSpPr/>
          <p:nvPr/>
        </p:nvSpPr>
        <p:spPr>
          <a:xfrm>
            <a:off x="8153400" y="3911600"/>
            <a:ext cx="38100" cy="762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5" name="loop right"/>
          <p:cNvSpPr/>
          <p:nvPr/>
        </p:nvSpPr>
        <p:spPr>
          <a:xfrm>
            <a:off x="9715500" y="5016500"/>
            <a:ext cx="0" cy="444500"/>
          </a:xfrm>
          <a:prstGeom prst="line">
            <a:avLst/>
          </a:prstGeom>
          <a:noFill/>
          <a:ln w="25400">
            <a:solidFill>
              <a:srgbClr val="6CCFC4"/>
            </a:solidFill>
            <a:prstDash val="dash"/>
          </a:ln>
        </p:spPr>
      </p:sp>
      <p:sp>
        <p:nvSpPr>
          <p:cNvPr id="96" name="loop bottom"/>
          <p:cNvSpPr/>
          <p:nvPr/>
        </p:nvSpPr>
        <p:spPr>
          <a:xfrm>
            <a:off x="2476500" y="5461000"/>
            <a:ext cx="7239000" cy="0"/>
          </a:xfrm>
          <a:prstGeom prst="line">
            <a:avLst/>
          </a:prstGeom>
          <a:noFill/>
          <a:ln w="25400">
            <a:solidFill>
              <a:srgbClr val="6CCFC4"/>
            </a:solidFill>
            <a:prstDash val="dash"/>
          </a:ln>
        </p:spPr>
      </p:sp>
      <p:sp>
        <p:nvSpPr>
          <p:cNvPr id="97" name="loop left"/>
          <p:cNvSpPr/>
          <p:nvPr/>
        </p:nvSpPr>
        <p:spPr>
          <a:xfrm>
            <a:off x="2476500" y="5029200"/>
            <a:ext cx="0" cy="431800"/>
          </a:xfrm>
          <a:prstGeom prst="line">
            <a:avLst/>
          </a:prstGeom>
          <a:noFill/>
          <a:ln w="25400">
            <a:solidFill>
              <a:srgbClr val="6CCFC4"/>
            </a:solidFill>
            <a:prstDash val="dash"/>
            <a:headEnd type="triangle"/>
          </a:ln>
        </p:spPr>
      </p:sp>
      <p:sp>
        <p:nvSpPr>
          <p:cNvPr id="98" name="Text 96"/>
          <p:cNvSpPr txBox="1"/>
          <p:nvPr/>
        </p:nvSpPr>
        <p:spPr>
          <a:xfrm>
            <a:off x="3429000" y="5321300"/>
            <a:ext cx="5334000" cy="279400"/>
          </a:xfrm>
          <a:prstGeom prst="rect">
            <a:avLst/>
          </a:prstGeom>
          <a:solidFill>
            <a:srgbClr val="0A0D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6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Results flow back: are people harder to scam?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1079500" y="6083300"/>
            <a:ext cx="2159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PATH TO REVENUE</a:t>
            </a:r>
            <a:endParaRPr lang="en-US" sz="1500" dirty="0"/>
          </a:p>
        </p:txBody>
      </p:sp>
      <p:sp>
        <p:nvSpPr>
          <p:cNvPr id="100" name="path Grant"/>
          <p:cNvSpPr/>
          <p:nvPr/>
        </p:nvSpPr>
        <p:spPr>
          <a:xfrm>
            <a:off x="3302000" y="6032500"/>
            <a:ext cx="914400" cy="406400"/>
          </a:xfrm>
          <a:prstGeom prst="rect">
            <a:avLst/>
          </a:prstGeom>
          <a:solidFill>
            <a:srgbClr val="0A0D18"/>
          </a:solidFill>
          <a:ln w="19050">
            <a:solidFill>
              <a:srgbClr val="F7DD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Grant</a:t>
            </a:r>
            <a:endParaRPr lang="en-US" sz="1500" dirty="0"/>
          </a:p>
        </p:txBody>
      </p:sp>
      <p:sp>
        <p:nvSpPr>
          <p:cNvPr id="101" name="Text 99"/>
          <p:cNvSpPr txBox="1"/>
          <p:nvPr/>
        </p:nvSpPr>
        <p:spPr>
          <a:xfrm>
            <a:off x="4216400" y="6032500"/>
            <a:ext cx="35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</a:t>
            </a:r>
            <a:endParaRPr lang="en-US" sz="1500" dirty="0"/>
          </a:p>
        </p:txBody>
      </p:sp>
      <p:sp>
        <p:nvSpPr>
          <p:cNvPr id="102" name="path Pilot"/>
          <p:cNvSpPr/>
          <p:nvPr/>
        </p:nvSpPr>
        <p:spPr>
          <a:xfrm>
            <a:off x="4572000" y="6032500"/>
            <a:ext cx="914400" cy="406400"/>
          </a:xfrm>
          <a:prstGeom prst="rect">
            <a:avLst/>
          </a:prstGeom>
          <a:solidFill>
            <a:srgbClr val="0A0D18"/>
          </a:solidFill>
          <a:ln w="19050">
            <a:solidFill>
              <a:srgbClr val="F7DD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Pilot</a:t>
            </a:r>
            <a:endParaRPr lang="en-US" sz="1500" dirty="0"/>
          </a:p>
        </p:txBody>
      </p:sp>
      <p:sp>
        <p:nvSpPr>
          <p:cNvPr id="103" name="Text 101"/>
          <p:cNvSpPr txBox="1"/>
          <p:nvPr/>
        </p:nvSpPr>
        <p:spPr>
          <a:xfrm>
            <a:off x="5486400" y="6032500"/>
            <a:ext cx="35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</a:t>
            </a:r>
            <a:endParaRPr lang="en-US" sz="1500" dirty="0"/>
          </a:p>
        </p:txBody>
      </p:sp>
      <p:sp>
        <p:nvSpPr>
          <p:cNvPr id="104" name="path Readout"/>
          <p:cNvSpPr/>
          <p:nvPr/>
        </p:nvSpPr>
        <p:spPr>
          <a:xfrm>
            <a:off x="5842000" y="6032500"/>
            <a:ext cx="1158240" cy="406400"/>
          </a:xfrm>
          <a:prstGeom prst="rect">
            <a:avLst/>
          </a:prstGeom>
          <a:solidFill>
            <a:srgbClr val="0A0D18"/>
          </a:solidFill>
          <a:ln w="19050">
            <a:solidFill>
              <a:srgbClr val="F7DD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Readout</a:t>
            </a:r>
            <a:endParaRPr lang="en-US" sz="1500" dirty="0"/>
          </a:p>
        </p:txBody>
      </p:sp>
      <p:sp>
        <p:nvSpPr>
          <p:cNvPr id="105" name="Text 103"/>
          <p:cNvSpPr txBox="1"/>
          <p:nvPr/>
        </p:nvSpPr>
        <p:spPr>
          <a:xfrm>
            <a:off x="7000240" y="6032500"/>
            <a:ext cx="35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→</a:t>
            </a:r>
            <a:endParaRPr lang="en-US" sz="1500" dirty="0"/>
          </a:p>
        </p:txBody>
      </p:sp>
      <p:sp>
        <p:nvSpPr>
          <p:cNvPr id="106" name="path Licence"/>
          <p:cNvSpPr/>
          <p:nvPr/>
        </p:nvSpPr>
        <p:spPr>
          <a:xfrm>
            <a:off x="7355840" y="6032500"/>
            <a:ext cx="1158240" cy="406400"/>
          </a:xfrm>
          <a:prstGeom prst="rect">
            <a:avLst/>
          </a:prstGeom>
          <a:solidFill>
            <a:srgbClr val="F7DD7A"/>
          </a:solidFill>
          <a:ln w="19050">
            <a:solidFill>
              <a:srgbClr val="F7DD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0A0D1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Licence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tti"/>
          <p:cNvSpPr/>
          <p:nvPr/>
        </p:nvSpPr>
        <p:spPr>
          <a:xfrm>
            <a:off x="1485665" y="402018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3" name="confetti"/>
          <p:cNvSpPr/>
          <p:nvPr/>
        </p:nvSpPr>
        <p:spPr>
          <a:xfrm>
            <a:off x="237919" y="101438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4" name="confetti"/>
          <p:cNvSpPr/>
          <p:nvPr/>
        </p:nvSpPr>
        <p:spPr>
          <a:xfrm>
            <a:off x="445382" y="145551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5" name="confetti"/>
          <p:cNvSpPr/>
          <p:nvPr/>
        </p:nvSpPr>
        <p:spPr>
          <a:xfrm>
            <a:off x="774553" y="275065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6" name="confetti"/>
          <p:cNvSpPr/>
          <p:nvPr/>
        </p:nvSpPr>
        <p:spPr>
          <a:xfrm>
            <a:off x="2177932" y="230689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7" name="confetti"/>
          <p:cNvSpPr/>
          <p:nvPr/>
        </p:nvSpPr>
        <p:spPr>
          <a:xfrm>
            <a:off x="1036020" y="197632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8" name="confetti"/>
          <p:cNvSpPr/>
          <p:nvPr/>
        </p:nvSpPr>
        <p:spPr>
          <a:xfrm>
            <a:off x="587316" y="361101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9" name="confetti"/>
          <p:cNvSpPr/>
          <p:nvPr/>
        </p:nvSpPr>
        <p:spPr>
          <a:xfrm>
            <a:off x="1784321" y="17305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0" name="confetti"/>
          <p:cNvSpPr/>
          <p:nvPr/>
        </p:nvSpPr>
        <p:spPr>
          <a:xfrm>
            <a:off x="1007533" y="240453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11" name="confetti"/>
          <p:cNvSpPr/>
          <p:nvPr/>
        </p:nvSpPr>
        <p:spPr>
          <a:xfrm>
            <a:off x="11269697" y="1400364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2" name="confetti"/>
          <p:cNvSpPr/>
          <p:nvPr/>
        </p:nvSpPr>
        <p:spPr>
          <a:xfrm>
            <a:off x="11758681" y="72475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13" name="confetti"/>
          <p:cNvSpPr/>
          <p:nvPr/>
        </p:nvSpPr>
        <p:spPr>
          <a:xfrm>
            <a:off x="10611658" y="1650592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14" name="confetti"/>
          <p:cNvSpPr/>
          <p:nvPr/>
        </p:nvSpPr>
        <p:spPr>
          <a:xfrm>
            <a:off x="11606879" y="1213466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15" name="confetti"/>
          <p:cNvSpPr/>
          <p:nvPr/>
        </p:nvSpPr>
        <p:spPr>
          <a:xfrm>
            <a:off x="10521592" y="1459847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16" name="confetti"/>
          <p:cNvSpPr/>
          <p:nvPr/>
        </p:nvSpPr>
        <p:spPr>
          <a:xfrm>
            <a:off x="11134049" y="1278485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17" name="confetti"/>
          <p:cNvSpPr/>
          <p:nvPr/>
        </p:nvSpPr>
        <p:spPr>
          <a:xfrm>
            <a:off x="11888498" y="1463130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18" name="confetti"/>
          <p:cNvSpPr/>
          <p:nvPr/>
        </p:nvSpPr>
        <p:spPr>
          <a:xfrm>
            <a:off x="11229191" y="902531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19" name="confetti"/>
          <p:cNvSpPr/>
          <p:nvPr/>
        </p:nvSpPr>
        <p:spPr>
          <a:xfrm>
            <a:off x="10267377" y="390440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0" name="confetti"/>
          <p:cNvSpPr/>
          <p:nvPr/>
        </p:nvSpPr>
        <p:spPr>
          <a:xfrm>
            <a:off x="11499435" y="6147363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1" name="confetti"/>
          <p:cNvSpPr/>
          <p:nvPr/>
        </p:nvSpPr>
        <p:spPr>
          <a:xfrm>
            <a:off x="12088409" y="6184067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22" name="confetti"/>
          <p:cNvSpPr/>
          <p:nvPr/>
        </p:nvSpPr>
        <p:spPr>
          <a:xfrm>
            <a:off x="11909797" y="6535625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23" name="confetti"/>
          <p:cNvSpPr/>
          <p:nvPr/>
        </p:nvSpPr>
        <p:spPr>
          <a:xfrm>
            <a:off x="11334017" y="6535287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24" name="confetti"/>
          <p:cNvSpPr/>
          <p:nvPr/>
        </p:nvSpPr>
        <p:spPr>
          <a:xfrm>
            <a:off x="11620484" y="6659303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25" name="confetti"/>
          <p:cNvSpPr/>
          <p:nvPr/>
        </p:nvSpPr>
        <p:spPr>
          <a:xfrm>
            <a:off x="11361615" y="6240923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26" name="confetti"/>
          <p:cNvSpPr/>
          <p:nvPr/>
        </p:nvSpPr>
        <p:spPr>
          <a:xfrm>
            <a:off x="11816827" y="5756397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27" name="confetti"/>
          <p:cNvSpPr/>
          <p:nvPr/>
        </p:nvSpPr>
        <p:spPr>
          <a:xfrm>
            <a:off x="11578537" y="6824976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8" name="confetti"/>
          <p:cNvSpPr/>
          <p:nvPr/>
        </p:nvSpPr>
        <p:spPr>
          <a:xfrm>
            <a:off x="11906162" y="6493909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29" name="confetti"/>
          <p:cNvSpPr/>
          <p:nvPr/>
        </p:nvSpPr>
        <p:spPr>
          <a:xfrm>
            <a:off x="9792352" y="6744905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30" name="confetti"/>
          <p:cNvSpPr/>
          <p:nvPr/>
        </p:nvSpPr>
        <p:spPr>
          <a:xfrm>
            <a:off x="12170461" y="6626977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31" name="confetti"/>
          <p:cNvSpPr/>
          <p:nvPr/>
        </p:nvSpPr>
        <p:spPr>
          <a:xfrm>
            <a:off x="11579063" y="6756492"/>
            <a:ext cx="38100" cy="381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32" name="confetti"/>
          <p:cNvSpPr/>
          <p:nvPr/>
        </p:nvSpPr>
        <p:spPr>
          <a:xfrm>
            <a:off x="11796409" y="6751394"/>
            <a:ext cx="38100" cy="38100"/>
          </a:xfrm>
          <a:prstGeom prst="rect">
            <a:avLst/>
          </a:prstGeom>
          <a:solidFill>
            <a:srgbClr val="F0445A"/>
          </a:solidFill>
          <a:ln/>
        </p:spPr>
      </p:sp>
      <p:sp>
        <p:nvSpPr>
          <p:cNvPr id="33" name="confetti"/>
          <p:cNvSpPr/>
          <p:nvPr/>
        </p:nvSpPr>
        <p:spPr>
          <a:xfrm>
            <a:off x="11266747" y="6712223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34" name="confetti"/>
          <p:cNvSpPr/>
          <p:nvPr/>
        </p:nvSpPr>
        <p:spPr>
          <a:xfrm>
            <a:off x="11101329" y="6739521"/>
            <a:ext cx="38100" cy="381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35" name="confetti"/>
          <p:cNvSpPr/>
          <p:nvPr/>
        </p:nvSpPr>
        <p:spPr>
          <a:xfrm>
            <a:off x="9744403" y="6692530"/>
            <a:ext cx="38100" cy="38100"/>
          </a:xfrm>
          <a:prstGeom prst="rect">
            <a:avLst/>
          </a:prstGeom>
          <a:solidFill>
            <a:srgbClr val="7E4CE0"/>
          </a:solidFill>
          <a:ln/>
        </p:spPr>
      </p:sp>
      <p:sp>
        <p:nvSpPr>
          <p:cNvPr id="36" name="confetti"/>
          <p:cNvSpPr/>
          <p:nvPr/>
        </p:nvSpPr>
        <p:spPr>
          <a:xfrm>
            <a:off x="10974221" y="6671792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37" name="confetti"/>
          <p:cNvSpPr/>
          <p:nvPr/>
        </p:nvSpPr>
        <p:spPr>
          <a:xfrm>
            <a:off x="10568032" y="6777848"/>
            <a:ext cx="38100" cy="38100"/>
          </a:xfrm>
          <a:prstGeom prst="rect">
            <a:avLst/>
          </a:prstGeom>
          <a:solidFill>
            <a:srgbClr val="F7DD7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79500" y="508000"/>
            <a:ext cx="635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spc="18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LANDSCAPE · WHERE WE FIT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41400" y="749300"/>
            <a:ext cx="9525000" cy="7874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50800" dir="2700000">
              <a:srgbClr val="2C5C3C">
                <a:alpha val="100000"/>
              </a:srgbClr>
            </a:outerShdw>
          </a:effectLst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spc="100" kern="0" dirty="0">
                <a:solidFill>
                  <a:srgbClr val="6EF58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VACCINE </a:t>
            </a:r>
            <a:pPr algn="l" indent="0" marL="0">
              <a:buNone/>
            </a:pPr>
            <a:r>
              <a:rPr lang="en-US" sz="3600" b="1" spc="100" kern="0" dirty="0">
                <a:solidFill>
                  <a:srgbClr val="F7DD7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vs</a:t>
            </a:r>
            <a:pPr algn="l" indent="0" marL="0">
              <a:buNone/>
            </a:pPr>
            <a:r>
              <a:rPr lang="en-US" sz="4800" b="1" spc="100" kern="0" dirty="0">
                <a:solidFill>
                  <a:srgbClr val="6EF58A"/>
                </a:solidFill>
                <a:latin typeface="Silkscreen" pitchFamily="34" charset="0"/>
                <a:ea typeface="Silkscreen" pitchFamily="34" charset="-122"/>
                <a:cs typeface="Silkscreen" pitchFamily="34" charset="-120"/>
              </a:rPr>
              <a:t> DRILL</a:t>
            </a:r>
            <a:endParaRPr lang="en-US" sz="4800" dirty="0"/>
          </a:p>
        </p:txBody>
      </p:sp>
      <p:sp>
        <p:nvSpPr>
          <p:cNvPr id="40" name="Text 38"/>
          <p:cNvSpPr txBox="1"/>
          <p:nvPr/>
        </p:nvSpPr>
        <p:spPr>
          <a:xfrm>
            <a:off x="1079500" y="16383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8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Scam Vaccine trains </a:t>
            </a:r>
            <a:pPr algn="l" indent="0" marL="0">
              <a:buNone/>
            </a:pPr>
            <a:r>
              <a:rPr lang="en-US" sz="2000" b="1" spc="80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you</a:t>
            </a:r>
            <a:pPr algn="l" indent="0" marL="0">
              <a:buNone/>
            </a:pPr>
            <a:r>
              <a:rPr lang="en-US" sz="2000" b="1" spc="8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 Drill Mode trains your </a:t>
            </a:r>
            <a:pPr algn="l" indent="0" marL="0">
              <a:buNone/>
            </a:pPr>
            <a:r>
              <a:rPr lang="en-US" sz="2000" b="1" spc="80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whole family</a:t>
            </a:r>
            <a:pPr algn="l" indent="0" marL="0">
              <a:buNone/>
            </a:pPr>
            <a:r>
              <a:rPr lang="en-US" sz="2000" b="1" spc="8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endParaRPr lang="en-US" sz="2000" dirty="0"/>
          </a:p>
        </p:txBody>
      </p:sp>
      <p:sp>
        <p:nvSpPr>
          <p:cNvPr id="41" name="Text 39"/>
          <p:cNvSpPr txBox="1"/>
          <p:nvPr/>
        </p:nvSpPr>
        <p:spPr>
          <a:xfrm>
            <a:off x="1079500" y="28829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WHO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79500" y="34290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WHEN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79500" y="39751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CHANNELS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79500" y="45212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AFTER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79500" y="5067300"/>
            <a:ext cx="17145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30" kern="0" dirty="0">
                <a:solidFill>
                  <a:srgbClr val="6CCFC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COME BACK?</a:t>
            </a:r>
            <a:endParaRPr lang="en-US" sz="1300" dirty="0"/>
          </a:p>
        </p:txBody>
      </p:sp>
      <p:sp>
        <p:nvSpPr>
          <p:cNvPr id="46" name="SCAM VACCINE column"/>
          <p:cNvSpPr/>
          <p:nvPr/>
        </p:nvSpPr>
        <p:spPr>
          <a:xfrm>
            <a:off x="2984500" y="2222500"/>
            <a:ext cx="3968750" cy="3479800"/>
          </a:xfrm>
          <a:prstGeom prst="rect">
            <a:avLst/>
          </a:prstGeom>
          <a:solidFill>
            <a:srgbClr val="2C0A28"/>
          </a:solidFill>
          <a:ln w="19050">
            <a:solidFill>
              <a:srgbClr val="E0409E"/>
            </a:solidFill>
            <a:prstDash val="solid"/>
          </a:ln>
        </p:spPr>
      </p:sp>
      <p:sp>
        <p:nvSpPr>
          <p:cNvPr id="47" name="SCAM VACCINE icon 1"/>
          <p:cNvSpPr/>
          <p:nvPr/>
        </p:nvSpPr>
        <p:spPr>
          <a:xfrm>
            <a:off x="3505200" y="2349500"/>
            <a:ext cx="101600" cy="50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8" name="SCAM VACCINE icon 2"/>
          <p:cNvSpPr/>
          <p:nvPr/>
        </p:nvSpPr>
        <p:spPr>
          <a:xfrm>
            <a:off x="3530600" y="2400300"/>
            <a:ext cx="50800" cy="50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49" name="SCAM VACCINE icon 3"/>
          <p:cNvSpPr/>
          <p:nvPr/>
        </p:nvSpPr>
        <p:spPr>
          <a:xfrm>
            <a:off x="3479800" y="2425700"/>
            <a:ext cx="50800" cy="50800"/>
          </a:xfrm>
          <a:prstGeom prst="rect">
            <a:avLst/>
          </a:prstGeom>
          <a:solidFill>
            <a:srgbClr val="8E95AD"/>
          </a:solidFill>
          <a:ln/>
        </p:spPr>
      </p:sp>
      <p:sp>
        <p:nvSpPr>
          <p:cNvPr id="50" name="SCAM VACCINE icon 4"/>
          <p:cNvSpPr/>
          <p:nvPr/>
        </p:nvSpPr>
        <p:spPr>
          <a:xfrm>
            <a:off x="3429000" y="2451100"/>
            <a:ext cx="76200" cy="76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1" name="SCAM VACCINE icon 5"/>
          <p:cNvSpPr/>
          <p:nvPr/>
        </p:nvSpPr>
        <p:spPr>
          <a:xfrm>
            <a:off x="3378200" y="2501900"/>
            <a:ext cx="76200" cy="76200"/>
          </a:xfrm>
          <a:prstGeom prst="rect">
            <a:avLst/>
          </a:prstGeom>
          <a:solidFill>
            <a:srgbClr val="E0409E"/>
          </a:solidFill>
          <a:ln/>
        </p:spPr>
      </p:sp>
      <p:sp>
        <p:nvSpPr>
          <p:cNvPr id="52" name="SCAM VACCINE icon 6"/>
          <p:cNvSpPr/>
          <p:nvPr/>
        </p:nvSpPr>
        <p:spPr>
          <a:xfrm>
            <a:off x="3327400" y="2552700"/>
            <a:ext cx="76200" cy="76200"/>
          </a:xfrm>
          <a:prstGeom prst="rect">
            <a:avLst/>
          </a:prstGeom>
          <a:solidFill>
            <a:srgbClr val="E0409E"/>
          </a:solidFill>
          <a:ln/>
        </p:spPr>
      </p:sp>
      <p:sp>
        <p:nvSpPr>
          <p:cNvPr id="53" name="SCAM VACCINE icon 7"/>
          <p:cNvSpPr/>
          <p:nvPr/>
        </p:nvSpPr>
        <p:spPr>
          <a:xfrm>
            <a:off x="3302000" y="2603500"/>
            <a:ext cx="50800" cy="508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54" name="SCAM VACCINE icon 8"/>
          <p:cNvSpPr/>
          <p:nvPr/>
        </p:nvSpPr>
        <p:spPr>
          <a:xfrm>
            <a:off x="3251200" y="2654300"/>
            <a:ext cx="50800" cy="50800"/>
          </a:xfrm>
          <a:prstGeom prst="rect">
            <a:avLst/>
          </a:prstGeom>
          <a:solidFill>
            <a:srgbClr val="8E95AD"/>
          </a:solidFill>
          <a:ln/>
        </p:spPr>
      </p:sp>
      <p:sp>
        <p:nvSpPr>
          <p:cNvPr id="55" name="SCAM VACCINE icon 9"/>
          <p:cNvSpPr/>
          <p:nvPr/>
        </p:nvSpPr>
        <p:spPr>
          <a:xfrm>
            <a:off x="3200400" y="2705100"/>
            <a:ext cx="50800" cy="50800"/>
          </a:xfrm>
          <a:prstGeom prst="rect">
            <a:avLst/>
          </a:prstGeom>
          <a:solidFill>
            <a:srgbClr val="8E95AD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3733800" y="2336800"/>
            <a:ext cx="304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8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SCAM VACCINE</a:t>
            </a:r>
            <a:endParaRPr lang="en-US" sz="2000" dirty="0"/>
          </a:p>
        </p:txBody>
      </p:sp>
      <p:sp>
        <p:nvSpPr>
          <p:cNvPr id="57" name="Text 55"/>
          <p:cNvSpPr txBox="1"/>
          <p:nvPr/>
        </p:nvSpPr>
        <p:spPr>
          <a:xfrm>
            <a:off x="3733800" y="2679700"/>
            <a:ext cx="304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GovTech OGP · launched Sep 2026</a:t>
            </a:r>
            <a:endParaRPr lang="en-US" sz="1000" dirty="0"/>
          </a:p>
        </p:txBody>
      </p:sp>
      <p:sp>
        <p:nvSpPr>
          <p:cNvPr id="58" name="row divider"/>
          <p:cNvSpPr/>
          <p:nvPr/>
        </p:nvSpPr>
        <p:spPr>
          <a:xfrm>
            <a:off x="3200400" y="28829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59" name="Text 57"/>
          <p:cNvSpPr txBox="1"/>
          <p:nvPr/>
        </p:nvSpPr>
        <p:spPr>
          <a:xfrm>
            <a:off x="3200400" y="28829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One person at a time</a:t>
            </a:r>
            <a:endParaRPr lang="en-US" sz="1400" dirty="0"/>
          </a:p>
        </p:txBody>
      </p:sp>
      <p:sp>
        <p:nvSpPr>
          <p:cNvPr id="60" name="row divider"/>
          <p:cNvSpPr/>
          <p:nvPr/>
        </p:nvSpPr>
        <p:spPr>
          <a:xfrm>
            <a:off x="3200400" y="34290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3200400" y="34290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0445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Surprise</a:t>
            </a:r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 on new scams</a:t>
            </a:r>
            <a:endParaRPr lang="en-US" sz="1400" dirty="0"/>
          </a:p>
        </p:txBody>
      </p:sp>
      <p:sp>
        <p:nvSpPr>
          <p:cNvPr id="62" name="row divider"/>
          <p:cNvSpPr/>
          <p:nvPr/>
        </p:nvSpPr>
        <p:spPr>
          <a:xfrm>
            <a:off x="3200400" y="39751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3200400" y="39751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Call · WhatsApp</a:t>
            </a:r>
            <a:endParaRPr lang="en-US" sz="1400" dirty="0"/>
          </a:p>
        </p:txBody>
      </p:sp>
      <p:sp>
        <p:nvSpPr>
          <p:cNvPr id="64" name="row divider"/>
          <p:cNvSpPr/>
          <p:nvPr/>
        </p:nvSpPr>
        <p:spPr>
          <a:xfrm>
            <a:off x="3200400" y="45212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65" name="Text 63"/>
          <p:cNvSpPr txBox="1"/>
          <p:nvPr/>
        </p:nvSpPr>
        <p:spPr>
          <a:xfrm>
            <a:off x="3200400" y="45212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Personal debrief of red flags</a:t>
            </a:r>
            <a:endParaRPr lang="en-US" sz="1400" dirty="0"/>
          </a:p>
        </p:txBody>
      </p:sp>
      <p:sp>
        <p:nvSpPr>
          <p:cNvPr id="66" name="row divider"/>
          <p:cNvSpPr/>
          <p:nvPr/>
        </p:nvSpPr>
        <p:spPr>
          <a:xfrm>
            <a:off x="3200400" y="50673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67" name="Text 65"/>
          <p:cNvSpPr txBox="1"/>
          <p:nvPr/>
        </p:nvSpPr>
        <p:spPr>
          <a:xfrm>
            <a:off x="3200400" y="50673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Irregular, kept low</a:t>
            </a:r>
            <a:endParaRPr lang="en-US" sz="1400" dirty="0"/>
          </a:p>
        </p:txBody>
      </p:sp>
      <p:sp>
        <p:nvSpPr>
          <p:cNvPr id="68" name="DRILL MODE column"/>
          <p:cNvSpPr/>
          <p:nvPr/>
        </p:nvSpPr>
        <p:spPr>
          <a:xfrm>
            <a:off x="7143750" y="2222500"/>
            <a:ext cx="3968750" cy="3479800"/>
          </a:xfrm>
          <a:prstGeom prst="rect">
            <a:avLst/>
          </a:prstGeom>
          <a:solidFill>
            <a:srgbClr val="0E2418"/>
          </a:solidFill>
          <a:ln w="19050">
            <a:solidFill>
              <a:srgbClr val="6EF58A"/>
            </a:solidFill>
            <a:prstDash val="solid"/>
          </a:ln>
        </p:spPr>
      </p:sp>
      <p:sp>
        <p:nvSpPr>
          <p:cNvPr id="69" name="DRILL MODE icon 1"/>
          <p:cNvSpPr/>
          <p:nvPr/>
        </p:nvSpPr>
        <p:spPr>
          <a:xfrm>
            <a:off x="7461250" y="2349500"/>
            <a:ext cx="203200" cy="1524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70" name="DRILL MODE icon 2"/>
          <p:cNvSpPr/>
          <p:nvPr/>
        </p:nvSpPr>
        <p:spPr>
          <a:xfrm>
            <a:off x="7486650" y="24003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1" name="DRILL MODE icon 3"/>
          <p:cNvSpPr/>
          <p:nvPr/>
        </p:nvSpPr>
        <p:spPr>
          <a:xfrm>
            <a:off x="7588250" y="2400300"/>
            <a:ext cx="508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2" name="DRILL MODE icon 4"/>
          <p:cNvSpPr/>
          <p:nvPr/>
        </p:nvSpPr>
        <p:spPr>
          <a:xfrm>
            <a:off x="7512050" y="2451100"/>
            <a:ext cx="101600" cy="25400"/>
          </a:xfrm>
          <a:prstGeom prst="rect">
            <a:avLst/>
          </a:prstGeom>
          <a:solidFill>
            <a:srgbClr val="0A0D18"/>
          </a:solidFill>
          <a:ln/>
        </p:spPr>
      </p:sp>
      <p:sp>
        <p:nvSpPr>
          <p:cNvPr id="73" name="DRILL MODE icon 5"/>
          <p:cNvSpPr/>
          <p:nvPr/>
        </p:nvSpPr>
        <p:spPr>
          <a:xfrm>
            <a:off x="7385050" y="25527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74" name="DRILL MODE icon 6"/>
          <p:cNvSpPr/>
          <p:nvPr/>
        </p:nvSpPr>
        <p:spPr>
          <a:xfrm>
            <a:off x="7689850" y="25527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75" name="DRILL MODE icon 7"/>
          <p:cNvSpPr/>
          <p:nvPr/>
        </p:nvSpPr>
        <p:spPr>
          <a:xfrm>
            <a:off x="7435850" y="2527300"/>
            <a:ext cx="254000" cy="152400"/>
          </a:xfrm>
          <a:prstGeom prst="rect">
            <a:avLst/>
          </a:prstGeom>
          <a:solidFill>
            <a:srgbClr val="6EF58A"/>
          </a:solidFill>
          <a:ln/>
        </p:spPr>
      </p:sp>
      <p:sp>
        <p:nvSpPr>
          <p:cNvPr id="76" name="DRILL MODE icon 8"/>
          <p:cNvSpPr/>
          <p:nvPr/>
        </p:nvSpPr>
        <p:spPr>
          <a:xfrm>
            <a:off x="7486650" y="2578100"/>
            <a:ext cx="152400" cy="50800"/>
          </a:xfrm>
          <a:prstGeom prst="rect">
            <a:avLst/>
          </a:prstGeom>
          <a:solidFill>
            <a:srgbClr val="0E2418"/>
          </a:solidFill>
          <a:ln/>
        </p:spPr>
      </p:sp>
      <p:sp>
        <p:nvSpPr>
          <p:cNvPr id="77" name="DRILL MODE icon 9"/>
          <p:cNvSpPr/>
          <p:nvPr/>
        </p:nvSpPr>
        <p:spPr>
          <a:xfrm>
            <a:off x="7461250" y="26797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78" name="DRILL MODE icon 10"/>
          <p:cNvSpPr/>
          <p:nvPr/>
        </p:nvSpPr>
        <p:spPr>
          <a:xfrm>
            <a:off x="7613650" y="2679700"/>
            <a:ext cx="50800" cy="50800"/>
          </a:xfrm>
          <a:prstGeom prst="rect">
            <a:avLst/>
          </a:prstGeom>
          <a:solidFill>
            <a:srgbClr val="6CCFC4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7893050" y="2336800"/>
            <a:ext cx="3048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spc="80" kern="0" dirty="0">
                <a:solidFill>
                  <a:srgbClr val="F7DD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DRILL MODE</a:t>
            </a:r>
            <a:endParaRPr lang="en-US" sz="2000" dirty="0"/>
          </a:p>
        </p:txBody>
      </p:sp>
      <p:sp>
        <p:nvSpPr>
          <p:cNvPr id="80" name="Text 78"/>
          <p:cNvSpPr txBox="1"/>
          <p:nvPr/>
        </p:nvSpPr>
        <p:spPr>
          <a:xfrm>
            <a:off x="7893050" y="2679700"/>
            <a:ext cx="3048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SafeSpace · our product</a:t>
            </a:r>
            <a:endParaRPr lang="en-US" sz="1000" dirty="0"/>
          </a:p>
        </p:txBody>
      </p:sp>
      <p:sp>
        <p:nvSpPr>
          <p:cNvPr id="81" name="row divider"/>
          <p:cNvSpPr/>
          <p:nvPr/>
        </p:nvSpPr>
        <p:spPr>
          <a:xfrm>
            <a:off x="7359650" y="28829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82" name="Text 80"/>
          <p:cNvSpPr txBox="1"/>
          <p:nvPr/>
        </p:nvSpPr>
        <p:spPr>
          <a:xfrm>
            <a:off x="7359650" y="28829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</a:t>
            </a:r>
            <a:pPr algn="l" indent="0" marL="0">
              <a:buNone/>
            </a:pPr>
            <a:r>
              <a:rPr lang="en-US" sz="1400" spc="56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whole household</a:t>
            </a:r>
            <a:endParaRPr lang="en-US" sz="1400" dirty="0"/>
          </a:p>
        </p:txBody>
      </p:sp>
      <p:sp>
        <p:nvSpPr>
          <p:cNvPr id="83" name="row divider"/>
          <p:cNvSpPr/>
          <p:nvPr/>
        </p:nvSpPr>
        <p:spPr>
          <a:xfrm>
            <a:off x="7359650" y="34290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84" name="Text 82"/>
          <p:cNvSpPr txBox="1"/>
          <p:nvPr/>
        </p:nvSpPr>
        <p:spPr>
          <a:xfrm>
            <a:off x="7359650" y="34290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On your terms, anytime</a:t>
            </a:r>
            <a:endParaRPr lang="en-US" sz="1400" dirty="0"/>
          </a:p>
        </p:txBody>
      </p:sp>
      <p:sp>
        <p:nvSpPr>
          <p:cNvPr id="85" name="row divider"/>
          <p:cNvSpPr/>
          <p:nvPr/>
        </p:nvSpPr>
        <p:spPr>
          <a:xfrm>
            <a:off x="7359650" y="39751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86" name="Text 84"/>
          <p:cNvSpPr txBox="1"/>
          <p:nvPr/>
        </p:nvSpPr>
        <p:spPr>
          <a:xfrm>
            <a:off x="7359650" y="39751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Call · SMS · email</a:t>
            </a:r>
            <a:endParaRPr lang="en-US" sz="1400" dirty="0"/>
          </a:p>
        </p:txBody>
      </p:sp>
      <p:sp>
        <p:nvSpPr>
          <p:cNvPr id="87" name="row divider"/>
          <p:cNvSpPr/>
          <p:nvPr/>
        </p:nvSpPr>
        <p:spPr>
          <a:xfrm>
            <a:off x="7359650" y="45212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88" name="Text 86"/>
          <p:cNvSpPr txBox="1"/>
          <p:nvPr/>
        </p:nvSpPr>
        <p:spPr>
          <a:xfrm>
            <a:off x="7359650" y="45212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Debrief + </a:t>
            </a:r>
            <a:pPr algn="l" indent="0" marL="0">
              <a:buNone/>
            </a:pPr>
            <a:r>
              <a:rPr lang="en-US" sz="1400" spc="56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family talk</a:t>
            </a:r>
            <a:endParaRPr lang="en-US" sz="1400" dirty="0"/>
          </a:p>
        </p:txBody>
      </p:sp>
      <p:sp>
        <p:nvSpPr>
          <p:cNvPr id="89" name="row divider"/>
          <p:cNvSpPr/>
          <p:nvPr/>
        </p:nvSpPr>
        <p:spPr>
          <a:xfrm>
            <a:off x="7359650" y="5067300"/>
            <a:ext cx="3536950" cy="0"/>
          </a:xfrm>
          <a:prstGeom prst="line">
            <a:avLst/>
          </a:prstGeom>
          <a:noFill/>
          <a:ln w="12700">
            <a:solidFill>
              <a:srgbClr val="3A3F55"/>
            </a:solidFill>
            <a:prstDash val="dash"/>
          </a:ln>
        </p:spPr>
      </p:sp>
      <p:sp>
        <p:nvSpPr>
          <p:cNvPr id="90" name="Text 88"/>
          <p:cNvSpPr txBox="1"/>
          <p:nvPr/>
        </p:nvSpPr>
        <p:spPr>
          <a:xfrm>
            <a:off x="7359650" y="5067300"/>
            <a:ext cx="3556000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56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XP, streaks</a:t>
            </a:r>
            <a:pPr algn="l" indent="0" marL="0">
              <a:buNone/>
            </a:pPr>
            <a:r>
              <a:rPr lang="en-US" sz="1400" spc="56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 virtual house</a:t>
            </a:r>
            <a:endParaRPr lang="en-US" sz="1400" dirty="0"/>
          </a:p>
        </p:txBody>
      </p:sp>
      <p:sp>
        <p:nvSpPr>
          <p:cNvPr id="91" name="better together tag"/>
          <p:cNvSpPr/>
          <p:nvPr/>
        </p:nvSpPr>
        <p:spPr>
          <a:xfrm>
            <a:off x="1079500" y="5969000"/>
            <a:ext cx="2548128" cy="355600"/>
          </a:xfrm>
          <a:prstGeom prst="rect">
            <a:avLst/>
          </a:prstGeom>
          <a:solidFill>
            <a:srgbClr val="F7DD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4" kern="0" dirty="0">
                <a:solidFill>
                  <a:srgbClr val="0A0D1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BETTER TOGETHER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3780028" y="5969000"/>
            <a:ext cx="825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64" kern="0" dirty="0">
                <a:solidFill>
                  <a:srgbClr val="F4F4F4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vaccine spots new scams. </a:t>
            </a:r>
            <a:pPr algn="l" indent="0" marL="0">
              <a:buNone/>
            </a:pPr>
            <a:r>
              <a:rPr lang="en-US" sz="1600" b="1" spc="64" kern="0" dirty="0">
                <a:solidFill>
                  <a:srgbClr val="6EF58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The drill builds the reflex.</a:t>
            </a:r>
            <a:endParaRPr lang="en-US" sz="1600" dirty="0"/>
          </a:p>
        </p:txBody>
      </p:sp>
      <p:sp>
        <p:nvSpPr>
          <p:cNvPr id="93" name="Text 91"/>
          <p:cNvSpPr txBox="1"/>
          <p:nvPr/>
        </p:nvSpPr>
        <p:spPr>
          <a:xfrm>
            <a:off x="1079500" y="648970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spc="40" kern="0" dirty="0">
                <a:solidFill>
                  <a:srgbClr val="8E95A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Scam Vaccine details: scamvaccine.gov.sg and The Straits Times, Oct 2026.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SafeSpace Drill Mode: B2G and Scam Vaccine</dc:title>
  <dc:subject>PptxGenJS Presentation</dc:subject>
  <dc:creator>PptxGenJS</dc:creator>
  <cp:lastModifiedBy>PptxGenJS</cp:lastModifiedBy>
  <cp:revision>1</cp:revision>
  <dcterms:created xsi:type="dcterms:W3CDTF">2026-10-20T08:56:19Z</dcterms:created>
  <dcterms:modified xsi:type="dcterms:W3CDTF">2026-10-20T08:56:19Z</dcterms:modified>
</cp:coreProperties>
</file>