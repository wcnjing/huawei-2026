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ask is simple: help us run one real pilot. First, a warm introduction to IMDA, SPF or NCPC so we can agree a pilot cohort. Second, access to seniors and their families, through Active Ageing Centres or schools. Third, Huawei Cloud credits and ModelArts mentoring so we can move from prototype hosting to pilot scale. In return, we will share a pilot readout by Q2 2027 showing whether drills make people harder to scam.
Keep it honest: no agreements exist yet with any agency, and the dates are a plan from the 27 October final, not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293394" y="415760"/>
            <a:ext cx="38100" cy="38100"/>
          </a:xfrm>
          <a:prstGeom prst="rect">
            <a:avLst/>
          </a:prstGeom>
          <a:solidFill>
            <a:srgbClr val="6CCFC4"/>
          </a:solidFill>
          <a:ln/>
        </p:spPr>
      </p:sp>
      <p:sp>
        <p:nvSpPr>
          <p:cNvPr id="3" name="confetti"/>
          <p:cNvSpPr/>
          <p:nvPr/>
        </p:nvSpPr>
        <p:spPr>
          <a:xfrm>
            <a:off x="1564481" y="259231"/>
            <a:ext cx="38100" cy="38100"/>
          </a:xfrm>
          <a:prstGeom prst="rect">
            <a:avLst/>
          </a:prstGeom>
          <a:solidFill>
            <a:srgbClr val="F0445A"/>
          </a:solidFill>
          <a:ln/>
        </p:spPr>
      </p:sp>
      <p:sp>
        <p:nvSpPr>
          <p:cNvPr id="4" name="confetti"/>
          <p:cNvSpPr/>
          <p:nvPr/>
        </p:nvSpPr>
        <p:spPr>
          <a:xfrm>
            <a:off x="1242777" y="299228"/>
            <a:ext cx="38100" cy="38100"/>
          </a:xfrm>
          <a:prstGeom prst="rect">
            <a:avLst/>
          </a:prstGeom>
          <a:solidFill>
            <a:srgbClr val="F0445A"/>
          </a:solidFill>
          <a:ln/>
        </p:spPr>
      </p:sp>
      <p:sp>
        <p:nvSpPr>
          <p:cNvPr id="5" name="confetti"/>
          <p:cNvSpPr/>
          <p:nvPr/>
        </p:nvSpPr>
        <p:spPr>
          <a:xfrm>
            <a:off x="280782" y="276460"/>
            <a:ext cx="38100" cy="38100"/>
          </a:xfrm>
          <a:prstGeom prst="rect">
            <a:avLst/>
          </a:prstGeom>
          <a:solidFill>
            <a:srgbClr val="6EF58A"/>
          </a:solidFill>
          <a:ln/>
        </p:spPr>
      </p:sp>
      <p:sp>
        <p:nvSpPr>
          <p:cNvPr id="6" name="confetti"/>
          <p:cNvSpPr/>
          <p:nvPr/>
        </p:nvSpPr>
        <p:spPr>
          <a:xfrm>
            <a:off x="1916994" y="376135"/>
            <a:ext cx="38100" cy="38100"/>
          </a:xfrm>
          <a:prstGeom prst="rect">
            <a:avLst/>
          </a:prstGeom>
          <a:solidFill>
            <a:srgbClr val="7E4CE0"/>
          </a:solidFill>
          <a:ln/>
        </p:spPr>
      </p:sp>
      <p:sp>
        <p:nvSpPr>
          <p:cNvPr id="7" name="confetti"/>
          <p:cNvSpPr/>
          <p:nvPr/>
        </p:nvSpPr>
        <p:spPr>
          <a:xfrm>
            <a:off x="245916" y="338962"/>
            <a:ext cx="38100" cy="38100"/>
          </a:xfrm>
          <a:prstGeom prst="rect">
            <a:avLst/>
          </a:prstGeom>
          <a:solidFill>
            <a:srgbClr val="6CCFC4"/>
          </a:solidFill>
          <a:ln/>
        </p:spPr>
      </p:sp>
      <p:sp>
        <p:nvSpPr>
          <p:cNvPr id="8" name="confetti"/>
          <p:cNvSpPr/>
          <p:nvPr/>
        </p:nvSpPr>
        <p:spPr>
          <a:xfrm>
            <a:off x="792045" y="350149"/>
            <a:ext cx="38100" cy="38100"/>
          </a:xfrm>
          <a:prstGeom prst="rect">
            <a:avLst/>
          </a:prstGeom>
          <a:solidFill>
            <a:srgbClr val="6CCFC4"/>
          </a:solidFill>
          <a:ln/>
        </p:spPr>
      </p:sp>
      <p:sp>
        <p:nvSpPr>
          <p:cNvPr id="9" name="confetti"/>
          <p:cNvSpPr/>
          <p:nvPr/>
        </p:nvSpPr>
        <p:spPr>
          <a:xfrm>
            <a:off x="2221883" y="150404"/>
            <a:ext cx="38100" cy="38100"/>
          </a:xfrm>
          <a:prstGeom prst="rect">
            <a:avLst/>
          </a:prstGeom>
          <a:solidFill>
            <a:srgbClr val="F7DD7A"/>
          </a:solidFill>
          <a:ln/>
        </p:spPr>
      </p:sp>
      <p:sp>
        <p:nvSpPr>
          <p:cNvPr id="10" name="confetti"/>
          <p:cNvSpPr/>
          <p:nvPr/>
        </p:nvSpPr>
        <p:spPr>
          <a:xfrm>
            <a:off x="915929" y="369435"/>
            <a:ext cx="38100" cy="38100"/>
          </a:xfrm>
          <a:prstGeom prst="rect">
            <a:avLst/>
          </a:prstGeom>
          <a:solidFill>
            <a:srgbClr val="F0445A"/>
          </a:solidFill>
          <a:ln/>
        </p:spPr>
      </p:sp>
      <p:sp>
        <p:nvSpPr>
          <p:cNvPr id="11" name="confetti"/>
          <p:cNvSpPr/>
          <p:nvPr/>
        </p:nvSpPr>
        <p:spPr>
          <a:xfrm>
            <a:off x="9656464" y="1127108"/>
            <a:ext cx="38100" cy="38100"/>
          </a:xfrm>
          <a:prstGeom prst="rect">
            <a:avLst/>
          </a:prstGeom>
          <a:solidFill>
            <a:srgbClr val="6CCFC4"/>
          </a:solidFill>
          <a:ln/>
        </p:spPr>
      </p:sp>
      <p:sp>
        <p:nvSpPr>
          <p:cNvPr id="12" name="confetti"/>
          <p:cNvSpPr/>
          <p:nvPr/>
        </p:nvSpPr>
        <p:spPr>
          <a:xfrm>
            <a:off x="10417087" y="511316"/>
            <a:ext cx="38100" cy="38100"/>
          </a:xfrm>
          <a:prstGeom prst="rect">
            <a:avLst/>
          </a:prstGeom>
          <a:solidFill>
            <a:srgbClr val="7E4CE0"/>
          </a:solidFill>
          <a:ln/>
        </p:spPr>
      </p:sp>
      <p:sp>
        <p:nvSpPr>
          <p:cNvPr id="13" name="confetti"/>
          <p:cNvSpPr/>
          <p:nvPr/>
        </p:nvSpPr>
        <p:spPr>
          <a:xfrm>
            <a:off x="11319703" y="212730"/>
            <a:ext cx="38100" cy="38100"/>
          </a:xfrm>
          <a:prstGeom prst="rect">
            <a:avLst/>
          </a:prstGeom>
          <a:solidFill>
            <a:srgbClr val="7E4CE0"/>
          </a:solidFill>
          <a:ln/>
        </p:spPr>
      </p:sp>
      <p:sp>
        <p:nvSpPr>
          <p:cNvPr id="14" name="confetti"/>
          <p:cNvSpPr/>
          <p:nvPr/>
        </p:nvSpPr>
        <p:spPr>
          <a:xfrm>
            <a:off x="10808562" y="919268"/>
            <a:ext cx="38100" cy="38100"/>
          </a:xfrm>
          <a:prstGeom prst="rect">
            <a:avLst/>
          </a:prstGeom>
          <a:solidFill>
            <a:srgbClr val="6CCFC4"/>
          </a:solidFill>
          <a:ln/>
        </p:spPr>
      </p:sp>
      <p:sp>
        <p:nvSpPr>
          <p:cNvPr id="15" name="confetti"/>
          <p:cNvSpPr/>
          <p:nvPr/>
        </p:nvSpPr>
        <p:spPr>
          <a:xfrm>
            <a:off x="9994915" y="16844"/>
            <a:ext cx="38100" cy="38100"/>
          </a:xfrm>
          <a:prstGeom prst="rect">
            <a:avLst/>
          </a:prstGeom>
          <a:solidFill>
            <a:srgbClr val="6EF58A"/>
          </a:solidFill>
          <a:ln/>
        </p:spPr>
      </p:sp>
      <p:sp>
        <p:nvSpPr>
          <p:cNvPr id="16" name="confetti"/>
          <p:cNvSpPr/>
          <p:nvPr/>
        </p:nvSpPr>
        <p:spPr>
          <a:xfrm>
            <a:off x="9990010" y="1495377"/>
            <a:ext cx="38100" cy="38100"/>
          </a:xfrm>
          <a:prstGeom prst="rect">
            <a:avLst/>
          </a:prstGeom>
          <a:solidFill>
            <a:srgbClr val="F0445A"/>
          </a:solidFill>
          <a:ln/>
        </p:spPr>
      </p:sp>
      <p:sp>
        <p:nvSpPr>
          <p:cNvPr id="17" name="confetti"/>
          <p:cNvSpPr/>
          <p:nvPr/>
        </p:nvSpPr>
        <p:spPr>
          <a:xfrm>
            <a:off x="11905099" y="1089782"/>
            <a:ext cx="38100" cy="38100"/>
          </a:xfrm>
          <a:prstGeom prst="rect">
            <a:avLst/>
          </a:prstGeom>
          <a:solidFill>
            <a:srgbClr val="F0445A"/>
          </a:solidFill>
          <a:ln/>
        </p:spPr>
      </p:sp>
      <p:sp>
        <p:nvSpPr>
          <p:cNvPr id="18" name="confetti"/>
          <p:cNvSpPr/>
          <p:nvPr/>
        </p:nvSpPr>
        <p:spPr>
          <a:xfrm>
            <a:off x="11517430" y="1138976"/>
            <a:ext cx="38100" cy="38100"/>
          </a:xfrm>
          <a:prstGeom prst="rect">
            <a:avLst/>
          </a:prstGeom>
          <a:solidFill>
            <a:srgbClr val="7E4CE0"/>
          </a:solidFill>
          <a:ln/>
        </p:spPr>
      </p:sp>
      <p:sp>
        <p:nvSpPr>
          <p:cNvPr id="19" name="confetti"/>
          <p:cNvSpPr/>
          <p:nvPr/>
        </p:nvSpPr>
        <p:spPr>
          <a:xfrm>
            <a:off x="9938255" y="679877"/>
            <a:ext cx="38100" cy="38100"/>
          </a:xfrm>
          <a:prstGeom prst="rect">
            <a:avLst/>
          </a:prstGeom>
          <a:solidFill>
            <a:srgbClr val="F7DD7A"/>
          </a:solidFill>
          <a:ln/>
        </p:spPr>
      </p:sp>
      <p:sp>
        <p:nvSpPr>
          <p:cNvPr id="20" name="confetti"/>
          <p:cNvSpPr/>
          <p:nvPr/>
        </p:nvSpPr>
        <p:spPr>
          <a:xfrm>
            <a:off x="11539240" y="5892920"/>
            <a:ext cx="38100" cy="38100"/>
          </a:xfrm>
          <a:prstGeom prst="rect">
            <a:avLst/>
          </a:prstGeom>
          <a:solidFill>
            <a:srgbClr val="6CCFC4"/>
          </a:solidFill>
          <a:ln/>
        </p:spPr>
      </p:sp>
      <p:sp>
        <p:nvSpPr>
          <p:cNvPr id="21" name="confetti"/>
          <p:cNvSpPr/>
          <p:nvPr/>
        </p:nvSpPr>
        <p:spPr>
          <a:xfrm>
            <a:off x="11210058" y="6340752"/>
            <a:ext cx="38100" cy="38100"/>
          </a:xfrm>
          <a:prstGeom prst="rect">
            <a:avLst/>
          </a:prstGeom>
          <a:solidFill>
            <a:srgbClr val="7E4CE0"/>
          </a:solidFill>
          <a:ln/>
        </p:spPr>
      </p:sp>
      <p:sp>
        <p:nvSpPr>
          <p:cNvPr id="22" name="confetti"/>
          <p:cNvSpPr/>
          <p:nvPr/>
        </p:nvSpPr>
        <p:spPr>
          <a:xfrm>
            <a:off x="12003003" y="6715824"/>
            <a:ext cx="38100" cy="38100"/>
          </a:xfrm>
          <a:prstGeom prst="rect">
            <a:avLst/>
          </a:prstGeom>
          <a:solidFill>
            <a:srgbClr val="F0445A"/>
          </a:solidFill>
          <a:ln/>
        </p:spPr>
      </p:sp>
      <p:sp>
        <p:nvSpPr>
          <p:cNvPr id="23" name="confetti"/>
          <p:cNvSpPr/>
          <p:nvPr/>
        </p:nvSpPr>
        <p:spPr>
          <a:xfrm>
            <a:off x="11706158" y="6284711"/>
            <a:ext cx="38100" cy="38100"/>
          </a:xfrm>
          <a:prstGeom prst="rect">
            <a:avLst/>
          </a:prstGeom>
          <a:solidFill>
            <a:srgbClr val="6EF58A"/>
          </a:solidFill>
          <a:ln/>
        </p:spPr>
      </p:sp>
      <p:sp>
        <p:nvSpPr>
          <p:cNvPr id="24" name="confetti"/>
          <p:cNvSpPr/>
          <p:nvPr/>
        </p:nvSpPr>
        <p:spPr>
          <a:xfrm>
            <a:off x="10901607" y="6828587"/>
            <a:ext cx="38100" cy="38100"/>
          </a:xfrm>
          <a:prstGeom prst="rect">
            <a:avLst/>
          </a:prstGeom>
          <a:solidFill>
            <a:srgbClr val="F0445A"/>
          </a:solidFill>
          <a:ln/>
        </p:spPr>
      </p:sp>
      <p:sp>
        <p:nvSpPr>
          <p:cNvPr id="25" name="confetti"/>
          <p:cNvSpPr/>
          <p:nvPr/>
        </p:nvSpPr>
        <p:spPr>
          <a:xfrm>
            <a:off x="11568434" y="6356727"/>
            <a:ext cx="38100" cy="38100"/>
          </a:xfrm>
          <a:prstGeom prst="rect">
            <a:avLst/>
          </a:prstGeom>
          <a:solidFill>
            <a:srgbClr val="6CCFC4"/>
          </a:solidFill>
          <a:ln/>
        </p:spPr>
      </p:sp>
      <p:sp>
        <p:nvSpPr>
          <p:cNvPr id="26" name="confetti"/>
          <p:cNvSpPr/>
          <p:nvPr/>
        </p:nvSpPr>
        <p:spPr>
          <a:xfrm>
            <a:off x="11494722" y="6650307"/>
            <a:ext cx="38100" cy="38100"/>
          </a:xfrm>
          <a:prstGeom prst="rect">
            <a:avLst/>
          </a:prstGeom>
          <a:solidFill>
            <a:srgbClr val="7E4CE0"/>
          </a:solidFill>
          <a:ln/>
        </p:spPr>
      </p:sp>
      <p:sp>
        <p:nvSpPr>
          <p:cNvPr id="27" name="confetti"/>
          <p:cNvSpPr/>
          <p:nvPr/>
        </p:nvSpPr>
        <p:spPr>
          <a:xfrm>
            <a:off x="11262553" y="5718602"/>
            <a:ext cx="38100" cy="38100"/>
          </a:xfrm>
          <a:prstGeom prst="rect">
            <a:avLst/>
          </a:prstGeom>
          <a:solidFill>
            <a:srgbClr val="F7DD7A"/>
          </a:solidFill>
          <a:ln/>
        </p:spPr>
      </p:sp>
      <p:sp>
        <p:nvSpPr>
          <p:cNvPr id="28" name="confetti"/>
          <p:cNvSpPr/>
          <p:nvPr/>
        </p:nvSpPr>
        <p:spPr>
          <a:xfrm>
            <a:off x="11454012" y="6600087"/>
            <a:ext cx="38100" cy="38100"/>
          </a:xfrm>
          <a:prstGeom prst="rect">
            <a:avLst/>
          </a:prstGeom>
          <a:solidFill>
            <a:srgbClr val="F7DD7A"/>
          </a:solidFill>
          <a:ln/>
        </p:spPr>
      </p:sp>
      <p:sp>
        <p:nvSpPr>
          <p:cNvPr id="29" name="Text 27"/>
          <p:cNvSpPr txBox="1"/>
          <p:nvPr/>
        </p:nvSpPr>
        <p:spPr>
          <a:xfrm>
            <a:off x="1079500" y="584200"/>
            <a:ext cx="6350000" cy="279400"/>
          </a:xfrm>
          <a:prstGeom prst="rect">
            <a:avLst/>
          </a:prstGeom>
          <a:noFill/>
          <a:ln/>
        </p:spPr>
        <p:txBody>
          <a:bodyPr wrap="square" lIns="0" tIns="0" rIns="0" bIns="0" rtlCol="0" anchor="t"/>
          <a:lstStyle/>
          <a:p>
            <a:pPr algn="l" indent="0" marL="0">
              <a:buNone/>
            </a:pPr>
            <a:r>
              <a:rPr lang="en-US" sz="1500" b="1" spc="180" kern="0" dirty="0">
                <a:solidFill>
                  <a:srgbClr val="6CCFC4"/>
                </a:solidFill>
                <a:latin typeface="Source Code Pro" pitchFamily="34" charset="0"/>
                <a:ea typeface="Source Code Pro" pitchFamily="34" charset="-122"/>
                <a:cs typeface="Source Code Pro" pitchFamily="34" charset="-120"/>
              </a:rPr>
              <a:t>THE ASK · WHAT WE NEED NEXT</a:t>
            </a:r>
            <a:endParaRPr lang="en-US" sz="1500" dirty="0"/>
          </a:p>
        </p:txBody>
      </p:sp>
      <p:sp>
        <p:nvSpPr>
          <p:cNvPr id="30" name="Text 28"/>
          <p:cNvSpPr txBox="1"/>
          <p:nvPr/>
        </p:nvSpPr>
        <p:spPr>
          <a:xfrm>
            <a:off x="1041400" y="825500"/>
            <a:ext cx="9525000" cy="952500"/>
          </a:xfrm>
          <a:prstGeom prst="rect">
            <a:avLst/>
          </a:prstGeom>
          <a:noFill/>
          <a:ln/>
          <a:effectLst>
            <a:outerShdw sx="100000" sy="100000" kx="0" ky="0" algn="bl" rotWithShape="0" blurRad="101600" dist="50800" dir="2700000">
              <a:srgbClr val="2C5C3C">
                <a:alpha val="100000"/>
              </a:srgbClr>
            </a:outerShdw>
          </a:effectLst>
        </p:spPr>
        <p:txBody>
          <a:bodyPr wrap="square" lIns="0" tIns="0" rIns="0" bIns="0" rtlCol="0" anchor="t"/>
          <a:lstStyle/>
          <a:p>
            <a:pPr algn="l" indent="0" marL="0">
              <a:buNone/>
            </a:pPr>
            <a:r>
              <a:rPr lang="en-US" sz="6400" b="1" spc="100" kern="0" dirty="0">
                <a:solidFill>
                  <a:srgbClr val="6EF58A"/>
                </a:solidFill>
                <a:latin typeface="Silkscreen" pitchFamily="34" charset="0"/>
                <a:ea typeface="Silkscreen" pitchFamily="34" charset="-122"/>
                <a:cs typeface="Silkscreen" pitchFamily="34" charset="-120"/>
              </a:rPr>
              <a:t>HELP US PILOT</a:t>
            </a:r>
            <a:endParaRPr lang="en-US" sz="6400" dirty="0"/>
          </a:p>
        </p:txBody>
      </p:sp>
      <p:sp>
        <p:nvSpPr>
          <p:cNvPr id="31" name="Text 29"/>
          <p:cNvSpPr txBox="1"/>
          <p:nvPr/>
        </p:nvSpPr>
        <p:spPr>
          <a:xfrm>
            <a:off x="1079500" y="1879600"/>
            <a:ext cx="10160000" cy="406400"/>
          </a:xfrm>
          <a:prstGeom prst="rect">
            <a:avLst/>
          </a:prstGeom>
          <a:noFill/>
          <a:ln/>
        </p:spPr>
        <p:txBody>
          <a:bodyPr wrap="square" lIns="0" tIns="0" rIns="0" bIns="0" rtlCol="0" anchor="t"/>
          <a:lstStyle/>
          <a:p>
            <a:pPr algn="l" indent="0" marL="0">
              <a:buNone/>
            </a:pPr>
            <a:r>
              <a:rPr lang="en-US" sz="2000" b="1" spc="80" kern="0" dirty="0">
                <a:solidFill>
                  <a:srgbClr val="F7DD7A"/>
                </a:solidFill>
                <a:latin typeface="Source Code Pro" pitchFamily="34" charset="0"/>
                <a:ea typeface="Source Code Pro" pitchFamily="34" charset="-122"/>
                <a:cs typeface="Source Code Pro" pitchFamily="34" charset="-120"/>
              </a:rPr>
              <a:t>Drill Mode works on a real phone. Now we need </a:t>
            </a:r>
            <a:pPr algn="l" indent="0" marL="0">
              <a:buNone/>
            </a:pPr>
            <a:r>
              <a:rPr lang="en-US" sz="2000" b="1" spc="80" kern="0" dirty="0">
                <a:solidFill>
                  <a:srgbClr val="6EF58A"/>
                </a:solidFill>
                <a:latin typeface="Source Code Pro" pitchFamily="34" charset="0"/>
                <a:ea typeface="Source Code Pro" pitchFamily="34" charset="-122"/>
                <a:cs typeface="Source Code Pro" pitchFamily="34" charset="-120"/>
              </a:rPr>
              <a:t>real families</a:t>
            </a:r>
            <a:pPr algn="l" indent="0" marL="0">
              <a:buNone/>
            </a:pPr>
            <a:r>
              <a:rPr lang="en-US" sz="2000" b="1" spc="80" kern="0" dirty="0">
                <a:solidFill>
                  <a:srgbClr val="F7DD7A"/>
                </a:solidFill>
                <a:latin typeface="Source Code Pro" pitchFamily="34" charset="0"/>
                <a:ea typeface="Source Code Pro" pitchFamily="34" charset="-122"/>
                <a:cs typeface="Source Code Pro" pitchFamily="34" charset="-120"/>
              </a:rPr>
              <a:t>.</a:t>
            </a:r>
            <a:endParaRPr lang="en-US" sz="2000" dirty="0"/>
          </a:p>
        </p:txBody>
      </p:sp>
      <p:sp>
        <p:nvSpPr>
          <p:cNvPr id="32" name="AN INTRO card"/>
          <p:cNvSpPr/>
          <p:nvPr/>
        </p:nvSpPr>
        <p:spPr>
          <a:xfrm>
            <a:off x="1079500" y="2476500"/>
            <a:ext cx="3175000" cy="2349500"/>
          </a:xfrm>
          <a:prstGeom prst="rect">
            <a:avLst/>
          </a:prstGeom>
          <a:solidFill>
            <a:srgbClr val="2C0A28"/>
          </a:solidFill>
          <a:ln w="19050">
            <a:solidFill>
              <a:srgbClr val="E0409E"/>
            </a:solidFill>
            <a:prstDash val="solid"/>
          </a:ln>
        </p:spPr>
      </p:sp>
      <p:sp>
        <p:nvSpPr>
          <p:cNvPr id="33" name="Text 31"/>
          <p:cNvSpPr txBox="1"/>
          <p:nvPr/>
        </p:nvSpPr>
        <p:spPr>
          <a:xfrm>
            <a:off x="1308100" y="2692400"/>
            <a:ext cx="762000" cy="254000"/>
          </a:xfrm>
          <a:prstGeom prst="rect">
            <a:avLst/>
          </a:prstGeom>
          <a:noFill/>
          <a:ln/>
        </p:spPr>
        <p:txBody>
          <a:bodyPr wrap="square" lIns="0" tIns="0" rIns="0" bIns="0" rtlCol="0" anchor="t"/>
          <a:lstStyle/>
          <a:p>
            <a:pPr algn="l" indent="0" marL="0">
              <a:buNone/>
            </a:pPr>
            <a:r>
              <a:rPr lang="en-US" sz="1400" b="1" spc="100" kern="0" dirty="0">
                <a:solidFill>
                  <a:srgbClr val="E0409E"/>
                </a:solidFill>
                <a:latin typeface="Silkscreen" pitchFamily="34" charset="0"/>
                <a:ea typeface="Silkscreen" pitchFamily="34" charset="-122"/>
                <a:cs typeface="Silkscreen" pitchFamily="34" charset="-120"/>
              </a:rPr>
              <a:t>01</a:t>
            </a:r>
            <a:endParaRPr lang="en-US" sz="1400" dirty="0"/>
          </a:p>
        </p:txBody>
      </p:sp>
      <p:sp>
        <p:nvSpPr>
          <p:cNvPr id="34" name="AN INTRO icon 1"/>
          <p:cNvSpPr/>
          <p:nvPr/>
        </p:nvSpPr>
        <p:spPr>
          <a:xfrm>
            <a:off x="3797300" y="2692400"/>
            <a:ext cx="50800" cy="25400"/>
          </a:xfrm>
          <a:prstGeom prst="rect">
            <a:avLst/>
          </a:prstGeom>
          <a:solidFill>
            <a:srgbClr val="F0445A"/>
          </a:solidFill>
          <a:ln/>
        </p:spPr>
      </p:sp>
      <p:sp>
        <p:nvSpPr>
          <p:cNvPr id="35" name="AN INTRO icon 2"/>
          <p:cNvSpPr/>
          <p:nvPr/>
        </p:nvSpPr>
        <p:spPr>
          <a:xfrm>
            <a:off x="3797300" y="2717800"/>
            <a:ext cx="25400" cy="50800"/>
          </a:xfrm>
          <a:prstGeom prst="rect">
            <a:avLst/>
          </a:prstGeom>
          <a:solidFill>
            <a:srgbClr val="F4F4F4"/>
          </a:solidFill>
          <a:ln/>
        </p:spPr>
      </p:sp>
      <p:sp>
        <p:nvSpPr>
          <p:cNvPr id="36" name="AN INTRO icon 3"/>
          <p:cNvSpPr/>
          <p:nvPr/>
        </p:nvSpPr>
        <p:spPr>
          <a:xfrm>
            <a:off x="3695700" y="2768600"/>
            <a:ext cx="254000" cy="25400"/>
          </a:xfrm>
          <a:prstGeom prst="rect">
            <a:avLst/>
          </a:prstGeom>
          <a:solidFill>
            <a:srgbClr val="E0409E"/>
          </a:solidFill>
          <a:ln/>
        </p:spPr>
      </p:sp>
      <p:sp>
        <p:nvSpPr>
          <p:cNvPr id="37" name="AN INTRO icon 4"/>
          <p:cNvSpPr/>
          <p:nvPr/>
        </p:nvSpPr>
        <p:spPr>
          <a:xfrm>
            <a:off x="3670300" y="2794000"/>
            <a:ext cx="304800" cy="50800"/>
          </a:xfrm>
          <a:prstGeom prst="rect">
            <a:avLst/>
          </a:prstGeom>
          <a:solidFill>
            <a:srgbClr val="E0409E"/>
          </a:solidFill>
          <a:ln/>
        </p:spPr>
      </p:sp>
      <p:sp>
        <p:nvSpPr>
          <p:cNvPr id="38" name="AN INTRO icon 5"/>
          <p:cNvSpPr/>
          <p:nvPr/>
        </p:nvSpPr>
        <p:spPr>
          <a:xfrm>
            <a:off x="3695700" y="2870200"/>
            <a:ext cx="50800" cy="152400"/>
          </a:xfrm>
          <a:prstGeom prst="rect">
            <a:avLst/>
          </a:prstGeom>
          <a:solidFill>
            <a:srgbClr val="F4F4F4"/>
          </a:solidFill>
          <a:ln/>
        </p:spPr>
      </p:sp>
      <p:sp>
        <p:nvSpPr>
          <p:cNvPr id="39" name="AN INTRO icon 6"/>
          <p:cNvSpPr/>
          <p:nvPr/>
        </p:nvSpPr>
        <p:spPr>
          <a:xfrm>
            <a:off x="3797300" y="2870200"/>
            <a:ext cx="50800" cy="152400"/>
          </a:xfrm>
          <a:prstGeom prst="rect">
            <a:avLst/>
          </a:prstGeom>
          <a:solidFill>
            <a:srgbClr val="F4F4F4"/>
          </a:solidFill>
          <a:ln/>
        </p:spPr>
      </p:sp>
      <p:sp>
        <p:nvSpPr>
          <p:cNvPr id="40" name="AN INTRO icon 7"/>
          <p:cNvSpPr/>
          <p:nvPr/>
        </p:nvSpPr>
        <p:spPr>
          <a:xfrm>
            <a:off x="3898900" y="2870200"/>
            <a:ext cx="50800" cy="152400"/>
          </a:xfrm>
          <a:prstGeom prst="rect">
            <a:avLst/>
          </a:prstGeom>
          <a:solidFill>
            <a:srgbClr val="F4F4F4"/>
          </a:solidFill>
          <a:ln/>
        </p:spPr>
      </p:sp>
      <p:sp>
        <p:nvSpPr>
          <p:cNvPr id="41" name="AN INTRO icon 8"/>
          <p:cNvSpPr/>
          <p:nvPr/>
        </p:nvSpPr>
        <p:spPr>
          <a:xfrm>
            <a:off x="3644900" y="3022600"/>
            <a:ext cx="355600" cy="50800"/>
          </a:xfrm>
          <a:prstGeom prst="rect">
            <a:avLst/>
          </a:prstGeom>
          <a:solidFill>
            <a:srgbClr val="E0409E"/>
          </a:solidFill>
          <a:ln/>
        </p:spPr>
      </p:sp>
      <p:sp>
        <p:nvSpPr>
          <p:cNvPr id="42" name="Text 40"/>
          <p:cNvSpPr txBox="1"/>
          <p:nvPr/>
        </p:nvSpPr>
        <p:spPr>
          <a:xfrm>
            <a:off x="1308100" y="3022600"/>
            <a:ext cx="2667000" cy="355600"/>
          </a:xfrm>
          <a:prstGeom prst="rect">
            <a:avLst/>
          </a:prstGeom>
          <a:noFill/>
          <a:ln/>
        </p:spPr>
        <p:txBody>
          <a:bodyPr wrap="square" lIns="0" tIns="0" rIns="0" bIns="0" rtlCol="0" anchor="t"/>
          <a:lstStyle/>
          <a:p>
            <a:pPr algn="l" indent="0" marL="0">
              <a:buNone/>
            </a:pPr>
            <a:r>
              <a:rPr lang="en-US" sz="2100" b="1" spc="84" kern="0" dirty="0">
                <a:solidFill>
                  <a:srgbClr val="F7DD7A"/>
                </a:solidFill>
                <a:latin typeface="Source Code Pro" pitchFamily="34" charset="0"/>
                <a:ea typeface="Source Code Pro" pitchFamily="34" charset="-122"/>
                <a:cs typeface="Source Code Pro" pitchFamily="34" charset="-120"/>
              </a:rPr>
              <a:t>AN INTRO</a:t>
            </a:r>
            <a:endParaRPr lang="en-US" sz="2100" dirty="0"/>
          </a:p>
        </p:txBody>
      </p:sp>
      <p:sp>
        <p:nvSpPr>
          <p:cNvPr id="43" name="Text 41"/>
          <p:cNvSpPr txBox="1"/>
          <p:nvPr/>
        </p:nvSpPr>
        <p:spPr>
          <a:xfrm>
            <a:off x="1308100" y="3492500"/>
            <a:ext cx="2717800" cy="825500"/>
          </a:xfrm>
          <a:prstGeom prst="rect">
            <a:avLst/>
          </a:prstGeom>
          <a:noFill/>
          <a:ln/>
        </p:spPr>
        <p:txBody>
          <a:bodyPr wrap="square" lIns="0" tIns="0" rIns="0" bIns="0" rtlCol="0" anchor="t"/>
          <a:lstStyle/>
          <a:p>
            <a:pPr algn="l" indent="0" marL="0">
              <a:lnSpc>
                <a:spcPct val="125000"/>
              </a:lnSpc>
              <a:buNone/>
            </a:pPr>
            <a:r>
              <a:rPr lang="en-US" sz="1500" spc="60" kern="0" dirty="0">
                <a:solidFill>
                  <a:srgbClr val="F4F4F4"/>
                </a:solidFill>
                <a:latin typeface="Source Code Pro" pitchFamily="34" charset="0"/>
                <a:ea typeface="Source Code Pro" pitchFamily="34" charset="-122"/>
                <a:cs typeface="Source Code Pro" pitchFamily="34" charset="-120"/>
              </a:rPr>
              <a:t>A warm intro to </a:t>
            </a:r>
            <a:pPr algn="l" indent="0" marL="0">
              <a:lnSpc>
                <a:spcPct val="125000"/>
              </a:lnSpc>
              <a:buNone/>
            </a:pPr>
            <a:r>
              <a:rPr lang="en-US" sz="1500" spc="60" kern="0" dirty="0">
                <a:solidFill>
                  <a:srgbClr val="F7DD7A"/>
                </a:solidFill>
                <a:latin typeface="Source Code Pro" pitchFamily="34" charset="0"/>
                <a:ea typeface="Source Code Pro" pitchFamily="34" charset="-122"/>
                <a:cs typeface="Source Code Pro" pitchFamily="34" charset="-120"/>
              </a:rPr>
              <a:t>IMDA, SPF or NCPC</a:t>
            </a:r>
            <a:pPr algn="l" indent="0" marL="0">
              <a:lnSpc>
                <a:spcPct val="125000"/>
              </a:lnSpc>
              <a:buNone/>
            </a:pPr>
            <a:r>
              <a:rPr lang="en-US" sz="1500" spc="60" kern="0" dirty="0">
                <a:solidFill>
                  <a:srgbClr val="F4F4F4"/>
                </a:solidFill>
                <a:latin typeface="Source Code Pro" pitchFamily="34" charset="0"/>
                <a:ea typeface="Source Code Pro" pitchFamily="34" charset="-122"/>
                <a:cs typeface="Source Code Pro" pitchFamily="34" charset="-120"/>
              </a:rPr>
              <a:t>.</a:t>
            </a:r>
            <a:endParaRPr lang="en-US" sz="1500" dirty="0"/>
          </a:p>
        </p:txBody>
      </p:sp>
      <p:sp>
        <p:nvSpPr>
          <p:cNvPr id="44" name="Text 42"/>
          <p:cNvSpPr txBox="1"/>
          <p:nvPr/>
        </p:nvSpPr>
        <p:spPr>
          <a:xfrm>
            <a:off x="1308100" y="4445000"/>
            <a:ext cx="2717800" cy="254000"/>
          </a:xfrm>
          <a:prstGeom prst="rect">
            <a:avLst/>
          </a:prstGeom>
          <a:noFill/>
          <a:ln/>
        </p:spPr>
        <p:txBody>
          <a:bodyPr wrap="square" lIns="0" tIns="0" rIns="0" bIns="0" rtlCol="0" anchor="t"/>
          <a:lstStyle/>
          <a:p>
            <a:pPr algn="l" indent="0" marL="0">
              <a:buNone/>
            </a:pPr>
            <a:r>
              <a:rPr lang="en-US" sz="1100" spc="44" kern="0" dirty="0">
                <a:solidFill>
                  <a:srgbClr val="8E95AD"/>
                </a:solidFill>
                <a:latin typeface="Source Code Pro" pitchFamily="34" charset="0"/>
                <a:ea typeface="Source Code Pro" pitchFamily="34" charset="-122"/>
                <a:cs typeface="Source Code Pro" pitchFamily="34" charset="-120"/>
              </a:rPr>
              <a:t>To agree a first pilot cohort</a:t>
            </a:r>
            <a:endParaRPr lang="en-US" sz="1100" dirty="0"/>
          </a:p>
        </p:txBody>
      </p:sp>
      <p:sp>
        <p:nvSpPr>
          <p:cNvPr id="45" name="A COHORT card"/>
          <p:cNvSpPr/>
          <p:nvPr/>
        </p:nvSpPr>
        <p:spPr>
          <a:xfrm>
            <a:off x="4508500" y="2476500"/>
            <a:ext cx="3175000" cy="2349500"/>
          </a:xfrm>
          <a:prstGeom prst="rect">
            <a:avLst/>
          </a:prstGeom>
          <a:solidFill>
            <a:srgbClr val="1D1530"/>
          </a:solidFill>
          <a:ln w="19050">
            <a:solidFill>
              <a:srgbClr val="7E4CE0"/>
            </a:solidFill>
            <a:prstDash val="solid"/>
          </a:ln>
        </p:spPr>
      </p:sp>
      <p:sp>
        <p:nvSpPr>
          <p:cNvPr id="46" name="Text 44"/>
          <p:cNvSpPr txBox="1"/>
          <p:nvPr/>
        </p:nvSpPr>
        <p:spPr>
          <a:xfrm>
            <a:off x="4737100" y="2692400"/>
            <a:ext cx="762000" cy="254000"/>
          </a:xfrm>
          <a:prstGeom prst="rect">
            <a:avLst/>
          </a:prstGeom>
          <a:noFill/>
          <a:ln/>
        </p:spPr>
        <p:txBody>
          <a:bodyPr wrap="square" lIns="0" tIns="0" rIns="0" bIns="0" rtlCol="0" anchor="t"/>
          <a:lstStyle/>
          <a:p>
            <a:pPr algn="l" indent="0" marL="0">
              <a:buNone/>
            </a:pPr>
            <a:r>
              <a:rPr lang="en-US" sz="1400" b="1" spc="100" kern="0" dirty="0">
                <a:solidFill>
                  <a:srgbClr val="7E4CE0"/>
                </a:solidFill>
                <a:latin typeface="Silkscreen" pitchFamily="34" charset="0"/>
                <a:ea typeface="Silkscreen" pitchFamily="34" charset="-122"/>
                <a:cs typeface="Silkscreen" pitchFamily="34" charset="-120"/>
              </a:rPr>
              <a:t>02</a:t>
            </a:r>
            <a:endParaRPr lang="en-US" sz="1400" dirty="0"/>
          </a:p>
        </p:txBody>
      </p:sp>
      <p:sp>
        <p:nvSpPr>
          <p:cNvPr id="47" name="A COHORT icon 1"/>
          <p:cNvSpPr/>
          <p:nvPr/>
        </p:nvSpPr>
        <p:spPr>
          <a:xfrm>
            <a:off x="6870700" y="2717800"/>
            <a:ext cx="203200" cy="152400"/>
          </a:xfrm>
          <a:prstGeom prst="rect">
            <a:avLst/>
          </a:prstGeom>
          <a:solidFill>
            <a:srgbClr val="6EF58A"/>
          </a:solidFill>
          <a:ln/>
        </p:spPr>
      </p:sp>
      <p:sp>
        <p:nvSpPr>
          <p:cNvPr id="48" name="A COHORT icon 2"/>
          <p:cNvSpPr/>
          <p:nvPr/>
        </p:nvSpPr>
        <p:spPr>
          <a:xfrm>
            <a:off x="6845300" y="2895600"/>
            <a:ext cx="254000" cy="101600"/>
          </a:xfrm>
          <a:prstGeom prst="rect">
            <a:avLst/>
          </a:prstGeom>
          <a:solidFill>
            <a:srgbClr val="6EF58A"/>
          </a:solidFill>
          <a:ln/>
        </p:spPr>
      </p:sp>
      <p:sp>
        <p:nvSpPr>
          <p:cNvPr id="49" name="A COHORT icon 3"/>
          <p:cNvSpPr/>
          <p:nvPr/>
        </p:nvSpPr>
        <p:spPr>
          <a:xfrm>
            <a:off x="6896100" y="2997200"/>
            <a:ext cx="50800" cy="76200"/>
          </a:xfrm>
          <a:prstGeom prst="rect">
            <a:avLst/>
          </a:prstGeom>
          <a:solidFill>
            <a:srgbClr val="6EF58A"/>
          </a:solidFill>
          <a:ln/>
        </p:spPr>
      </p:sp>
      <p:sp>
        <p:nvSpPr>
          <p:cNvPr id="50" name="A COHORT icon 4"/>
          <p:cNvSpPr/>
          <p:nvPr/>
        </p:nvSpPr>
        <p:spPr>
          <a:xfrm>
            <a:off x="6997700" y="2997200"/>
            <a:ext cx="50800" cy="76200"/>
          </a:xfrm>
          <a:prstGeom prst="rect">
            <a:avLst/>
          </a:prstGeom>
          <a:solidFill>
            <a:srgbClr val="6EF58A"/>
          </a:solidFill>
          <a:ln/>
        </p:spPr>
      </p:sp>
      <p:sp>
        <p:nvSpPr>
          <p:cNvPr id="51" name="A COHORT icon 5"/>
          <p:cNvSpPr/>
          <p:nvPr/>
        </p:nvSpPr>
        <p:spPr>
          <a:xfrm>
            <a:off x="6921500" y="2768600"/>
            <a:ext cx="25400" cy="25400"/>
          </a:xfrm>
          <a:prstGeom prst="rect">
            <a:avLst/>
          </a:prstGeom>
          <a:solidFill>
            <a:srgbClr val="0A0D18"/>
          </a:solidFill>
          <a:ln/>
        </p:spPr>
      </p:sp>
      <p:sp>
        <p:nvSpPr>
          <p:cNvPr id="52" name="A COHORT icon 6"/>
          <p:cNvSpPr/>
          <p:nvPr/>
        </p:nvSpPr>
        <p:spPr>
          <a:xfrm>
            <a:off x="6997700" y="2768600"/>
            <a:ext cx="25400" cy="25400"/>
          </a:xfrm>
          <a:prstGeom prst="rect">
            <a:avLst/>
          </a:prstGeom>
          <a:solidFill>
            <a:srgbClr val="0A0D18"/>
          </a:solidFill>
          <a:ln/>
        </p:spPr>
      </p:sp>
      <p:sp>
        <p:nvSpPr>
          <p:cNvPr id="53" name="A COHORT icon 7"/>
          <p:cNvSpPr/>
          <p:nvPr/>
        </p:nvSpPr>
        <p:spPr>
          <a:xfrm>
            <a:off x="6946900" y="2819400"/>
            <a:ext cx="50800" cy="25400"/>
          </a:xfrm>
          <a:prstGeom prst="rect">
            <a:avLst/>
          </a:prstGeom>
          <a:solidFill>
            <a:srgbClr val="0A0D18"/>
          </a:solidFill>
          <a:ln/>
        </p:spPr>
      </p:sp>
      <p:sp>
        <p:nvSpPr>
          <p:cNvPr id="54" name="A COHORT icon 8"/>
          <p:cNvSpPr/>
          <p:nvPr/>
        </p:nvSpPr>
        <p:spPr>
          <a:xfrm>
            <a:off x="7200900" y="2743200"/>
            <a:ext cx="203200" cy="152400"/>
          </a:xfrm>
          <a:prstGeom prst="rect">
            <a:avLst/>
          </a:prstGeom>
          <a:solidFill>
            <a:srgbClr val="F7DD7A"/>
          </a:solidFill>
          <a:ln/>
        </p:spPr>
      </p:sp>
      <p:sp>
        <p:nvSpPr>
          <p:cNvPr id="55" name="A COHORT icon 9"/>
          <p:cNvSpPr/>
          <p:nvPr/>
        </p:nvSpPr>
        <p:spPr>
          <a:xfrm>
            <a:off x="7175500" y="2921000"/>
            <a:ext cx="254000" cy="76200"/>
          </a:xfrm>
          <a:prstGeom prst="rect">
            <a:avLst/>
          </a:prstGeom>
          <a:solidFill>
            <a:srgbClr val="F7DD7A"/>
          </a:solidFill>
          <a:ln/>
        </p:spPr>
      </p:sp>
      <p:sp>
        <p:nvSpPr>
          <p:cNvPr id="56" name="A COHORT icon 10"/>
          <p:cNvSpPr/>
          <p:nvPr/>
        </p:nvSpPr>
        <p:spPr>
          <a:xfrm>
            <a:off x="7226300" y="2997200"/>
            <a:ext cx="50800" cy="76200"/>
          </a:xfrm>
          <a:prstGeom prst="rect">
            <a:avLst/>
          </a:prstGeom>
          <a:solidFill>
            <a:srgbClr val="F7DD7A"/>
          </a:solidFill>
          <a:ln/>
        </p:spPr>
      </p:sp>
      <p:sp>
        <p:nvSpPr>
          <p:cNvPr id="57" name="A COHORT icon 11"/>
          <p:cNvSpPr/>
          <p:nvPr/>
        </p:nvSpPr>
        <p:spPr>
          <a:xfrm>
            <a:off x="7327900" y="2997200"/>
            <a:ext cx="50800" cy="76200"/>
          </a:xfrm>
          <a:prstGeom prst="rect">
            <a:avLst/>
          </a:prstGeom>
          <a:solidFill>
            <a:srgbClr val="F7DD7A"/>
          </a:solidFill>
          <a:ln/>
        </p:spPr>
      </p:sp>
      <p:sp>
        <p:nvSpPr>
          <p:cNvPr id="58" name="A COHORT icon 12"/>
          <p:cNvSpPr/>
          <p:nvPr/>
        </p:nvSpPr>
        <p:spPr>
          <a:xfrm>
            <a:off x="7251700" y="2794000"/>
            <a:ext cx="25400" cy="25400"/>
          </a:xfrm>
          <a:prstGeom prst="rect">
            <a:avLst/>
          </a:prstGeom>
          <a:solidFill>
            <a:srgbClr val="0A0D18"/>
          </a:solidFill>
          <a:ln/>
        </p:spPr>
      </p:sp>
      <p:sp>
        <p:nvSpPr>
          <p:cNvPr id="59" name="A COHORT icon 13"/>
          <p:cNvSpPr/>
          <p:nvPr/>
        </p:nvSpPr>
        <p:spPr>
          <a:xfrm>
            <a:off x="7327900" y="2794000"/>
            <a:ext cx="25400" cy="25400"/>
          </a:xfrm>
          <a:prstGeom prst="rect">
            <a:avLst/>
          </a:prstGeom>
          <a:solidFill>
            <a:srgbClr val="0A0D18"/>
          </a:solidFill>
          <a:ln/>
        </p:spPr>
      </p:sp>
      <p:sp>
        <p:nvSpPr>
          <p:cNvPr id="60" name="A COHORT icon 14"/>
          <p:cNvSpPr/>
          <p:nvPr/>
        </p:nvSpPr>
        <p:spPr>
          <a:xfrm>
            <a:off x="7277100" y="2844800"/>
            <a:ext cx="50800" cy="25400"/>
          </a:xfrm>
          <a:prstGeom prst="rect">
            <a:avLst/>
          </a:prstGeom>
          <a:solidFill>
            <a:srgbClr val="0A0D18"/>
          </a:solidFill>
          <a:ln/>
        </p:spPr>
      </p:sp>
      <p:sp>
        <p:nvSpPr>
          <p:cNvPr id="61" name="Text 59"/>
          <p:cNvSpPr txBox="1"/>
          <p:nvPr/>
        </p:nvSpPr>
        <p:spPr>
          <a:xfrm>
            <a:off x="4737100" y="3022600"/>
            <a:ext cx="2667000" cy="355600"/>
          </a:xfrm>
          <a:prstGeom prst="rect">
            <a:avLst/>
          </a:prstGeom>
          <a:noFill/>
          <a:ln/>
        </p:spPr>
        <p:txBody>
          <a:bodyPr wrap="square" lIns="0" tIns="0" rIns="0" bIns="0" rtlCol="0" anchor="t"/>
          <a:lstStyle/>
          <a:p>
            <a:pPr algn="l" indent="0" marL="0">
              <a:buNone/>
            </a:pPr>
            <a:r>
              <a:rPr lang="en-US" sz="2100" b="1" spc="84" kern="0" dirty="0">
                <a:solidFill>
                  <a:srgbClr val="F7DD7A"/>
                </a:solidFill>
                <a:latin typeface="Source Code Pro" pitchFamily="34" charset="0"/>
                <a:ea typeface="Source Code Pro" pitchFamily="34" charset="-122"/>
                <a:cs typeface="Source Code Pro" pitchFamily="34" charset="-120"/>
              </a:rPr>
              <a:t>A COHORT</a:t>
            </a:r>
            <a:endParaRPr lang="en-US" sz="2100" dirty="0"/>
          </a:p>
        </p:txBody>
      </p:sp>
      <p:sp>
        <p:nvSpPr>
          <p:cNvPr id="62" name="Text 60"/>
          <p:cNvSpPr txBox="1"/>
          <p:nvPr/>
        </p:nvSpPr>
        <p:spPr>
          <a:xfrm>
            <a:off x="4737100" y="3492500"/>
            <a:ext cx="2717800" cy="825500"/>
          </a:xfrm>
          <a:prstGeom prst="rect">
            <a:avLst/>
          </a:prstGeom>
          <a:noFill/>
          <a:ln/>
        </p:spPr>
        <p:txBody>
          <a:bodyPr wrap="square" lIns="0" tIns="0" rIns="0" bIns="0" rtlCol="0" anchor="t"/>
          <a:lstStyle/>
          <a:p>
            <a:pPr algn="l" indent="0" marL="0">
              <a:lnSpc>
                <a:spcPct val="125000"/>
              </a:lnSpc>
              <a:buNone/>
            </a:pPr>
            <a:r>
              <a:rPr lang="en-US" sz="1500" spc="60" kern="0" dirty="0">
                <a:solidFill>
                  <a:srgbClr val="6EF58A"/>
                </a:solidFill>
                <a:latin typeface="Source Code Pro" pitchFamily="34" charset="0"/>
                <a:ea typeface="Source Code Pro" pitchFamily="34" charset="-122"/>
                <a:cs typeface="Source Code Pro" pitchFamily="34" charset="-120"/>
              </a:rPr>
              <a:t>Seniors </a:t>
            </a:r>
            <a:pPr algn="l" indent="0" marL="0">
              <a:lnSpc>
                <a:spcPct val="125000"/>
              </a:lnSpc>
              <a:buNone/>
            </a:pPr>
            <a:r>
              <a:rPr lang="en-US" sz="1500" spc="60" kern="0" dirty="0">
                <a:solidFill>
                  <a:srgbClr val="F4F4F4"/>
                </a:solidFill>
                <a:latin typeface="Source Code Pro" pitchFamily="34" charset="0"/>
                <a:ea typeface="Source Code Pro" pitchFamily="34" charset="-122"/>
                <a:cs typeface="Source Code Pro" pitchFamily="34" charset="-120"/>
              </a:rPr>
              <a:t>and their families, ready to drill.</a:t>
            </a:r>
            <a:endParaRPr lang="en-US" sz="1500" dirty="0"/>
          </a:p>
        </p:txBody>
      </p:sp>
      <p:sp>
        <p:nvSpPr>
          <p:cNvPr id="63" name="Text 61"/>
          <p:cNvSpPr txBox="1"/>
          <p:nvPr/>
        </p:nvSpPr>
        <p:spPr>
          <a:xfrm>
            <a:off x="4737100" y="4445000"/>
            <a:ext cx="2717800" cy="254000"/>
          </a:xfrm>
          <a:prstGeom prst="rect">
            <a:avLst/>
          </a:prstGeom>
          <a:noFill/>
          <a:ln/>
        </p:spPr>
        <p:txBody>
          <a:bodyPr wrap="square" lIns="0" tIns="0" rIns="0" bIns="0" rtlCol="0" anchor="t"/>
          <a:lstStyle/>
          <a:p>
            <a:pPr algn="l" indent="0" marL="0">
              <a:buNone/>
            </a:pPr>
            <a:r>
              <a:rPr lang="en-US" sz="1100" spc="44" kern="0" dirty="0">
                <a:solidFill>
                  <a:srgbClr val="8E95AD"/>
                </a:solidFill>
                <a:latin typeface="Source Code Pro" pitchFamily="34" charset="0"/>
                <a:ea typeface="Source Code Pro" pitchFamily="34" charset="-122"/>
                <a:cs typeface="Source Code Pro" pitchFamily="34" charset="-120"/>
              </a:rPr>
              <a:t>Via Active Ageing Centres</a:t>
            </a:r>
            <a:endParaRPr lang="en-US" sz="1100" dirty="0"/>
          </a:p>
        </p:txBody>
      </p:sp>
      <p:sp>
        <p:nvSpPr>
          <p:cNvPr id="64" name="CLOUD card"/>
          <p:cNvSpPr/>
          <p:nvPr/>
        </p:nvSpPr>
        <p:spPr>
          <a:xfrm>
            <a:off x="7937500" y="2476500"/>
            <a:ext cx="3175000" cy="2349500"/>
          </a:xfrm>
          <a:prstGeom prst="rect">
            <a:avLst/>
          </a:prstGeom>
          <a:solidFill>
            <a:srgbClr val="0E2418"/>
          </a:solidFill>
          <a:ln w="19050">
            <a:solidFill>
              <a:srgbClr val="6EF58A"/>
            </a:solidFill>
            <a:prstDash val="solid"/>
          </a:ln>
        </p:spPr>
      </p:sp>
      <p:sp>
        <p:nvSpPr>
          <p:cNvPr id="65" name="Text 63"/>
          <p:cNvSpPr txBox="1"/>
          <p:nvPr/>
        </p:nvSpPr>
        <p:spPr>
          <a:xfrm>
            <a:off x="8166100" y="2692400"/>
            <a:ext cx="762000" cy="254000"/>
          </a:xfrm>
          <a:prstGeom prst="rect">
            <a:avLst/>
          </a:prstGeom>
          <a:noFill/>
          <a:ln/>
        </p:spPr>
        <p:txBody>
          <a:bodyPr wrap="square" lIns="0" tIns="0" rIns="0" bIns="0" rtlCol="0" anchor="t"/>
          <a:lstStyle/>
          <a:p>
            <a:pPr algn="l" indent="0" marL="0">
              <a:buNone/>
            </a:pPr>
            <a:r>
              <a:rPr lang="en-US" sz="1400" b="1" spc="100" kern="0" dirty="0">
                <a:solidFill>
                  <a:srgbClr val="6EF58A"/>
                </a:solidFill>
                <a:latin typeface="Silkscreen" pitchFamily="34" charset="0"/>
                <a:ea typeface="Silkscreen" pitchFamily="34" charset="-122"/>
                <a:cs typeface="Silkscreen" pitchFamily="34" charset="-120"/>
              </a:rPr>
              <a:t>03</a:t>
            </a:r>
            <a:endParaRPr lang="en-US" sz="1400" dirty="0"/>
          </a:p>
        </p:txBody>
      </p:sp>
      <p:sp>
        <p:nvSpPr>
          <p:cNvPr id="66" name="CLOUD icon 1"/>
          <p:cNvSpPr/>
          <p:nvPr/>
        </p:nvSpPr>
        <p:spPr>
          <a:xfrm>
            <a:off x="10579100" y="2692400"/>
            <a:ext cx="203200" cy="152400"/>
          </a:xfrm>
          <a:prstGeom prst="rect">
            <a:avLst/>
          </a:prstGeom>
          <a:solidFill>
            <a:srgbClr val="6CCFC4"/>
          </a:solidFill>
          <a:ln/>
        </p:spPr>
      </p:sp>
      <p:sp>
        <p:nvSpPr>
          <p:cNvPr id="67" name="CLOUD icon 2"/>
          <p:cNvSpPr/>
          <p:nvPr/>
        </p:nvSpPr>
        <p:spPr>
          <a:xfrm>
            <a:off x="10604500" y="2743200"/>
            <a:ext cx="50800" cy="25400"/>
          </a:xfrm>
          <a:prstGeom prst="rect">
            <a:avLst/>
          </a:prstGeom>
          <a:solidFill>
            <a:srgbClr val="0A0D18"/>
          </a:solidFill>
          <a:ln/>
        </p:spPr>
      </p:sp>
      <p:sp>
        <p:nvSpPr>
          <p:cNvPr id="68" name="CLOUD icon 3"/>
          <p:cNvSpPr/>
          <p:nvPr/>
        </p:nvSpPr>
        <p:spPr>
          <a:xfrm>
            <a:off x="10706100" y="2743200"/>
            <a:ext cx="50800" cy="25400"/>
          </a:xfrm>
          <a:prstGeom prst="rect">
            <a:avLst/>
          </a:prstGeom>
          <a:solidFill>
            <a:srgbClr val="0A0D18"/>
          </a:solidFill>
          <a:ln/>
        </p:spPr>
      </p:sp>
      <p:sp>
        <p:nvSpPr>
          <p:cNvPr id="69" name="CLOUD icon 4"/>
          <p:cNvSpPr/>
          <p:nvPr/>
        </p:nvSpPr>
        <p:spPr>
          <a:xfrm>
            <a:off x="10629900" y="2794000"/>
            <a:ext cx="101600" cy="25400"/>
          </a:xfrm>
          <a:prstGeom prst="rect">
            <a:avLst/>
          </a:prstGeom>
          <a:solidFill>
            <a:srgbClr val="0A0D18"/>
          </a:solidFill>
          <a:ln/>
        </p:spPr>
      </p:sp>
      <p:sp>
        <p:nvSpPr>
          <p:cNvPr id="70" name="CLOUD icon 5"/>
          <p:cNvSpPr/>
          <p:nvPr/>
        </p:nvSpPr>
        <p:spPr>
          <a:xfrm>
            <a:off x="10502900" y="2895600"/>
            <a:ext cx="50800" cy="50800"/>
          </a:xfrm>
          <a:prstGeom prst="rect">
            <a:avLst/>
          </a:prstGeom>
          <a:solidFill>
            <a:srgbClr val="6CCFC4"/>
          </a:solidFill>
          <a:ln/>
        </p:spPr>
      </p:sp>
      <p:sp>
        <p:nvSpPr>
          <p:cNvPr id="71" name="CLOUD icon 6"/>
          <p:cNvSpPr/>
          <p:nvPr/>
        </p:nvSpPr>
        <p:spPr>
          <a:xfrm>
            <a:off x="10807700" y="2895600"/>
            <a:ext cx="50800" cy="50800"/>
          </a:xfrm>
          <a:prstGeom prst="rect">
            <a:avLst/>
          </a:prstGeom>
          <a:solidFill>
            <a:srgbClr val="6CCFC4"/>
          </a:solidFill>
          <a:ln/>
        </p:spPr>
      </p:sp>
      <p:sp>
        <p:nvSpPr>
          <p:cNvPr id="72" name="CLOUD icon 7"/>
          <p:cNvSpPr/>
          <p:nvPr/>
        </p:nvSpPr>
        <p:spPr>
          <a:xfrm>
            <a:off x="10553700" y="2870200"/>
            <a:ext cx="254000" cy="152400"/>
          </a:xfrm>
          <a:prstGeom prst="rect">
            <a:avLst/>
          </a:prstGeom>
          <a:solidFill>
            <a:srgbClr val="6EF58A"/>
          </a:solidFill>
          <a:ln/>
        </p:spPr>
      </p:sp>
      <p:sp>
        <p:nvSpPr>
          <p:cNvPr id="73" name="CLOUD icon 8"/>
          <p:cNvSpPr/>
          <p:nvPr/>
        </p:nvSpPr>
        <p:spPr>
          <a:xfrm>
            <a:off x="10604500" y="2921000"/>
            <a:ext cx="152400" cy="50800"/>
          </a:xfrm>
          <a:prstGeom prst="rect">
            <a:avLst/>
          </a:prstGeom>
          <a:solidFill>
            <a:srgbClr val="0E2418"/>
          </a:solidFill>
          <a:ln/>
        </p:spPr>
      </p:sp>
      <p:sp>
        <p:nvSpPr>
          <p:cNvPr id="74" name="CLOUD icon 9"/>
          <p:cNvSpPr/>
          <p:nvPr/>
        </p:nvSpPr>
        <p:spPr>
          <a:xfrm>
            <a:off x="10579100" y="3022600"/>
            <a:ext cx="50800" cy="50800"/>
          </a:xfrm>
          <a:prstGeom prst="rect">
            <a:avLst/>
          </a:prstGeom>
          <a:solidFill>
            <a:srgbClr val="6CCFC4"/>
          </a:solidFill>
          <a:ln/>
        </p:spPr>
      </p:sp>
      <p:sp>
        <p:nvSpPr>
          <p:cNvPr id="75" name="CLOUD icon 10"/>
          <p:cNvSpPr/>
          <p:nvPr/>
        </p:nvSpPr>
        <p:spPr>
          <a:xfrm>
            <a:off x="10731500" y="3022600"/>
            <a:ext cx="50800" cy="50800"/>
          </a:xfrm>
          <a:prstGeom prst="rect">
            <a:avLst/>
          </a:prstGeom>
          <a:solidFill>
            <a:srgbClr val="6CCFC4"/>
          </a:solidFill>
          <a:ln/>
        </p:spPr>
      </p:sp>
      <p:sp>
        <p:nvSpPr>
          <p:cNvPr id="76" name="Text 74"/>
          <p:cNvSpPr txBox="1"/>
          <p:nvPr/>
        </p:nvSpPr>
        <p:spPr>
          <a:xfrm>
            <a:off x="8166100" y="3022600"/>
            <a:ext cx="2667000" cy="355600"/>
          </a:xfrm>
          <a:prstGeom prst="rect">
            <a:avLst/>
          </a:prstGeom>
          <a:noFill/>
          <a:ln/>
        </p:spPr>
        <p:txBody>
          <a:bodyPr wrap="square" lIns="0" tIns="0" rIns="0" bIns="0" rtlCol="0" anchor="t"/>
          <a:lstStyle/>
          <a:p>
            <a:pPr algn="l" indent="0" marL="0">
              <a:buNone/>
            </a:pPr>
            <a:r>
              <a:rPr lang="en-US" sz="2100" b="1" spc="84" kern="0" dirty="0">
                <a:solidFill>
                  <a:srgbClr val="F7DD7A"/>
                </a:solidFill>
                <a:latin typeface="Source Code Pro" pitchFamily="34" charset="0"/>
                <a:ea typeface="Source Code Pro" pitchFamily="34" charset="-122"/>
                <a:cs typeface="Source Code Pro" pitchFamily="34" charset="-120"/>
              </a:rPr>
              <a:t>CLOUD</a:t>
            </a:r>
            <a:endParaRPr lang="en-US" sz="2100" dirty="0"/>
          </a:p>
        </p:txBody>
      </p:sp>
      <p:sp>
        <p:nvSpPr>
          <p:cNvPr id="77" name="Text 75"/>
          <p:cNvSpPr txBox="1"/>
          <p:nvPr/>
        </p:nvSpPr>
        <p:spPr>
          <a:xfrm>
            <a:off x="8166100" y="3492500"/>
            <a:ext cx="2717800" cy="825500"/>
          </a:xfrm>
          <a:prstGeom prst="rect">
            <a:avLst/>
          </a:prstGeom>
          <a:noFill/>
          <a:ln/>
        </p:spPr>
        <p:txBody>
          <a:bodyPr wrap="square" lIns="0" tIns="0" rIns="0" bIns="0" rtlCol="0" anchor="t"/>
          <a:lstStyle/>
          <a:p>
            <a:pPr algn="l" indent="0" marL="0">
              <a:lnSpc>
                <a:spcPct val="125000"/>
              </a:lnSpc>
              <a:buNone/>
            </a:pPr>
            <a:r>
              <a:rPr lang="en-US" sz="1500" spc="60" kern="0" dirty="0">
                <a:solidFill>
                  <a:srgbClr val="F7DD7A"/>
                </a:solidFill>
                <a:latin typeface="Source Code Pro" pitchFamily="34" charset="0"/>
                <a:ea typeface="Source Code Pro" pitchFamily="34" charset="-122"/>
                <a:cs typeface="Source Code Pro" pitchFamily="34" charset="-120"/>
              </a:rPr>
              <a:t>Huawei Cloud</a:t>
            </a:r>
            <a:pPr algn="l" indent="0" marL="0">
              <a:lnSpc>
                <a:spcPct val="125000"/>
              </a:lnSpc>
              <a:buNone/>
            </a:pPr>
            <a:r>
              <a:rPr lang="en-US" sz="1500" spc="60" kern="0" dirty="0">
                <a:solidFill>
                  <a:srgbClr val="F4F4F4"/>
                </a:solidFill>
                <a:latin typeface="Source Code Pro" pitchFamily="34" charset="0"/>
                <a:ea typeface="Source Code Pro" pitchFamily="34" charset="-122"/>
                <a:cs typeface="Source Code Pro" pitchFamily="34" charset="-120"/>
              </a:rPr>
              <a:t> credits and ModelArts mentoring.</a:t>
            </a:r>
            <a:endParaRPr lang="en-US" sz="1500" dirty="0"/>
          </a:p>
        </p:txBody>
      </p:sp>
      <p:sp>
        <p:nvSpPr>
          <p:cNvPr id="78" name="Text 76"/>
          <p:cNvSpPr txBox="1"/>
          <p:nvPr/>
        </p:nvSpPr>
        <p:spPr>
          <a:xfrm>
            <a:off x="8166100" y="4445000"/>
            <a:ext cx="2717800" cy="254000"/>
          </a:xfrm>
          <a:prstGeom prst="rect">
            <a:avLst/>
          </a:prstGeom>
          <a:noFill/>
          <a:ln/>
        </p:spPr>
        <p:txBody>
          <a:bodyPr wrap="square" lIns="0" tIns="0" rIns="0" bIns="0" rtlCol="0" anchor="t"/>
          <a:lstStyle/>
          <a:p>
            <a:pPr algn="l" indent="0" marL="0">
              <a:buNone/>
            </a:pPr>
            <a:r>
              <a:rPr lang="en-US" sz="1100" spc="44" kern="0" dirty="0">
                <a:solidFill>
                  <a:srgbClr val="8E95AD"/>
                </a:solidFill>
                <a:latin typeface="Source Code Pro" pitchFamily="34" charset="0"/>
                <a:ea typeface="Source Code Pro" pitchFamily="34" charset="-122"/>
                <a:cs typeface="Source Code Pro" pitchFamily="34" charset="-120"/>
              </a:rPr>
              <a:t>From prototype to pilot scale</a:t>
            </a:r>
            <a:endParaRPr lang="en-US" sz="1100" dirty="0"/>
          </a:p>
        </p:txBody>
      </p:sp>
      <p:sp>
        <p:nvSpPr>
          <p:cNvPr id="79" name="in return tag"/>
          <p:cNvSpPr/>
          <p:nvPr/>
        </p:nvSpPr>
        <p:spPr>
          <a:xfrm>
            <a:off x="1079500" y="5143500"/>
            <a:ext cx="1541272" cy="381000"/>
          </a:xfrm>
          <a:prstGeom prst="rect">
            <a:avLst/>
          </a:prstGeom>
          <a:solidFill>
            <a:srgbClr val="F7DD7A"/>
          </a:solidFill>
          <a:ln/>
        </p:spPr>
        <p:txBody>
          <a:bodyPr wrap="square" lIns="0" tIns="0" rIns="0" bIns="0" rtlCol="0" anchor="ctr"/>
          <a:lstStyle/>
          <a:p>
            <a:pPr algn="ctr" indent="0" marL="0">
              <a:buNone/>
            </a:pPr>
            <a:r>
              <a:rPr lang="en-US" sz="1500" b="1" spc="60" kern="0" dirty="0">
                <a:solidFill>
                  <a:srgbClr val="0A0D18"/>
                </a:solidFill>
                <a:latin typeface="Source Code Pro" pitchFamily="34" charset="0"/>
                <a:ea typeface="Source Code Pro" pitchFamily="34" charset="-122"/>
                <a:cs typeface="Source Code Pro" pitchFamily="34" charset="-120"/>
              </a:rPr>
              <a:t>IN RETURN</a:t>
            </a:r>
            <a:endParaRPr lang="en-US" sz="1500" dirty="0"/>
          </a:p>
        </p:txBody>
      </p:sp>
      <p:sp>
        <p:nvSpPr>
          <p:cNvPr id="80" name="Text 78"/>
          <p:cNvSpPr txBox="1"/>
          <p:nvPr/>
        </p:nvSpPr>
        <p:spPr>
          <a:xfrm>
            <a:off x="2794000" y="5143500"/>
            <a:ext cx="8255000" cy="381000"/>
          </a:xfrm>
          <a:prstGeom prst="rect">
            <a:avLst/>
          </a:prstGeom>
          <a:noFill/>
          <a:ln/>
        </p:spPr>
        <p:txBody>
          <a:bodyPr wrap="square" lIns="0" tIns="0" rIns="0" bIns="0" rtlCol="0" anchor="ctr"/>
          <a:lstStyle/>
          <a:p>
            <a:pPr algn="l" indent="0" marL="0">
              <a:buNone/>
            </a:pPr>
            <a:r>
              <a:rPr lang="en-US" sz="1600" b="1" spc="64" kern="0" dirty="0">
                <a:solidFill>
                  <a:srgbClr val="F4F4F4"/>
                </a:solidFill>
                <a:latin typeface="Source Code Pro" pitchFamily="34" charset="0"/>
                <a:ea typeface="Source Code Pro" pitchFamily="34" charset="-122"/>
                <a:cs typeface="Source Code Pro" pitchFamily="34" charset="-120"/>
              </a:rPr>
              <a:t>Evidence that drills make people </a:t>
            </a:r>
            <a:pPr algn="l" indent="0" marL="0">
              <a:buNone/>
            </a:pPr>
            <a:r>
              <a:rPr lang="en-US" sz="1600" b="1" spc="64" kern="0" dirty="0">
                <a:solidFill>
                  <a:srgbClr val="6EF58A"/>
                </a:solidFill>
                <a:latin typeface="Source Code Pro" pitchFamily="34" charset="0"/>
                <a:ea typeface="Source Code Pro" pitchFamily="34" charset="-122"/>
                <a:cs typeface="Source Code Pro" pitchFamily="34" charset="-120"/>
              </a:rPr>
              <a:t>harder to scam</a:t>
            </a:r>
            <a:pPr algn="l" indent="0" marL="0">
              <a:buNone/>
            </a:pPr>
            <a:r>
              <a:rPr lang="en-US" sz="1600" b="1" spc="64" kern="0" dirty="0">
                <a:solidFill>
                  <a:srgbClr val="F4F4F4"/>
                </a:solidFill>
                <a:latin typeface="Source Code Pro" pitchFamily="34" charset="0"/>
                <a:ea typeface="Source Code Pro" pitchFamily="34" charset="-122"/>
                <a:cs typeface="Source Code Pro" pitchFamily="34" charset="-120"/>
              </a:rPr>
              <a:t>.</a:t>
            </a:r>
            <a:endParaRPr lang="en-US" sz="1600" dirty="0"/>
          </a:p>
        </p:txBody>
      </p:sp>
      <p:sp>
        <p:nvSpPr>
          <p:cNvPr id="81" name="milestone Intro"/>
          <p:cNvSpPr/>
          <p:nvPr/>
        </p:nvSpPr>
        <p:spPr>
          <a:xfrm>
            <a:off x="1079500" y="5715000"/>
            <a:ext cx="3175000" cy="533400"/>
          </a:xfrm>
          <a:prstGeom prst="rect">
            <a:avLst/>
          </a:prstGeom>
          <a:solidFill>
            <a:srgbClr val="0A0D18"/>
          </a:solidFill>
          <a:ln w="19050">
            <a:solidFill>
              <a:srgbClr val="F7DD7A"/>
            </a:solidFill>
          </a:ln>
        </p:spPr>
        <p:txBody>
          <a:bodyPr wrap="square" lIns="0" tIns="0" rIns="0" bIns="0" rtlCol="0" anchor="ctr"/>
          <a:lstStyle/>
          <a:p>
            <a:pPr algn="ctr" indent="0" marL="0">
              <a:buNone/>
            </a:pPr>
            <a:r>
              <a:rPr lang="en-US" sz="1400" b="1" spc="80" kern="0" dirty="0">
                <a:solidFill>
                  <a:srgbClr val="F7DD7A"/>
                </a:solidFill>
                <a:latin typeface="Source Code Pro" pitchFamily="34" charset="0"/>
                <a:ea typeface="Source Code Pro" pitchFamily="34" charset="-122"/>
                <a:cs typeface="Source Code Pro" pitchFamily="34" charset="-120"/>
              </a:rPr>
              <a:t>Intro</a:t>
            </a:r>
            <a:endParaRPr lang="en-US" sz="1400" dirty="0"/>
          </a:p>
          <a:p>
            <a:pPr algn="ctr" indent="0" marL="0">
              <a:buNone/>
            </a:pPr>
            <a:r>
              <a:rPr lang="en-US" sz="1100" spc="80" kern="0" dirty="0">
                <a:solidFill>
                  <a:srgbClr val="8E95AD"/>
                </a:solidFill>
                <a:latin typeface="Source Code Pro" pitchFamily="34" charset="0"/>
                <a:ea typeface="Source Code Pro" pitchFamily="34" charset="-122"/>
                <a:cs typeface="Source Code Pro" pitchFamily="34" charset="-120"/>
              </a:rPr>
              <a:t>Dec 2026</a:t>
            </a:r>
            <a:endParaRPr lang="en-US" sz="1400" dirty="0"/>
          </a:p>
        </p:txBody>
      </p:sp>
      <p:sp>
        <p:nvSpPr>
          <p:cNvPr id="82" name="Text 80"/>
          <p:cNvSpPr txBox="1"/>
          <p:nvPr/>
        </p:nvSpPr>
        <p:spPr>
          <a:xfrm>
            <a:off x="4254500" y="5715000"/>
            <a:ext cx="254000" cy="533400"/>
          </a:xfrm>
          <a:prstGeom prst="rect">
            <a:avLst/>
          </a:prstGeom>
          <a:noFill/>
          <a:ln/>
        </p:spPr>
        <p:txBody>
          <a:bodyPr wrap="square" lIns="0" tIns="0" rIns="0" bIns="0" rtlCol="0" anchor="ctr"/>
          <a:lstStyle/>
          <a:p>
            <a:pPr algn="ctr" indent="0" marL="0">
              <a:buNone/>
            </a:pPr>
            <a:r>
              <a:rPr lang="en-US" sz="1500" b="1" spc="60" kern="0" dirty="0">
                <a:solidFill>
                  <a:srgbClr val="6EF58A"/>
                </a:solidFill>
                <a:latin typeface="Source Code Pro" pitchFamily="34" charset="0"/>
                <a:ea typeface="Source Code Pro" pitchFamily="34" charset="-122"/>
                <a:cs typeface="Source Code Pro" pitchFamily="34" charset="-120"/>
              </a:rPr>
              <a:t>→</a:t>
            </a:r>
            <a:endParaRPr lang="en-US" sz="1500" dirty="0"/>
          </a:p>
        </p:txBody>
      </p:sp>
      <p:sp>
        <p:nvSpPr>
          <p:cNvPr id="83" name="milestone Pilot starts"/>
          <p:cNvSpPr/>
          <p:nvPr/>
        </p:nvSpPr>
        <p:spPr>
          <a:xfrm>
            <a:off x="4508500" y="5715000"/>
            <a:ext cx="3175000" cy="533400"/>
          </a:xfrm>
          <a:prstGeom prst="rect">
            <a:avLst/>
          </a:prstGeom>
          <a:solidFill>
            <a:srgbClr val="0A0D18"/>
          </a:solidFill>
          <a:ln w="19050">
            <a:solidFill>
              <a:srgbClr val="F7DD7A"/>
            </a:solidFill>
          </a:ln>
        </p:spPr>
        <p:txBody>
          <a:bodyPr wrap="square" lIns="0" tIns="0" rIns="0" bIns="0" rtlCol="0" anchor="ctr"/>
          <a:lstStyle/>
          <a:p>
            <a:pPr algn="ctr" indent="0" marL="0">
              <a:buNone/>
            </a:pPr>
            <a:r>
              <a:rPr lang="en-US" sz="1400" b="1" spc="80" kern="0" dirty="0">
                <a:solidFill>
                  <a:srgbClr val="F7DD7A"/>
                </a:solidFill>
                <a:latin typeface="Source Code Pro" pitchFamily="34" charset="0"/>
                <a:ea typeface="Source Code Pro" pitchFamily="34" charset="-122"/>
                <a:cs typeface="Source Code Pro" pitchFamily="34" charset="-120"/>
              </a:rPr>
              <a:t>Pilot starts</a:t>
            </a:r>
            <a:endParaRPr lang="en-US" sz="1400" dirty="0"/>
          </a:p>
          <a:p>
            <a:pPr algn="ctr" indent="0" marL="0">
              <a:buNone/>
            </a:pPr>
            <a:r>
              <a:rPr lang="en-US" sz="1100" spc="80" kern="0" dirty="0">
                <a:solidFill>
                  <a:srgbClr val="8E95AD"/>
                </a:solidFill>
                <a:latin typeface="Source Code Pro" pitchFamily="34" charset="0"/>
                <a:ea typeface="Source Code Pro" pitchFamily="34" charset="-122"/>
                <a:cs typeface="Source Code Pro" pitchFamily="34" charset="-120"/>
              </a:rPr>
              <a:t>Q1 2027</a:t>
            </a:r>
            <a:endParaRPr lang="en-US" sz="1400" dirty="0"/>
          </a:p>
        </p:txBody>
      </p:sp>
      <p:sp>
        <p:nvSpPr>
          <p:cNvPr id="84" name="Text 82"/>
          <p:cNvSpPr txBox="1"/>
          <p:nvPr/>
        </p:nvSpPr>
        <p:spPr>
          <a:xfrm>
            <a:off x="7683500" y="5715000"/>
            <a:ext cx="254000" cy="533400"/>
          </a:xfrm>
          <a:prstGeom prst="rect">
            <a:avLst/>
          </a:prstGeom>
          <a:noFill/>
          <a:ln/>
        </p:spPr>
        <p:txBody>
          <a:bodyPr wrap="square" lIns="0" tIns="0" rIns="0" bIns="0" rtlCol="0" anchor="ctr"/>
          <a:lstStyle/>
          <a:p>
            <a:pPr algn="ctr" indent="0" marL="0">
              <a:buNone/>
            </a:pPr>
            <a:r>
              <a:rPr lang="en-US" sz="1500" b="1" spc="60" kern="0" dirty="0">
                <a:solidFill>
                  <a:srgbClr val="6EF58A"/>
                </a:solidFill>
                <a:latin typeface="Source Code Pro" pitchFamily="34" charset="0"/>
                <a:ea typeface="Source Code Pro" pitchFamily="34" charset="-122"/>
                <a:cs typeface="Source Code Pro" pitchFamily="34" charset="-120"/>
              </a:rPr>
              <a:t>→</a:t>
            </a:r>
            <a:endParaRPr lang="en-US" sz="1500" dirty="0"/>
          </a:p>
        </p:txBody>
      </p:sp>
      <p:sp>
        <p:nvSpPr>
          <p:cNvPr id="85" name="milestone Readout shared"/>
          <p:cNvSpPr/>
          <p:nvPr/>
        </p:nvSpPr>
        <p:spPr>
          <a:xfrm>
            <a:off x="7937500" y="5715000"/>
            <a:ext cx="3175000" cy="533400"/>
          </a:xfrm>
          <a:prstGeom prst="rect">
            <a:avLst/>
          </a:prstGeom>
          <a:solidFill>
            <a:srgbClr val="0A0D18"/>
          </a:solidFill>
          <a:ln w="19050">
            <a:solidFill>
              <a:srgbClr val="F7DD7A"/>
            </a:solidFill>
          </a:ln>
        </p:spPr>
        <p:txBody>
          <a:bodyPr wrap="square" lIns="0" tIns="0" rIns="0" bIns="0" rtlCol="0" anchor="ctr"/>
          <a:lstStyle/>
          <a:p>
            <a:pPr algn="ctr" indent="0" marL="0">
              <a:buNone/>
            </a:pPr>
            <a:r>
              <a:rPr lang="en-US" sz="1400" b="1" spc="80" kern="0" dirty="0">
                <a:solidFill>
                  <a:srgbClr val="F7DD7A"/>
                </a:solidFill>
                <a:latin typeface="Source Code Pro" pitchFamily="34" charset="0"/>
                <a:ea typeface="Source Code Pro" pitchFamily="34" charset="-122"/>
                <a:cs typeface="Source Code Pro" pitchFamily="34" charset="-120"/>
              </a:rPr>
              <a:t>Readout shared</a:t>
            </a:r>
            <a:endParaRPr lang="en-US" sz="1400" dirty="0"/>
          </a:p>
          <a:p>
            <a:pPr algn="ctr" indent="0" marL="0">
              <a:buNone/>
            </a:pPr>
            <a:r>
              <a:rPr lang="en-US" sz="1100" spc="80" kern="0" dirty="0">
                <a:solidFill>
                  <a:srgbClr val="8E95AD"/>
                </a:solidFill>
                <a:latin typeface="Source Code Pro" pitchFamily="34" charset="0"/>
                <a:ea typeface="Source Code Pro" pitchFamily="34" charset="-122"/>
                <a:cs typeface="Source Code Pro" pitchFamily="34" charset="-120"/>
              </a:rPr>
              <a:t>Q2 2027</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SafeSpace Drill Mode: The ask</dc:title>
  <dc:subject>PptxGenJS Presentation</dc:subject>
  <dc:creator>PptxGenJS</dc:creator>
  <cp:lastModifiedBy>PptxGenJS</cp:lastModifiedBy>
  <cp:revision>1</cp:revision>
  <dcterms:created xsi:type="dcterms:W3CDTF">2026-10-23T14:30:21Z</dcterms:created>
  <dcterms:modified xsi:type="dcterms:W3CDTF">2026-10-23T14:30:21Z</dcterms:modified>
</cp:coreProperties>
</file>