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17"/>
    <p:sldId id="272" r:id="rId8"/>
    <p:sldId id="273" r:id="rId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2.xml"/><Relationship Id="rId9" Type="http://schemas.openxmlformats.org/officeDocument/2006/relationships/slide" Target="slides/slide3.xml"/><Relationship Id="rId17" Type="http://schemas.openxmlformats.org/officeDocument/2006/relationships/slide" Target="slides/slide1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workstreams run in parallel. The point is the gates: we do not scale until the pilot shows behaviour change. Partners and funders listed are targets, not agreements. Phone verification being enforced for every user is a milestone, not something to claim is already complete.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does it work, who does it reach, is it safe, can it pay for itself. Behaviour change is the headline. Be honest that in-drill behaviour is a proxy for real outcomes. Do not quote a target number; targets get set with the partner after a baseline.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money: grants fund the pilot, then a bank or telco and later government pay. IMDA is our door in, not our funder. Name buyer types, not agreements. Be upfront that pricing is not validated and cost to serve gets measured in the pilot. The path is: fund a pilot, show behaviour change, then sell the first licence.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658368" y="411480"/>
            <a:ext cx="10881360" cy="274320"/>
          </a:xfrm>
          <a:prstGeom prst="rect">
            <a:avLst/>
          </a:prstGeom>
          <a:noFill/>
        </p:spPr>
        <p:txBody>
          <a:bodyPr wrap="square" anchor="t" lIns="0" rIns="0" tIns="0" bIns="0">
            <a:spAutoFit/>
          </a:bodyPr>
          <a:lstStyle/>
          <a:p>
            <a:r>
              <a:rPr sz="1200" b="1">
                <a:solidFill>
                  <a:srgbClr val="00FF88"/>
                </a:solidFill>
                <a:latin typeface="Calibri"/>
              </a:rPr>
              <a:t>IMPLEMENTATION PLAN</a:t>
            </a:r>
          </a:p>
        </p:txBody>
      </p:sp>
      <p:sp>
        <p:nvSpPr>
          <p:cNvPr id="3" name="TextBox 2"/>
          <p:cNvSpPr txBox="1"/>
          <p:nvPr/>
        </p:nvSpPr>
        <p:spPr>
          <a:xfrm>
            <a:off x="658368" y="731520"/>
            <a:ext cx="10881360" cy="548640"/>
          </a:xfrm>
          <a:prstGeom prst="rect">
            <a:avLst/>
          </a:prstGeom>
          <a:noFill/>
        </p:spPr>
        <p:txBody>
          <a:bodyPr wrap="square" anchor="t" lIns="0" rIns="0" tIns="0" bIns="0">
            <a:spAutoFit/>
          </a:bodyPr>
          <a:lstStyle/>
          <a:p>
            <a:r>
              <a:rPr sz="2600" b="1">
                <a:solidFill>
                  <a:srgbClr val="FFFFFF"/>
                </a:solidFill>
                <a:latin typeface="Arial"/>
              </a:rPr>
              <a:t>Four workstreams, each gated by proof.</a:t>
            </a:r>
          </a:p>
        </p:txBody>
      </p:sp>
      <p:sp>
        <p:nvSpPr>
          <p:cNvPr id="4" name="Rounded Rectangle 3"/>
          <p:cNvSpPr/>
          <p:nvPr/>
        </p:nvSpPr>
        <p:spPr>
          <a:xfrm>
            <a:off x="1984248" y="1371600"/>
            <a:ext cx="2331720" cy="5486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21408" y="1426464"/>
            <a:ext cx="2057400" cy="457200"/>
          </a:xfrm>
          <a:prstGeom prst="rect">
            <a:avLst/>
          </a:prstGeom>
          <a:noFill/>
        </p:spPr>
        <p:txBody>
          <a:bodyPr wrap="square" anchor="t" lIns="0" rIns="0" tIns="0" bIns="0">
            <a:spAutoFit/>
          </a:bodyPr>
          <a:lstStyle/>
          <a:p>
            <a:r>
              <a:rPr sz="1300" b="1">
                <a:solidFill>
                  <a:srgbClr val="00FF88"/>
                </a:solidFill>
                <a:latin typeface="Calibri"/>
              </a:rPr>
              <a:t>Q4 2026</a:t>
            </a:r>
          </a:p>
          <a:p>
            <a:pPr>
              <a:spcBef>
                <a:spcPts val="300"/>
              </a:spcBef>
            </a:pPr>
            <a:r>
              <a:rPr sz="1100" b="0">
                <a:solidFill>
                  <a:srgbClr val="A8BBCF"/>
                </a:solidFill>
                <a:latin typeface="Calibri"/>
              </a:rPr>
              <a:t>Final on 27 Oct</a:t>
            </a:r>
          </a:p>
        </p:txBody>
      </p:sp>
      <p:sp>
        <p:nvSpPr>
          <p:cNvPr id="6" name="Rounded Rectangle 5"/>
          <p:cNvSpPr/>
          <p:nvPr/>
        </p:nvSpPr>
        <p:spPr>
          <a:xfrm>
            <a:off x="4407408" y="1371600"/>
            <a:ext cx="2331720" cy="5486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44568" y="1426464"/>
            <a:ext cx="2057400" cy="457200"/>
          </a:xfrm>
          <a:prstGeom prst="rect">
            <a:avLst/>
          </a:prstGeom>
          <a:noFill/>
        </p:spPr>
        <p:txBody>
          <a:bodyPr wrap="square" anchor="t" lIns="0" rIns="0" tIns="0" bIns="0">
            <a:spAutoFit/>
          </a:bodyPr>
          <a:lstStyle/>
          <a:p>
            <a:r>
              <a:rPr sz="1300" b="1">
                <a:solidFill>
                  <a:srgbClr val="00FF88"/>
                </a:solidFill>
                <a:latin typeface="Calibri"/>
              </a:rPr>
              <a:t>Q1 2027</a:t>
            </a:r>
          </a:p>
          <a:p>
            <a:pPr>
              <a:spcBef>
                <a:spcPts val="300"/>
              </a:spcBef>
            </a:pPr>
            <a:r>
              <a:rPr sz="1100" b="0">
                <a:solidFill>
                  <a:srgbClr val="A8BBCF"/>
                </a:solidFill>
                <a:latin typeface="Calibri"/>
              </a:rPr>
              <a:t>Pilot starts</a:t>
            </a:r>
          </a:p>
        </p:txBody>
      </p:sp>
      <p:sp>
        <p:nvSpPr>
          <p:cNvPr id="8" name="Rounded Rectangle 7"/>
          <p:cNvSpPr/>
          <p:nvPr/>
        </p:nvSpPr>
        <p:spPr>
          <a:xfrm>
            <a:off x="6830568" y="1371600"/>
            <a:ext cx="2331720" cy="5486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67728" y="1426464"/>
            <a:ext cx="2057400" cy="457200"/>
          </a:xfrm>
          <a:prstGeom prst="rect">
            <a:avLst/>
          </a:prstGeom>
          <a:noFill/>
        </p:spPr>
        <p:txBody>
          <a:bodyPr wrap="square" anchor="t" lIns="0" rIns="0" tIns="0" bIns="0">
            <a:spAutoFit/>
          </a:bodyPr>
          <a:lstStyle/>
          <a:p>
            <a:r>
              <a:rPr sz="1300" b="1">
                <a:solidFill>
                  <a:srgbClr val="00FF88"/>
                </a:solidFill>
                <a:latin typeface="Calibri"/>
              </a:rPr>
              <a:t>Q2 2027</a:t>
            </a:r>
          </a:p>
          <a:p>
            <a:pPr>
              <a:spcBef>
                <a:spcPts val="300"/>
              </a:spcBef>
            </a:pPr>
            <a:r>
              <a:rPr sz="1100" b="0">
                <a:solidFill>
                  <a:srgbClr val="A8BBCF"/>
                </a:solidFill>
                <a:latin typeface="Calibri"/>
              </a:rPr>
              <a:t>Pilot readout</a:t>
            </a:r>
          </a:p>
        </p:txBody>
      </p:sp>
      <p:sp>
        <p:nvSpPr>
          <p:cNvPr id="10" name="Rounded Rectangle 9"/>
          <p:cNvSpPr/>
          <p:nvPr/>
        </p:nvSpPr>
        <p:spPr>
          <a:xfrm>
            <a:off x="9253728" y="1371600"/>
            <a:ext cx="2331720" cy="54864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90888" y="1426464"/>
            <a:ext cx="2057400" cy="457200"/>
          </a:xfrm>
          <a:prstGeom prst="rect">
            <a:avLst/>
          </a:prstGeom>
          <a:noFill/>
        </p:spPr>
        <p:txBody>
          <a:bodyPr wrap="square" anchor="t" lIns="0" rIns="0" tIns="0" bIns="0">
            <a:spAutoFit/>
          </a:bodyPr>
          <a:lstStyle/>
          <a:p>
            <a:r>
              <a:rPr sz="1300" b="1">
                <a:solidFill>
                  <a:srgbClr val="00FF88"/>
                </a:solidFill>
                <a:latin typeface="Calibri"/>
              </a:rPr>
              <a:t>H2 2027</a:t>
            </a:r>
          </a:p>
          <a:p>
            <a:pPr>
              <a:spcBef>
                <a:spcPts val="300"/>
              </a:spcBef>
            </a:pPr>
            <a:r>
              <a:rPr sz="1100" b="0">
                <a:solidFill>
                  <a:srgbClr val="A8BBCF"/>
                </a:solidFill>
                <a:latin typeface="Calibri"/>
              </a:rPr>
              <a:t>First paid programme</a:t>
            </a:r>
          </a:p>
        </p:txBody>
      </p:sp>
      <p:sp>
        <p:nvSpPr>
          <p:cNvPr id="12" name="TextBox 11"/>
          <p:cNvSpPr txBox="1"/>
          <p:nvPr/>
        </p:nvSpPr>
        <p:spPr>
          <a:xfrm>
            <a:off x="658368" y="2121408"/>
            <a:ext cx="1234440" cy="914400"/>
          </a:xfrm>
          <a:prstGeom prst="rect">
            <a:avLst/>
          </a:prstGeom>
          <a:noFill/>
        </p:spPr>
        <p:txBody>
          <a:bodyPr wrap="square" anchor="t" lIns="0" rIns="0" tIns="0" bIns="0">
            <a:spAutoFit/>
          </a:bodyPr>
          <a:lstStyle/>
          <a:p>
            <a:r>
              <a:rPr sz="1100" b="1">
                <a:solidFill>
                  <a:srgbClr val="00FF88"/>
                </a:solidFill>
                <a:latin typeface="Calibri"/>
              </a:rPr>
              <a:t>PRODUCT</a:t>
            </a:r>
          </a:p>
        </p:txBody>
      </p:sp>
      <p:sp>
        <p:nvSpPr>
          <p:cNvPr id="13" name="Rounded Rectangle 12"/>
          <p:cNvSpPr/>
          <p:nvPr/>
        </p:nvSpPr>
        <p:spPr>
          <a:xfrm>
            <a:off x="1984248" y="2011680"/>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21408" y="2103120"/>
            <a:ext cx="2057400" cy="777240"/>
          </a:xfrm>
          <a:prstGeom prst="rect">
            <a:avLst/>
          </a:prstGeom>
          <a:noFill/>
        </p:spPr>
        <p:txBody>
          <a:bodyPr wrap="square" anchor="t" lIns="0" rIns="0" tIns="0" bIns="0">
            <a:spAutoFit/>
          </a:bodyPr>
          <a:lstStyle/>
          <a:p>
            <a:r>
              <a:rPr sz="1100" b="0">
                <a:solidFill>
                  <a:srgbClr val="FFFFFF"/>
                </a:solidFill>
                <a:latin typeface="Calibri"/>
              </a:rPr>
              <a:t>Final demo, 27 Oct</a:t>
            </a:r>
          </a:p>
          <a:p>
            <a:pPr>
              <a:spcBef>
                <a:spcPts val="200"/>
              </a:spcBef>
            </a:pPr>
            <a:r>
              <a:rPr sz="1100" b="0">
                <a:solidFill>
                  <a:srgbClr val="FFFFFF"/>
                </a:solidFill>
                <a:latin typeface="Calibri"/>
              </a:rPr>
              <a:t>Staging environment; phone verification enforced for every user</a:t>
            </a:r>
          </a:p>
        </p:txBody>
      </p:sp>
      <p:sp>
        <p:nvSpPr>
          <p:cNvPr id="15" name="Rounded Rectangle 14"/>
          <p:cNvSpPr/>
          <p:nvPr/>
        </p:nvSpPr>
        <p:spPr>
          <a:xfrm>
            <a:off x="4407408" y="2011680"/>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103120"/>
            <a:ext cx="2057400" cy="777240"/>
          </a:xfrm>
          <a:prstGeom prst="rect">
            <a:avLst/>
          </a:prstGeom>
          <a:noFill/>
        </p:spPr>
        <p:txBody>
          <a:bodyPr wrap="square" anchor="t" lIns="0" rIns="0" tIns="0" bIns="0">
            <a:spAutoFit/>
          </a:bodyPr>
          <a:lstStyle/>
          <a:p>
            <a:r>
              <a:rPr sz="1100" b="0">
                <a:solidFill>
                  <a:srgbClr val="FFFFFF"/>
                </a:solidFill>
                <a:latin typeface="Calibri"/>
              </a:rPr>
              <a:t>Opt-in scheduled drills</a:t>
            </a:r>
          </a:p>
          <a:p>
            <a:pPr>
              <a:spcBef>
                <a:spcPts val="200"/>
              </a:spcBef>
            </a:pPr>
            <a:r>
              <a:rPr sz="1100" b="0">
                <a:solidFill>
                  <a:srgbClr val="FFFFFF"/>
                </a:solidFill>
                <a:latin typeface="Calibri"/>
              </a:rPr>
              <a:t>Delivery tracking</a:t>
            </a:r>
          </a:p>
          <a:p>
            <a:pPr>
              <a:spcBef>
                <a:spcPts val="200"/>
              </a:spcBef>
            </a:pPr>
            <a:r>
              <a:rPr sz="1100" b="0">
                <a:solidFill>
                  <a:srgbClr val="FFFFFF"/>
                </a:solidFill>
                <a:latin typeface="Calibri"/>
              </a:rPr>
              <a:t>Agency dashboard v1, anonymised</a:t>
            </a:r>
          </a:p>
        </p:txBody>
      </p:sp>
      <p:sp>
        <p:nvSpPr>
          <p:cNvPr id="17" name="Rounded Rectangle 16"/>
          <p:cNvSpPr/>
          <p:nvPr/>
        </p:nvSpPr>
        <p:spPr>
          <a:xfrm>
            <a:off x="6830568" y="2011680"/>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67728" y="2103120"/>
            <a:ext cx="2057400" cy="777240"/>
          </a:xfrm>
          <a:prstGeom prst="rect">
            <a:avLst/>
          </a:prstGeom>
          <a:noFill/>
        </p:spPr>
        <p:txBody>
          <a:bodyPr wrap="square" anchor="t" lIns="0" rIns="0" tIns="0" bIns="0">
            <a:spAutoFit/>
          </a:bodyPr>
          <a:lstStyle/>
          <a:p>
            <a:r>
              <a:rPr sz="1100" b="0">
                <a:solidFill>
                  <a:srgbClr val="FFFFFF"/>
                </a:solidFill>
                <a:latin typeface="Calibri"/>
              </a:rPr>
              <a:t>Bigger scenario library</a:t>
            </a:r>
          </a:p>
          <a:p>
            <a:pPr>
              <a:spcBef>
                <a:spcPts val="200"/>
              </a:spcBef>
            </a:pPr>
            <a:r>
              <a:rPr sz="1100" b="0">
                <a:solidFill>
                  <a:srgbClr val="FFFFFF"/>
                </a:solidFill>
                <a:latin typeface="Calibri"/>
              </a:rPr>
              <a:t>Singlish and code-mixed voices</a:t>
            </a:r>
          </a:p>
        </p:txBody>
      </p:sp>
      <p:sp>
        <p:nvSpPr>
          <p:cNvPr id="19" name="Rounded Rectangle 18"/>
          <p:cNvSpPr/>
          <p:nvPr/>
        </p:nvSpPr>
        <p:spPr>
          <a:xfrm>
            <a:off x="9253728" y="2011680"/>
            <a:ext cx="2331720" cy="91440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90888" y="2103120"/>
            <a:ext cx="2057400" cy="777240"/>
          </a:xfrm>
          <a:prstGeom prst="rect">
            <a:avLst/>
          </a:prstGeom>
          <a:noFill/>
        </p:spPr>
        <p:txBody>
          <a:bodyPr wrap="square" anchor="t" lIns="0" rIns="0" tIns="0" bIns="0">
            <a:spAutoFit/>
          </a:bodyPr>
          <a:lstStyle/>
          <a:p>
            <a:r>
              <a:rPr sz="1100" b="0">
                <a:solidFill>
                  <a:srgbClr val="FFFFFF"/>
                </a:solidFill>
                <a:latin typeface="Calibri"/>
              </a:rPr>
              <a:t>Move to Huawei Cloud</a:t>
            </a:r>
          </a:p>
          <a:p>
            <a:pPr>
              <a:spcBef>
                <a:spcPts val="200"/>
              </a:spcBef>
            </a:pPr>
            <a:r>
              <a:rPr sz="1100" b="0">
                <a:solidFill>
                  <a:srgbClr val="FFFFFF"/>
                </a:solidFill>
                <a:latin typeface="Calibri"/>
              </a:rPr>
              <a:t>Installable mobile app</a:t>
            </a:r>
          </a:p>
        </p:txBody>
      </p:sp>
      <p:sp>
        <p:nvSpPr>
          <p:cNvPr id="21" name="TextBox 20"/>
          <p:cNvSpPr txBox="1"/>
          <p:nvPr/>
        </p:nvSpPr>
        <p:spPr>
          <a:xfrm>
            <a:off x="658368" y="3108960"/>
            <a:ext cx="1234440" cy="914400"/>
          </a:xfrm>
          <a:prstGeom prst="rect">
            <a:avLst/>
          </a:prstGeom>
          <a:noFill/>
        </p:spPr>
        <p:txBody>
          <a:bodyPr wrap="square" anchor="t" lIns="0" rIns="0" tIns="0" bIns="0">
            <a:spAutoFit/>
          </a:bodyPr>
          <a:lstStyle/>
          <a:p>
            <a:r>
              <a:rPr sz="1100" b="1">
                <a:solidFill>
                  <a:srgbClr val="00FF88"/>
                </a:solidFill>
                <a:latin typeface="Calibri"/>
              </a:rPr>
              <a:t>PARTNERS</a:t>
            </a:r>
          </a:p>
        </p:txBody>
      </p:sp>
      <p:sp>
        <p:nvSpPr>
          <p:cNvPr id="22" name="Rounded Rectangle 21"/>
          <p:cNvSpPr/>
          <p:nvPr/>
        </p:nvSpPr>
        <p:spPr>
          <a:xfrm>
            <a:off x="1984248" y="2999232"/>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21408" y="3090672"/>
            <a:ext cx="2057400" cy="777240"/>
          </a:xfrm>
          <a:prstGeom prst="rect">
            <a:avLst/>
          </a:prstGeom>
          <a:noFill/>
        </p:spPr>
        <p:txBody>
          <a:bodyPr wrap="square" anchor="t" lIns="0" rIns="0" tIns="0" bIns="0">
            <a:spAutoFit/>
          </a:bodyPr>
          <a:lstStyle/>
          <a:p>
            <a:r>
              <a:rPr sz="1100" b="0">
                <a:solidFill>
                  <a:srgbClr val="FFFFFF"/>
                </a:solidFill>
                <a:latin typeface="Calibri"/>
              </a:rPr>
              <a:t>Email IMDA now for a pilot cohort</a:t>
            </a:r>
          </a:p>
          <a:p>
            <a:pPr>
              <a:spcBef>
                <a:spcPts val="200"/>
              </a:spcBef>
            </a:pPr>
            <a:r>
              <a:rPr sz="1100" b="0">
                <a:solidFill>
                  <a:srgbClr val="FFFFFF"/>
                </a:solidFill>
                <a:latin typeface="Calibri"/>
              </a:rPr>
              <a:t>Approach one bank or telco about a paid pilot</a:t>
            </a:r>
          </a:p>
        </p:txBody>
      </p:sp>
      <p:sp>
        <p:nvSpPr>
          <p:cNvPr id="24" name="Rounded Rectangle 23"/>
          <p:cNvSpPr/>
          <p:nvPr/>
        </p:nvSpPr>
        <p:spPr>
          <a:xfrm>
            <a:off x="4407408" y="2999232"/>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44568" y="3090672"/>
            <a:ext cx="2057400" cy="777240"/>
          </a:xfrm>
          <a:prstGeom prst="rect">
            <a:avLst/>
          </a:prstGeom>
          <a:noFill/>
        </p:spPr>
        <p:txBody>
          <a:bodyPr wrap="square" anchor="t" lIns="0" rIns="0" tIns="0" bIns="0">
            <a:spAutoFit/>
          </a:bodyPr>
          <a:lstStyle/>
          <a:p>
            <a:r>
              <a:rPr sz="1100" b="0">
                <a:solidFill>
                  <a:srgbClr val="FFFFFF"/>
                </a:solidFill>
                <a:latin typeface="Calibri"/>
              </a:rPr>
              <a:t>IMDA introduces us to SPF and NCPC</a:t>
            </a:r>
          </a:p>
          <a:p>
            <a:pPr>
              <a:spcBef>
                <a:spcPts val="200"/>
              </a:spcBef>
            </a:pPr>
            <a:r>
              <a:rPr sz="1100" b="0">
                <a:solidFill>
                  <a:srgbClr val="FFFFFF"/>
                </a:solidFill>
                <a:latin typeface="Calibri"/>
              </a:rPr>
              <a:t>Pilot cohort and paid bank pilot start</a:t>
            </a:r>
          </a:p>
        </p:txBody>
      </p:sp>
      <p:sp>
        <p:nvSpPr>
          <p:cNvPr id="26" name="Rounded Rectangle 25"/>
          <p:cNvSpPr/>
          <p:nvPr/>
        </p:nvSpPr>
        <p:spPr>
          <a:xfrm>
            <a:off x="6830568" y="2999232"/>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7728" y="3090672"/>
            <a:ext cx="2057400" cy="777240"/>
          </a:xfrm>
          <a:prstGeom prst="rect">
            <a:avLst/>
          </a:prstGeom>
          <a:noFill/>
        </p:spPr>
        <p:txBody>
          <a:bodyPr wrap="square" anchor="t" lIns="0" rIns="0" tIns="0" bIns="0">
            <a:spAutoFit/>
          </a:bodyPr>
          <a:lstStyle/>
          <a:p>
            <a:r>
              <a:rPr sz="1100" b="0">
                <a:solidFill>
                  <a:srgbClr val="FFFFFF"/>
                </a:solidFill>
                <a:latin typeface="Calibri"/>
              </a:rPr>
              <a:t>Pilot readout shared with IMDA, SPF and NCPC</a:t>
            </a:r>
          </a:p>
        </p:txBody>
      </p:sp>
      <p:sp>
        <p:nvSpPr>
          <p:cNvPr id="28" name="Rounded Rectangle 27"/>
          <p:cNvSpPr/>
          <p:nvPr/>
        </p:nvSpPr>
        <p:spPr>
          <a:xfrm>
            <a:off x="9253728" y="2999232"/>
            <a:ext cx="2331720" cy="91440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90888" y="3090672"/>
            <a:ext cx="2057400" cy="777240"/>
          </a:xfrm>
          <a:prstGeom prst="rect">
            <a:avLst/>
          </a:prstGeom>
          <a:noFill/>
        </p:spPr>
        <p:txBody>
          <a:bodyPr wrap="square" anchor="t" lIns="0" rIns="0" tIns="0" bIns="0">
            <a:spAutoFit/>
          </a:bodyPr>
          <a:lstStyle/>
          <a:p>
            <a:r>
              <a:rPr sz="1100" b="0">
                <a:solidFill>
                  <a:srgbClr val="FFFFFF"/>
                </a:solidFill>
                <a:latin typeface="Calibri"/>
              </a:rPr>
              <a:t>Second programme: MOE, or an SPF-led one</a:t>
            </a:r>
          </a:p>
        </p:txBody>
      </p:sp>
      <p:sp>
        <p:nvSpPr>
          <p:cNvPr id="30" name="TextBox 29"/>
          <p:cNvSpPr txBox="1"/>
          <p:nvPr/>
        </p:nvSpPr>
        <p:spPr>
          <a:xfrm>
            <a:off x="658368" y="4096512"/>
            <a:ext cx="1234440" cy="914400"/>
          </a:xfrm>
          <a:prstGeom prst="rect">
            <a:avLst/>
          </a:prstGeom>
          <a:noFill/>
        </p:spPr>
        <p:txBody>
          <a:bodyPr wrap="square" anchor="t" lIns="0" rIns="0" tIns="0" bIns="0">
            <a:spAutoFit/>
          </a:bodyPr>
          <a:lstStyle/>
          <a:p>
            <a:r>
              <a:rPr sz="1100" b="1">
                <a:solidFill>
                  <a:srgbClr val="00FF88"/>
                </a:solidFill>
                <a:latin typeface="Calibri"/>
              </a:rPr>
              <a:t>FUNDING</a:t>
            </a:r>
          </a:p>
        </p:txBody>
      </p:sp>
      <p:sp>
        <p:nvSpPr>
          <p:cNvPr id="31" name="Rounded Rectangle 30"/>
          <p:cNvSpPr/>
          <p:nvPr/>
        </p:nvSpPr>
        <p:spPr>
          <a:xfrm>
            <a:off x="1984248" y="3986784"/>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21408" y="4078224"/>
            <a:ext cx="2057400" cy="777240"/>
          </a:xfrm>
          <a:prstGeom prst="rect">
            <a:avLst/>
          </a:prstGeom>
          <a:noFill/>
        </p:spPr>
        <p:txBody>
          <a:bodyPr wrap="square" anchor="t" lIns="0" rIns="0" tIns="0" bIns="0">
            <a:spAutoFit/>
          </a:bodyPr>
          <a:lstStyle/>
          <a:p>
            <a:r>
              <a:rPr sz="1100" b="0">
                <a:solidFill>
                  <a:srgbClr val="FFFFFF"/>
                </a:solidFill>
                <a:latin typeface="Calibri"/>
              </a:rPr>
              <a:t>Apply: Startup SG Tech</a:t>
            </a:r>
          </a:p>
          <a:p>
            <a:pPr>
              <a:spcBef>
                <a:spcPts val="200"/>
              </a:spcBef>
            </a:pPr>
            <a:r>
              <a:rPr sz="1100" b="0">
                <a:solidFill>
                  <a:srgbClr val="FFFFFF"/>
                </a:solidFill>
                <a:latin typeface="Calibri"/>
              </a:rPr>
              <a:t>Startup SG Founder, if eligible</a:t>
            </a:r>
          </a:p>
        </p:txBody>
      </p:sp>
      <p:sp>
        <p:nvSpPr>
          <p:cNvPr id="33" name="Rounded Rectangle 32"/>
          <p:cNvSpPr/>
          <p:nvPr/>
        </p:nvSpPr>
        <p:spPr>
          <a:xfrm>
            <a:off x="4407408" y="3986784"/>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44568" y="4078224"/>
            <a:ext cx="2057400" cy="777240"/>
          </a:xfrm>
          <a:prstGeom prst="rect">
            <a:avLst/>
          </a:prstGeom>
          <a:noFill/>
        </p:spPr>
        <p:txBody>
          <a:bodyPr wrap="square" anchor="t" lIns="0" rIns="0" tIns="0" bIns="0">
            <a:spAutoFit/>
          </a:bodyPr>
          <a:lstStyle/>
          <a:p>
            <a:r>
              <a:rPr sz="1100" b="0">
                <a:solidFill>
                  <a:srgbClr val="FFFFFF"/>
                </a:solidFill>
                <a:latin typeface="Calibri"/>
              </a:rPr>
              <a:t>Fund the pilot: grant, plus a paid bank or telco pilot</a:t>
            </a:r>
          </a:p>
        </p:txBody>
      </p:sp>
      <p:sp>
        <p:nvSpPr>
          <p:cNvPr id="35" name="Rounded Rectangle 34"/>
          <p:cNvSpPr/>
          <p:nvPr/>
        </p:nvSpPr>
        <p:spPr>
          <a:xfrm>
            <a:off x="6830568" y="3986784"/>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67728" y="4078224"/>
            <a:ext cx="2057400" cy="777240"/>
          </a:xfrm>
          <a:prstGeom prst="rect">
            <a:avLst/>
          </a:prstGeom>
          <a:noFill/>
        </p:spPr>
        <p:txBody>
          <a:bodyPr wrap="square" anchor="t" lIns="0" rIns="0" tIns="0" bIns="0">
            <a:spAutoFit/>
          </a:bodyPr>
          <a:lstStyle/>
          <a:p>
            <a:r>
              <a:rPr sz="1100" b="0">
                <a:solidFill>
                  <a:srgbClr val="FFFFFF"/>
                </a:solidFill>
                <a:latin typeface="Calibri"/>
              </a:rPr>
              <a:t>Price the first licence from real pilot costs</a:t>
            </a:r>
          </a:p>
        </p:txBody>
      </p:sp>
      <p:sp>
        <p:nvSpPr>
          <p:cNvPr id="37" name="Rounded Rectangle 36"/>
          <p:cNvSpPr/>
          <p:nvPr/>
        </p:nvSpPr>
        <p:spPr>
          <a:xfrm>
            <a:off x="9253728" y="3986784"/>
            <a:ext cx="2331720" cy="91440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90888" y="4078224"/>
            <a:ext cx="2057400" cy="777240"/>
          </a:xfrm>
          <a:prstGeom prst="rect">
            <a:avLst/>
          </a:prstGeom>
          <a:noFill/>
        </p:spPr>
        <p:txBody>
          <a:bodyPr wrap="square" anchor="t" lIns="0" rIns="0" tIns="0" bIns="0">
            <a:spAutoFit/>
          </a:bodyPr>
          <a:lstStyle/>
          <a:p>
            <a:r>
              <a:rPr sz="1100" b="0">
                <a:solidFill>
                  <a:srgbClr val="FFFFFF"/>
                </a:solidFill>
                <a:latin typeface="Calibri"/>
              </a:rPr>
              <a:t>First government programme licence</a:t>
            </a:r>
          </a:p>
        </p:txBody>
      </p:sp>
      <p:sp>
        <p:nvSpPr>
          <p:cNvPr id="39" name="TextBox 38"/>
          <p:cNvSpPr txBox="1"/>
          <p:nvPr/>
        </p:nvSpPr>
        <p:spPr>
          <a:xfrm>
            <a:off x="658368" y="5084064"/>
            <a:ext cx="1234440" cy="914400"/>
          </a:xfrm>
          <a:prstGeom prst="rect">
            <a:avLst/>
          </a:prstGeom>
          <a:noFill/>
        </p:spPr>
        <p:txBody>
          <a:bodyPr wrap="square" anchor="t" lIns="0" rIns="0" tIns="0" bIns="0">
            <a:spAutoFit/>
          </a:bodyPr>
          <a:lstStyle/>
          <a:p>
            <a:r>
              <a:rPr sz="1100" b="1">
                <a:solidFill>
                  <a:srgbClr val="00FF88"/>
                </a:solidFill>
                <a:latin typeface="Calibri"/>
              </a:rPr>
              <a:t>TRUST</a:t>
            </a:r>
          </a:p>
          <a:p>
            <a:pPr>
              <a:spcBef>
                <a:spcPts val="300"/>
              </a:spcBef>
            </a:pPr>
            <a:r>
              <a:rPr sz="1100" b="1">
                <a:solidFill>
                  <a:srgbClr val="00FF88"/>
                </a:solidFill>
                <a:latin typeface="Calibri"/>
              </a:rPr>
              <a:t>&amp; SAFETY</a:t>
            </a:r>
          </a:p>
        </p:txBody>
      </p:sp>
      <p:sp>
        <p:nvSpPr>
          <p:cNvPr id="40" name="Rounded Rectangle 39"/>
          <p:cNvSpPr/>
          <p:nvPr/>
        </p:nvSpPr>
        <p:spPr>
          <a:xfrm>
            <a:off x="1984248" y="4974336"/>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21408" y="5065776"/>
            <a:ext cx="2057400" cy="777240"/>
          </a:xfrm>
          <a:prstGeom prst="rect">
            <a:avLst/>
          </a:prstGeom>
          <a:noFill/>
        </p:spPr>
        <p:txBody>
          <a:bodyPr wrap="square" anchor="t" lIns="0" rIns="0" tIns="0" bIns="0">
            <a:spAutoFit/>
          </a:bodyPr>
          <a:lstStyle/>
          <a:p>
            <a:r>
              <a:rPr sz="1100" b="0">
                <a:solidFill>
                  <a:srgbClr val="FFFFFF"/>
                </a:solidFill>
                <a:latin typeface="Calibri"/>
              </a:rPr>
              <a:t>Consent audit trail checked end to end</a:t>
            </a:r>
          </a:p>
        </p:txBody>
      </p:sp>
      <p:sp>
        <p:nvSpPr>
          <p:cNvPr id="42" name="Rounded Rectangle 41"/>
          <p:cNvSpPr/>
          <p:nvPr/>
        </p:nvSpPr>
        <p:spPr>
          <a:xfrm>
            <a:off x="4407408" y="4974336"/>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44568" y="5065776"/>
            <a:ext cx="2057400" cy="777240"/>
          </a:xfrm>
          <a:prstGeom prst="rect">
            <a:avLst/>
          </a:prstGeom>
          <a:noFill/>
        </p:spPr>
        <p:txBody>
          <a:bodyPr wrap="square" anchor="t" lIns="0" rIns="0" tIns="0" bIns="0">
            <a:spAutoFit/>
          </a:bodyPr>
          <a:lstStyle/>
          <a:p>
            <a:r>
              <a:rPr sz="1100" b="0">
                <a:solidFill>
                  <a:srgbClr val="FFFFFF"/>
                </a:solidFill>
                <a:latin typeface="Calibri"/>
              </a:rPr>
              <a:t>Safeguards reviewed with the pilot partner</a:t>
            </a:r>
          </a:p>
        </p:txBody>
      </p:sp>
      <p:sp>
        <p:nvSpPr>
          <p:cNvPr id="44" name="Rounded Rectangle 43"/>
          <p:cNvSpPr/>
          <p:nvPr/>
        </p:nvSpPr>
        <p:spPr>
          <a:xfrm>
            <a:off x="6830568" y="4974336"/>
            <a:ext cx="2331720" cy="9144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67728" y="5065776"/>
            <a:ext cx="2057400" cy="777240"/>
          </a:xfrm>
          <a:prstGeom prst="rect">
            <a:avLst/>
          </a:prstGeom>
          <a:noFill/>
        </p:spPr>
        <p:txBody>
          <a:bodyPr wrap="square" anchor="t" lIns="0" rIns="0" tIns="0" bIns="0">
            <a:spAutoFit/>
          </a:bodyPr>
          <a:lstStyle/>
          <a:p>
            <a:r>
              <a:rPr sz="1100" b="0">
                <a:solidFill>
                  <a:srgbClr val="FFFFFF"/>
                </a:solidFill>
                <a:latin typeface="Calibri"/>
              </a:rPr>
              <a:t>Data-protection (PDPA) review before scale</a:t>
            </a:r>
          </a:p>
          <a:p>
            <a:pPr>
              <a:spcBef>
                <a:spcPts val="200"/>
              </a:spcBef>
            </a:pPr>
            <a:r>
              <a:rPr sz="1100" b="0">
                <a:solidFill>
                  <a:srgbClr val="FFFFFF"/>
                </a:solidFill>
                <a:latin typeface="Calibri"/>
              </a:rPr>
              <a:t>Agencies see anonymised results only</a:t>
            </a:r>
          </a:p>
        </p:txBody>
      </p:sp>
      <p:sp>
        <p:nvSpPr>
          <p:cNvPr id="46" name="Rounded Rectangle 45"/>
          <p:cNvSpPr/>
          <p:nvPr/>
        </p:nvSpPr>
        <p:spPr>
          <a:xfrm>
            <a:off x="9253728" y="4974336"/>
            <a:ext cx="2331720" cy="91440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90888" y="5065776"/>
            <a:ext cx="2057400" cy="777240"/>
          </a:xfrm>
          <a:prstGeom prst="rect">
            <a:avLst/>
          </a:prstGeom>
          <a:noFill/>
        </p:spPr>
        <p:txBody>
          <a:bodyPr wrap="square" anchor="t" lIns="0" rIns="0" tIns="0" bIns="0">
            <a:spAutoFit/>
          </a:bodyPr>
          <a:lstStyle/>
          <a:p>
            <a:r>
              <a:rPr sz="1100" b="0">
                <a:solidFill>
                  <a:srgbClr val="FFFFFF"/>
                </a:solidFill>
                <a:latin typeface="Calibri"/>
              </a:rPr>
              <a:t>Independent safeguards review</a:t>
            </a:r>
          </a:p>
        </p:txBody>
      </p:sp>
      <p:sp>
        <p:nvSpPr>
          <p:cNvPr id="48" name="TextBox 47"/>
          <p:cNvSpPr txBox="1"/>
          <p:nvPr/>
        </p:nvSpPr>
        <p:spPr>
          <a:xfrm>
            <a:off x="658368" y="6355080"/>
            <a:ext cx="10881360" cy="320040"/>
          </a:xfrm>
          <a:prstGeom prst="rect">
            <a:avLst/>
          </a:prstGeom>
          <a:noFill/>
        </p:spPr>
        <p:txBody>
          <a:bodyPr wrap="square" anchor="t" lIns="0" rIns="0" tIns="0" bIns="0">
            <a:spAutoFit/>
          </a:bodyPr>
          <a:lstStyle/>
          <a:p>
            <a:r>
              <a:rPr sz="1000" b="0">
                <a:solidFill>
                  <a:srgbClr val="A8BBCF"/>
                </a:solidFill>
                <a:latin typeface="Calibri"/>
              </a:rPr>
              <a:t>A plan from the 27 Oct final, not commitments. Each quarter starts only if the one before it met its measures (see the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658368" y="411480"/>
            <a:ext cx="10881360" cy="274320"/>
          </a:xfrm>
          <a:prstGeom prst="rect">
            <a:avLst/>
          </a:prstGeom>
          <a:noFill/>
        </p:spPr>
        <p:txBody>
          <a:bodyPr wrap="square" anchor="t" lIns="0" rIns="0" tIns="0" bIns="0">
            <a:spAutoFit/>
          </a:bodyPr>
          <a:lstStyle/>
          <a:p>
            <a:r>
              <a:rPr sz="1200" b="1">
                <a:solidFill>
                  <a:srgbClr val="00FF88"/>
                </a:solidFill>
                <a:latin typeface="Calibri"/>
              </a:rPr>
              <a:t>HOW WE DEFINE SUCCESS</a:t>
            </a:r>
          </a:p>
        </p:txBody>
      </p:sp>
      <p:sp>
        <p:nvSpPr>
          <p:cNvPr id="3" name="TextBox 2"/>
          <p:cNvSpPr txBox="1"/>
          <p:nvPr/>
        </p:nvSpPr>
        <p:spPr>
          <a:xfrm>
            <a:off x="658368" y="731520"/>
            <a:ext cx="10881360" cy="548640"/>
          </a:xfrm>
          <a:prstGeom prst="rect">
            <a:avLst/>
          </a:prstGeom>
          <a:noFill/>
        </p:spPr>
        <p:txBody>
          <a:bodyPr wrap="square" anchor="t" lIns="0" rIns="0" tIns="0" bIns="0">
            <a:spAutoFit/>
          </a:bodyPr>
          <a:lstStyle/>
          <a:p>
            <a:r>
              <a:rPr sz="2600" b="1">
                <a:solidFill>
                  <a:srgbClr val="FFFFFF"/>
                </a:solidFill>
                <a:latin typeface="Arial"/>
              </a:rPr>
              <a:t>A changed reflex, not a download count.</a:t>
            </a:r>
          </a:p>
        </p:txBody>
      </p:sp>
      <p:sp>
        <p:nvSpPr>
          <p:cNvPr id="4" name="Rounded Rectangle 3"/>
          <p:cNvSpPr/>
          <p:nvPr/>
        </p:nvSpPr>
        <p:spPr>
          <a:xfrm>
            <a:off x="658368" y="1417320"/>
            <a:ext cx="2587752" cy="361188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554480"/>
            <a:ext cx="2221992" cy="274320"/>
          </a:xfrm>
          <a:prstGeom prst="rect">
            <a:avLst/>
          </a:prstGeom>
          <a:noFill/>
        </p:spPr>
        <p:txBody>
          <a:bodyPr wrap="square" anchor="t" lIns="0" rIns="0" tIns="0" bIns="0">
            <a:spAutoFit/>
          </a:bodyPr>
          <a:lstStyle/>
          <a:p>
            <a:r>
              <a:rPr sz="1200" b="1">
                <a:solidFill>
                  <a:srgbClr val="00FF88"/>
                </a:solidFill>
                <a:latin typeface="Calibri"/>
              </a:rPr>
              <a:t>WORKS</a:t>
            </a:r>
          </a:p>
        </p:txBody>
      </p:sp>
      <p:sp>
        <p:nvSpPr>
          <p:cNvPr id="6" name="TextBox 5"/>
          <p:cNvSpPr txBox="1"/>
          <p:nvPr/>
        </p:nvSpPr>
        <p:spPr>
          <a:xfrm>
            <a:off x="841247" y="1828800"/>
            <a:ext cx="2221992" cy="502920"/>
          </a:xfrm>
          <a:prstGeom prst="rect">
            <a:avLst/>
          </a:prstGeom>
          <a:noFill/>
        </p:spPr>
        <p:txBody>
          <a:bodyPr wrap="square" anchor="t" lIns="0" rIns="0" tIns="0" bIns="0">
            <a:spAutoFit/>
          </a:bodyPr>
          <a:lstStyle/>
          <a:p>
            <a:r>
              <a:rPr sz="1400" b="1">
                <a:solidFill>
                  <a:srgbClr val="FFFFFF"/>
                </a:solidFill>
                <a:latin typeface="Arial"/>
              </a:rPr>
              <a:t>Are people harder to scam?</a:t>
            </a:r>
          </a:p>
        </p:txBody>
      </p:sp>
      <p:sp>
        <p:nvSpPr>
          <p:cNvPr id="7" name="TextBox 6"/>
          <p:cNvSpPr txBox="1"/>
          <p:nvPr/>
        </p:nvSpPr>
        <p:spPr>
          <a:xfrm>
            <a:off x="841247" y="2423160"/>
            <a:ext cx="2221992" cy="2560320"/>
          </a:xfrm>
          <a:prstGeom prst="rect">
            <a:avLst/>
          </a:prstGeom>
          <a:noFill/>
        </p:spPr>
        <p:txBody>
          <a:bodyPr wrap="square" anchor="t" lIns="0" rIns="0" tIns="0" bIns="0">
            <a:spAutoFit/>
          </a:bodyPr>
          <a:lstStyle/>
          <a:p>
            <a:r>
              <a:rPr sz="1450" b="1">
                <a:solidFill>
                  <a:srgbClr val="FFFFFF"/>
                </a:solidFill>
                <a:latin typeface="Calibri"/>
              </a:rPr>
              <a:t>Fall-for-it rate</a:t>
            </a:r>
          </a:p>
          <a:p>
            <a:pPr>
              <a:spcBef>
                <a:spcPts val="500"/>
              </a:spcBef>
            </a:pPr>
            <a:r>
              <a:rPr sz="1250" b="0">
                <a:solidFill>
                  <a:srgbClr val="A8BBCF"/>
                </a:solidFill>
                <a:latin typeface="Calibri"/>
              </a:rPr>
              <a:t>Share who fall for a drill, first vs later</a:t>
            </a:r>
          </a:p>
          <a:p>
            <a:pPr>
              <a:spcBef>
                <a:spcPts val="500"/>
              </a:spcBef>
            </a:pPr>
            <a:r>
              <a:rPr sz="1450" b="1">
                <a:solidFill>
                  <a:srgbClr val="FFFFFF"/>
                </a:solidFill>
                <a:latin typeface="Calibri"/>
              </a:rPr>
              <a:t>Hang-up or report rate</a:t>
            </a:r>
          </a:p>
          <a:p>
            <a:pPr>
              <a:spcBef>
                <a:spcPts val="500"/>
              </a:spcBef>
            </a:pPr>
            <a:r>
              <a:rPr sz="1250" b="0">
                <a:solidFill>
                  <a:srgbClr val="A8BBCF"/>
                </a:solidFill>
                <a:latin typeface="Calibri"/>
              </a:rPr>
              <a:t>Share who hang up or report</a:t>
            </a:r>
          </a:p>
          <a:p>
            <a:pPr>
              <a:spcBef>
                <a:spcPts val="500"/>
              </a:spcBef>
            </a:pPr>
            <a:r>
              <a:rPr sz="1450" b="1">
                <a:solidFill>
                  <a:srgbClr val="FFFFFF"/>
                </a:solidFill>
                <a:latin typeface="Calibri"/>
              </a:rPr>
              <a:t>Practice habit</a:t>
            </a:r>
          </a:p>
          <a:p>
            <a:pPr>
              <a:spcBef>
                <a:spcPts val="500"/>
              </a:spcBef>
            </a:pPr>
            <a:r>
              <a:rPr sz="1250" b="0">
                <a:solidFill>
                  <a:srgbClr val="A8BBCF"/>
                </a:solidFill>
                <a:latin typeface="Calibri"/>
              </a:rPr>
              <a:t>Share who do 3+ drills a month</a:t>
            </a:r>
          </a:p>
        </p:txBody>
      </p:sp>
      <p:sp>
        <p:nvSpPr>
          <p:cNvPr id="8" name="Rounded Rectangle 7"/>
          <p:cNvSpPr/>
          <p:nvPr/>
        </p:nvSpPr>
        <p:spPr>
          <a:xfrm>
            <a:off x="3422904" y="1417320"/>
            <a:ext cx="2587752" cy="361188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5784" y="1554480"/>
            <a:ext cx="2221992" cy="274320"/>
          </a:xfrm>
          <a:prstGeom prst="rect">
            <a:avLst/>
          </a:prstGeom>
          <a:noFill/>
        </p:spPr>
        <p:txBody>
          <a:bodyPr wrap="square" anchor="t" lIns="0" rIns="0" tIns="0" bIns="0">
            <a:spAutoFit/>
          </a:bodyPr>
          <a:lstStyle/>
          <a:p>
            <a:r>
              <a:rPr sz="1200" b="1">
                <a:solidFill>
                  <a:srgbClr val="00FF88"/>
                </a:solidFill>
                <a:latin typeface="Calibri"/>
              </a:rPr>
              <a:t>REACHES</a:t>
            </a:r>
          </a:p>
        </p:txBody>
      </p:sp>
      <p:sp>
        <p:nvSpPr>
          <p:cNvPr id="10" name="TextBox 9"/>
          <p:cNvSpPr txBox="1"/>
          <p:nvPr/>
        </p:nvSpPr>
        <p:spPr>
          <a:xfrm>
            <a:off x="3605784" y="1828800"/>
            <a:ext cx="2221992" cy="502920"/>
          </a:xfrm>
          <a:prstGeom prst="rect">
            <a:avLst/>
          </a:prstGeom>
          <a:noFill/>
        </p:spPr>
        <p:txBody>
          <a:bodyPr wrap="square" anchor="t" lIns="0" rIns="0" tIns="0" bIns="0">
            <a:spAutoFit/>
          </a:bodyPr>
          <a:lstStyle/>
          <a:p>
            <a:r>
              <a:rPr sz="1400" b="1">
                <a:solidFill>
                  <a:srgbClr val="FFFFFF"/>
                </a:solidFill>
                <a:latin typeface="Arial"/>
              </a:rPr>
              <a:t>Who is it reaching?</a:t>
            </a:r>
          </a:p>
        </p:txBody>
      </p:sp>
      <p:sp>
        <p:nvSpPr>
          <p:cNvPr id="11" name="TextBox 10"/>
          <p:cNvSpPr txBox="1"/>
          <p:nvPr/>
        </p:nvSpPr>
        <p:spPr>
          <a:xfrm>
            <a:off x="3605784" y="2423160"/>
            <a:ext cx="2221992" cy="2560320"/>
          </a:xfrm>
          <a:prstGeom prst="rect">
            <a:avLst/>
          </a:prstGeom>
          <a:noFill/>
        </p:spPr>
        <p:txBody>
          <a:bodyPr wrap="square" anchor="t" lIns="0" rIns="0" tIns="0" bIns="0">
            <a:spAutoFit/>
          </a:bodyPr>
          <a:lstStyle/>
          <a:p>
            <a:r>
              <a:rPr sz="1450" b="1">
                <a:solidFill>
                  <a:srgbClr val="FFFFFF"/>
                </a:solidFill>
                <a:latin typeface="Calibri"/>
              </a:rPr>
              <a:t>Seniors enrolled</a:t>
            </a:r>
          </a:p>
          <a:p>
            <a:pPr>
              <a:spcBef>
                <a:spcPts val="500"/>
              </a:spcBef>
            </a:pPr>
            <a:r>
              <a:rPr sz="1250" b="0">
                <a:solidFill>
                  <a:srgbClr val="A8BBCF"/>
                </a:solidFill>
                <a:latin typeface="Calibri"/>
              </a:rPr>
              <a:t>Counted with the partner cohort</a:t>
            </a:r>
          </a:p>
          <a:p>
            <a:pPr>
              <a:spcBef>
                <a:spcPts val="500"/>
              </a:spcBef>
            </a:pPr>
            <a:r>
              <a:rPr sz="1450" b="1">
                <a:solidFill>
                  <a:srgbClr val="FFFFFF"/>
                </a:solidFill>
                <a:latin typeface="Calibri"/>
              </a:rPr>
              <a:t>Households formed</a:t>
            </a:r>
          </a:p>
          <a:p>
            <a:pPr>
              <a:spcBef>
                <a:spcPts val="500"/>
              </a:spcBef>
            </a:pPr>
            <a:r>
              <a:rPr sz="1250" b="0">
                <a:solidFill>
                  <a:srgbClr val="A8BBCF"/>
                </a:solidFill>
                <a:latin typeface="Calibri"/>
              </a:rPr>
              <a:t>Families practising together</a:t>
            </a:r>
          </a:p>
          <a:p>
            <a:pPr>
              <a:spcBef>
                <a:spcPts val="500"/>
              </a:spcBef>
            </a:pPr>
            <a:r>
              <a:rPr sz="1450" b="1">
                <a:solidFill>
                  <a:srgbClr val="FFFFFF"/>
                </a:solidFill>
                <a:latin typeface="Calibri"/>
              </a:rPr>
              <a:t>Completion</a:t>
            </a:r>
          </a:p>
          <a:p>
            <a:pPr>
              <a:spcBef>
                <a:spcPts val="500"/>
              </a:spcBef>
            </a:pPr>
            <a:r>
              <a:rPr sz="1250" b="0">
                <a:solidFill>
                  <a:srgbClr val="A8BBCF"/>
                </a:solidFill>
                <a:latin typeface="Calibri"/>
              </a:rPr>
              <a:t>Share who finish their first drill</a:t>
            </a:r>
          </a:p>
        </p:txBody>
      </p:sp>
      <p:sp>
        <p:nvSpPr>
          <p:cNvPr id="12" name="Rounded Rectangle 11"/>
          <p:cNvSpPr/>
          <p:nvPr/>
        </p:nvSpPr>
        <p:spPr>
          <a:xfrm>
            <a:off x="6187440" y="1417320"/>
            <a:ext cx="2587752" cy="361188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0320" y="1554480"/>
            <a:ext cx="2221992" cy="274320"/>
          </a:xfrm>
          <a:prstGeom prst="rect">
            <a:avLst/>
          </a:prstGeom>
          <a:noFill/>
        </p:spPr>
        <p:txBody>
          <a:bodyPr wrap="square" anchor="t" lIns="0" rIns="0" tIns="0" bIns="0">
            <a:spAutoFit/>
          </a:bodyPr>
          <a:lstStyle/>
          <a:p>
            <a:r>
              <a:rPr sz="1200" b="1">
                <a:solidFill>
                  <a:srgbClr val="00FF88"/>
                </a:solidFill>
                <a:latin typeface="Calibri"/>
              </a:rPr>
              <a:t>SAFE</a:t>
            </a:r>
          </a:p>
        </p:txBody>
      </p:sp>
      <p:sp>
        <p:nvSpPr>
          <p:cNvPr id="14" name="TextBox 13"/>
          <p:cNvSpPr txBox="1"/>
          <p:nvPr/>
        </p:nvSpPr>
        <p:spPr>
          <a:xfrm>
            <a:off x="6370320" y="1828800"/>
            <a:ext cx="2221992" cy="502920"/>
          </a:xfrm>
          <a:prstGeom prst="rect">
            <a:avLst/>
          </a:prstGeom>
          <a:noFill/>
        </p:spPr>
        <p:txBody>
          <a:bodyPr wrap="square" anchor="t" lIns="0" rIns="0" tIns="0" bIns="0">
            <a:spAutoFit/>
          </a:bodyPr>
          <a:lstStyle/>
          <a:p>
            <a:r>
              <a:rPr sz="1400" b="1">
                <a:solidFill>
                  <a:srgbClr val="FFFFFF"/>
                </a:solidFill>
                <a:latin typeface="Arial"/>
              </a:rPr>
              <a:t>Is it safe to run?</a:t>
            </a:r>
          </a:p>
        </p:txBody>
      </p:sp>
      <p:sp>
        <p:nvSpPr>
          <p:cNvPr id="15" name="TextBox 14"/>
          <p:cNvSpPr txBox="1"/>
          <p:nvPr/>
        </p:nvSpPr>
        <p:spPr>
          <a:xfrm>
            <a:off x="6370320" y="2423160"/>
            <a:ext cx="2221992" cy="2560320"/>
          </a:xfrm>
          <a:prstGeom prst="rect">
            <a:avLst/>
          </a:prstGeom>
          <a:noFill/>
        </p:spPr>
        <p:txBody>
          <a:bodyPr wrap="square" anchor="t" lIns="0" rIns="0" tIns="0" bIns="0">
            <a:spAutoFit/>
          </a:bodyPr>
          <a:lstStyle/>
          <a:p>
            <a:r>
              <a:rPr sz="1450" b="1">
                <a:solidFill>
                  <a:srgbClr val="FFFFFF"/>
                </a:solidFill>
                <a:latin typeface="Calibri"/>
              </a:rPr>
              <a:t>Consent coverage</a:t>
            </a:r>
          </a:p>
          <a:p>
            <a:pPr>
              <a:spcBef>
                <a:spcPts val="500"/>
              </a:spcBef>
            </a:pPr>
            <a:r>
              <a:rPr sz="1250" b="0">
                <a:solidFill>
                  <a:srgbClr val="A8BBCF"/>
                </a:solidFill>
                <a:latin typeface="Calibri"/>
              </a:rPr>
              <a:t>Every drill has a recorded opt-in</a:t>
            </a:r>
          </a:p>
          <a:p>
            <a:pPr>
              <a:spcBef>
                <a:spcPts val="500"/>
              </a:spcBef>
            </a:pPr>
            <a:r>
              <a:rPr sz="1450" b="1">
                <a:solidFill>
                  <a:srgbClr val="FFFFFF"/>
                </a:solidFill>
                <a:latin typeface="Calibri"/>
              </a:rPr>
              <a:t>Off-ramp honoured</a:t>
            </a:r>
          </a:p>
          <a:p>
            <a:pPr>
              <a:spcBef>
                <a:spcPts val="500"/>
              </a:spcBef>
            </a:pPr>
            <a:r>
              <a:rPr sz="1250" b="0">
                <a:solidFill>
                  <a:srgbClr val="A8BBCF"/>
                </a:solidFill>
                <a:latin typeface="Calibri"/>
              </a:rPr>
              <a:t>Every stop ends the drill, no penalty</a:t>
            </a:r>
          </a:p>
          <a:p>
            <a:pPr>
              <a:spcBef>
                <a:spcPts val="500"/>
              </a:spcBef>
            </a:pPr>
            <a:r>
              <a:rPr sz="1450" b="1">
                <a:solidFill>
                  <a:srgbClr val="FFFFFF"/>
                </a:solidFill>
                <a:latin typeface="Calibri"/>
              </a:rPr>
              <a:t>Real data captured</a:t>
            </a:r>
          </a:p>
          <a:p>
            <a:pPr>
              <a:spcBef>
                <a:spcPts val="500"/>
              </a:spcBef>
            </a:pPr>
            <a:r>
              <a:rPr sz="1250" b="0">
                <a:solidFill>
                  <a:srgbClr val="A8BBCF"/>
                </a:solidFill>
                <a:latin typeface="Calibri"/>
              </a:rPr>
              <a:t>Zero: the tripwire stops and stores nothing</a:t>
            </a:r>
          </a:p>
        </p:txBody>
      </p:sp>
      <p:sp>
        <p:nvSpPr>
          <p:cNvPr id="16" name="Rounded Rectangle 15"/>
          <p:cNvSpPr/>
          <p:nvPr/>
        </p:nvSpPr>
        <p:spPr>
          <a:xfrm>
            <a:off x="8951976" y="1417320"/>
            <a:ext cx="2587752" cy="361188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34856" y="1554480"/>
            <a:ext cx="2221992" cy="274320"/>
          </a:xfrm>
          <a:prstGeom prst="rect">
            <a:avLst/>
          </a:prstGeom>
          <a:noFill/>
        </p:spPr>
        <p:txBody>
          <a:bodyPr wrap="square" anchor="t" lIns="0" rIns="0" tIns="0" bIns="0">
            <a:spAutoFit/>
          </a:bodyPr>
          <a:lstStyle/>
          <a:p>
            <a:r>
              <a:rPr sz="1200" b="1">
                <a:solidFill>
                  <a:srgbClr val="00FF88"/>
                </a:solidFill>
                <a:latin typeface="Calibri"/>
              </a:rPr>
              <a:t>SUSTAINABLE</a:t>
            </a:r>
          </a:p>
        </p:txBody>
      </p:sp>
      <p:sp>
        <p:nvSpPr>
          <p:cNvPr id="18" name="TextBox 17"/>
          <p:cNvSpPr txBox="1"/>
          <p:nvPr/>
        </p:nvSpPr>
        <p:spPr>
          <a:xfrm>
            <a:off x="9134856" y="1828800"/>
            <a:ext cx="2221992" cy="502920"/>
          </a:xfrm>
          <a:prstGeom prst="rect">
            <a:avLst/>
          </a:prstGeom>
          <a:noFill/>
        </p:spPr>
        <p:txBody>
          <a:bodyPr wrap="square" anchor="t" lIns="0" rIns="0" tIns="0" bIns="0">
            <a:spAutoFit/>
          </a:bodyPr>
          <a:lstStyle/>
          <a:p>
            <a:r>
              <a:rPr sz="1400" b="1">
                <a:solidFill>
                  <a:srgbClr val="FFFFFF"/>
                </a:solidFill>
                <a:latin typeface="Arial"/>
              </a:rPr>
              <a:t>Can it pay its way?</a:t>
            </a:r>
          </a:p>
        </p:txBody>
      </p:sp>
      <p:sp>
        <p:nvSpPr>
          <p:cNvPr id="19" name="TextBox 18"/>
          <p:cNvSpPr txBox="1"/>
          <p:nvPr/>
        </p:nvSpPr>
        <p:spPr>
          <a:xfrm>
            <a:off x="9134856" y="2423160"/>
            <a:ext cx="2221992" cy="2560320"/>
          </a:xfrm>
          <a:prstGeom prst="rect">
            <a:avLst/>
          </a:prstGeom>
          <a:noFill/>
        </p:spPr>
        <p:txBody>
          <a:bodyPr wrap="square" anchor="t" lIns="0" rIns="0" tIns="0" bIns="0">
            <a:spAutoFit/>
          </a:bodyPr>
          <a:lstStyle/>
          <a:p>
            <a:r>
              <a:rPr sz="1450" b="1">
                <a:solidFill>
                  <a:srgbClr val="FFFFFF"/>
                </a:solidFill>
                <a:latin typeface="Calibri"/>
              </a:rPr>
              <a:t>Paying customers</a:t>
            </a:r>
          </a:p>
          <a:p>
            <a:pPr>
              <a:spcBef>
                <a:spcPts val="500"/>
              </a:spcBef>
            </a:pPr>
            <a:r>
              <a:rPr sz="1250" b="0">
                <a:solidFill>
                  <a:srgbClr val="A8BBCF"/>
                </a:solidFill>
                <a:latin typeface="Calibri"/>
              </a:rPr>
              <a:t>Pilot, then paid, then renewed</a:t>
            </a:r>
          </a:p>
          <a:p>
            <a:pPr>
              <a:spcBef>
                <a:spcPts val="500"/>
              </a:spcBef>
            </a:pPr>
            <a:r>
              <a:rPr sz="1450" b="1">
                <a:solidFill>
                  <a:srgbClr val="FFFFFF"/>
                </a:solidFill>
                <a:latin typeface="Calibri"/>
              </a:rPr>
              <a:t>Cost per household</a:t>
            </a:r>
          </a:p>
          <a:p>
            <a:pPr>
              <a:spcBef>
                <a:spcPts val="500"/>
              </a:spcBef>
            </a:pPr>
            <a:r>
              <a:rPr sz="1250" b="0">
                <a:solidFill>
                  <a:srgbClr val="A8BBCF"/>
                </a:solidFill>
                <a:latin typeface="Calibri"/>
              </a:rPr>
              <a:t>Measured in the pilot</a:t>
            </a:r>
          </a:p>
          <a:p>
            <a:pPr>
              <a:spcBef>
                <a:spcPts val="500"/>
              </a:spcBef>
            </a:pPr>
            <a:r>
              <a:rPr sz="1450" b="1">
                <a:solidFill>
                  <a:srgbClr val="FFFFFF"/>
                </a:solidFill>
                <a:latin typeface="Calibri"/>
              </a:rPr>
              <a:t>Renewal</a:t>
            </a:r>
          </a:p>
          <a:p>
            <a:pPr>
              <a:spcBef>
                <a:spcPts val="500"/>
              </a:spcBef>
            </a:pPr>
            <a:r>
              <a:rPr sz="1250" b="0">
                <a:solidFill>
                  <a:srgbClr val="A8BBCF"/>
                </a:solidFill>
                <a:latin typeface="Calibri"/>
              </a:rPr>
              <a:t>Agency re-licenses after year one</a:t>
            </a:r>
          </a:p>
        </p:txBody>
      </p:sp>
      <p:sp>
        <p:nvSpPr>
          <p:cNvPr id="20" name="Rounded Rectangle 19"/>
          <p:cNvSpPr/>
          <p:nvPr/>
        </p:nvSpPr>
        <p:spPr>
          <a:xfrm>
            <a:off x="658368" y="5212080"/>
            <a:ext cx="10881360" cy="86868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212080"/>
            <a:ext cx="10515600" cy="868680"/>
          </a:xfrm>
          <a:prstGeom prst="rect">
            <a:avLst/>
          </a:prstGeom>
          <a:noFill/>
        </p:spPr>
        <p:txBody>
          <a:bodyPr wrap="square" anchor="ctr" lIns="0" rIns="0" tIns="0" bIns="0">
            <a:spAutoFit/>
          </a:bodyPr>
          <a:lstStyle/>
          <a:p>
            <a:r>
              <a:rPr sz="1500" b="1">
                <a:solidFill>
                  <a:srgbClr val="00FF88"/>
                </a:solidFill>
                <a:latin typeface="Arial"/>
              </a:rPr>
              <a:t>North star: more people hang up or report when a real scam call comes.</a:t>
            </a:r>
          </a:p>
          <a:p>
            <a:pPr>
              <a:spcBef>
                <a:spcPts val="300"/>
              </a:spcBef>
            </a:pPr>
            <a:r>
              <a:rPr sz="1250" b="0">
                <a:solidFill>
                  <a:srgbClr val="FFFFFF"/>
                </a:solidFill>
                <a:latin typeface="Calibri"/>
              </a:rPr>
              <a:t>Drills are our proxy. We'll ask partners for scam-report data to test whether the proxy holds.</a:t>
            </a:r>
          </a:p>
        </p:txBody>
      </p:sp>
      <p:sp>
        <p:nvSpPr>
          <p:cNvPr id="22" name="TextBox 21"/>
          <p:cNvSpPr txBox="1"/>
          <p:nvPr/>
        </p:nvSpPr>
        <p:spPr>
          <a:xfrm>
            <a:off x="658368" y="6355080"/>
            <a:ext cx="10881360" cy="320040"/>
          </a:xfrm>
          <a:prstGeom prst="rect">
            <a:avLst/>
          </a:prstGeom>
          <a:noFill/>
        </p:spPr>
        <p:txBody>
          <a:bodyPr wrap="square" anchor="t" lIns="0" rIns="0" tIns="0" bIns="0">
            <a:spAutoFit/>
          </a:bodyPr>
          <a:lstStyle/>
          <a:p>
            <a:r>
              <a:rPr sz="1000" b="0">
                <a:solidFill>
                  <a:srgbClr val="A8BBCF"/>
                </a:solidFill>
                <a:latin typeface="Calibri"/>
              </a:rPr>
              <a:t>Targets are set with each partner after a baseline drill. We state no numbers until then.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TextBox 1"/>
          <p:cNvSpPr txBox="1"/>
          <p:nvPr/>
        </p:nvSpPr>
        <p:spPr>
          <a:xfrm>
            <a:off x="658368" y="411480"/>
            <a:ext cx="10881360" cy="274320"/>
          </a:xfrm>
          <a:prstGeom prst="rect">
            <a:avLst/>
          </a:prstGeom>
          <a:noFill/>
        </p:spPr>
        <p:txBody>
          <a:bodyPr wrap="square" anchor="t" lIns="0" rIns="0" tIns="0" bIns="0">
            <a:spAutoFit/>
          </a:bodyPr>
          <a:lstStyle/>
          <a:p>
            <a:r>
              <a:rPr sz="1200" b="1">
                <a:solidFill>
                  <a:srgbClr val="00FF88"/>
                </a:solidFill>
                <a:latin typeface="Calibri"/>
              </a:rPr>
              <a:t>BUSINESS PLAN  ·  B2G</a:t>
            </a:r>
          </a:p>
        </p:txBody>
      </p:sp>
      <p:sp>
        <p:nvSpPr>
          <p:cNvPr id="3" name="TextBox 2"/>
          <p:cNvSpPr txBox="1"/>
          <p:nvPr/>
        </p:nvSpPr>
        <p:spPr>
          <a:xfrm>
            <a:off x="658368" y="731520"/>
            <a:ext cx="10881360" cy="548640"/>
          </a:xfrm>
          <a:prstGeom prst="rect">
            <a:avLst/>
          </a:prstGeom>
          <a:noFill/>
        </p:spPr>
        <p:txBody>
          <a:bodyPr wrap="square" anchor="t" lIns="0" rIns="0" tIns="0" bIns="0">
            <a:spAutoFit/>
          </a:bodyPr>
          <a:lstStyle/>
          <a:p>
            <a:r>
              <a:rPr sz="2600" b="1">
                <a:solidFill>
                  <a:srgbClr val="FFFFFF"/>
                </a:solidFill>
                <a:latin typeface="Arial"/>
              </a:rPr>
              <a:t>Grants fund the pilot. Government pays to scale.</a:t>
            </a:r>
          </a:p>
        </p:txBody>
      </p:sp>
      <p:sp>
        <p:nvSpPr>
          <p:cNvPr id="4" name="Rounded Rectangle 3"/>
          <p:cNvSpPr/>
          <p:nvPr/>
        </p:nvSpPr>
        <p:spPr>
          <a:xfrm>
            <a:off x="658368" y="1417320"/>
            <a:ext cx="3520440" cy="25146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572768"/>
            <a:ext cx="3154680" cy="320040"/>
          </a:xfrm>
          <a:prstGeom prst="rect">
            <a:avLst/>
          </a:prstGeom>
          <a:noFill/>
        </p:spPr>
        <p:txBody>
          <a:bodyPr wrap="square" anchor="t" lIns="0" rIns="0" tIns="0" bIns="0">
            <a:spAutoFit/>
          </a:bodyPr>
          <a:lstStyle/>
          <a:p>
            <a:r>
              <a:rPr sz="1500" b="1">
                <a:solidFill>
                  <a:srgbClr val="00FF88"/>
                </a:solidFill>
                <a:latin typeface="Arial"/>
              </a:rPr>
              <a:t>First money: grants</a:t>
            </a:r>
          </a:p>
        </p:txBody>
      </p:sp>
      <p:sp>
        <p:nvSpPr>
          <p:cNvPr id="6" name="TextBox 5"/>
          <p:cNvSpPr txBox="1"/>
          <p:nvPr/>
        </p:nvSpPr>
        <p:spPr>
          <a:xfrm>
            <a:off x="841247" y="2011680"/>
            <a:ext cx="3154680" cy="1828800"/>
          </a:xfrm>
          <a:prstGeom prst="rect">
            <a:avLst/>
          </a:prstGeom>
          <a:noFill/>
        </p:spPr>
        <p:txBody>
          <a:bodyPr wrap="square" anchor="t" lIns="0" rIns="0" tIns="0" bIns="0">
            <a:spAutoFit/>
          </a:bodyPr>
          <a:lstStyle/>
          <a:p>
            <a:r>
              <a:rPr sz="1250" b="0">
                <a:solidFill>
                  <a:srgbClr val="FFFFFF"/>
                </a:solidFill>
                <a:latin typeface="Calibri"/>
              </a:rPr>
              <a:t>•  Startup SG Tech: proof-of-concept funding, up to S$250K</a:t>
            </a:r>
          </a:p>
          <a:p>
            <a:pPr>
              <a:spcBef>
                <a:spcPts val="500"/>
              </a:spcBef>
            </a:pPr>
            <a:r>
              <a:rPr sz="1250" b="0">
                <a:solidFill>
                  <a:srgbClr val="FFFFFF"/>
                </a:solidFill>
                <a:latin typeface="Calibri"/>
              </a:rPr>
              <a:t>•  Startup SG Founder: up to S$50K, if we are eligible</a:t>
            </a:r>
          </a:p>
          <a:p>
            <a:pPr>
              <a:spcBef>
                <a:spcPts val="500"/>
              </a:spcBef>
            </a:pPr>
            <a:r>
              <a:rPr sz="1250" b="0">
                <a:solidFill>
                  <a:srgbClr val="FFFFFF"/>
                </a:solidFill>
                <a:latin typeface="Calibri"/>
              </a:rPr>
              <a:t>•  SOSA-HTX challenge: S$50K non-equity, if a cohort is open</a:t>
            </a:r>
          </a:p>
        </p:txBody>
      </p:sp>
      <p:sp>
        <p:nvSpPr>
          <p:cNvPr id="7" name="Rounded Rectangle 6"/>
          <p:cNvSpPr/>
          <p:nvPr/>
        </p:nvSpPr>
        <p:spPr>
          <a:xfrm>
            <a:off x="4338828" y="1417320"/>
            <a:ext cx="3520440" cy="25146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1708" y="1572768"/>
            <a:ext cx="3154680" cy="320040"/>
          </a:xfrm>
          <a:prstGeom prst="rect">
            <a:avLst/>
          </a:prstGeom>
          <a:noFill/>
        </p:spPr>
        <p:txBody>
          <a:bodyPr wrap="square" anchor="t" lIns="0" rIns="0" tIns="0" bIns="0">
            <a:spAutoFit/>
          </a:bodyPr>
          <a:lstStyle/>
          <a:p>
            <a:r>
              <a:rPr sz="1500" b="1">
                <a:solidFill>
                  <a:srgbClr val="00FF88"/>
                </a:solidFill>
                <a:latin typeface="Arial"/>
              </a:rPr>
              <a:t>Who pays to scale</a:t>
            </a:r>
          </a:p>
        </p:txBody>
      </p:sp>
      <p:sp>
        <p:nvSpPr>
          <p:cNvPr id="9" name="TextBox 8"/>
          <p:cNvSpPr txBox="1"/>
          <p:nvPr/>
        </p:nvSpPr>
        <p:spPr>
          <a:xfrm>
            <a:off x="4521708" y="2011680"/>
            <a:ext cx="3154680" cy="1828800"/>
          </a:xfrm>
          <a:prstGeom prst="rect">
            <a:avLst/>
          </a:prstGeom>
          <a:noFill/>
        </p:spPr>
        <p:txBody>
          <a:bodyPr wrap="square" anchor="t" lIns="0" rIns="0" tIns="0" bIns="0">
            <a:spAutoFit/>
          </a:bodyPr>
          <a:lstStyle/>
          <a:p>
            <a:r>
              <a:rPr sz="1250" b="0">
                <a:solidFill>
                  <a:srgbClr val="FFFFFF"/>
                </a:solidFill>
                <a:latin typeface="Calibri"/>
              </a:rPr>
              <a:t>•  Banks and telcos: a paid pilot as customer duty of care. They already work with SPF's Anti-Scam Centre</a:t>
            </a:r>
          </a:p>
          <a:p>
            <a:pPr>
              <a:spcBef>
                <a:spcPts val="500"/>
              </a:spcBef>
            </a:pPr>
            <a:r>
              <a:rPr sz="1250" b="0">
                <a:solidFill>
                  <a:srgbClr val="FFFFFF"/>
                </a:solidFill>
                <a:latin typeface="Calibri"/>
              </a:rPr>
              <a:t>•  Agencies: IMDA first for access, then SPF, NCPC and MOE for programme licences. Slower, but the long-term buyer</a:t>
            </a:r>
          </a:p>
        </p:txBody>
      </p:sp>
      <p:sp>
        <p:nvSpPr>
          <p:cNvPr id="10" name="Rounded Rectangle 9"/>
          <p:cNvSpPr/>
          <p:nvPr/>
        </p:nvSpPr>
        <p:spPr>
          <a:xfrm>
            <a:off x="8019288" y="1417320"/>
            <a:ext cx="3520440" cy="251460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2168" y="1572768"/>
            <a:ext cx="3154680" cy="320040"/>
          </a:xfrm>
          <a:prstGeom prst="rect">
            <a:avLst/>
          </a:prstGeom>
          <a:noFill/>
        </p:spPr>
        <p:txBody>
          <a:bodyPr wrap="square" anchor="t" lIns="0" rIns="0" tIns="0" bIns="0">
            <a:spAutoFit/>
          </a:bodyPr>
          <a:lstStyle/>
          <a:p>
            <a:r>
              <a:rPr sz="1500" b="1">
                <a:solidFill>
                  <a:srgbClr val="00FF88"/>
                </a:solidFill>
                <a:latin typeface="Arial"/>
              </a:rPr>
              <a:t>What they buy</a:t>
            </a:r>
          </a:p>
        </p:txBody>
      </p:sp>
      <p:sp>
        <p:nvSpPr>
          <p:cNvPr id="12" name="TextBox 11"/>
          <p:cNvSpPr txBox="1"/>
          <p:nvPr/>
        </p:nvSpPr>
        <p:spPr>
          <a:xfrm>
            <a:off x="8202168" y="2011680"/>
            <a:ext cx="3154680" cy="1828800"/>
          </a:xfrm>
          <a:prstGeom prst="rect">
            <a:avLst/>
          </a:prstGeom>
          <a:noFill/>
        </p:spPr>
        <p:txBody>
          <a:bodyPr wrap="square" anchor="t" lIns="0" rIns="0" tIns="0" bIns="0">
            <a:spAutoFit/>
          </a:bodyPr>
          <a:lstStyle/>
          <a:p>
            <a:r>
              <a:rPr sz="1250" b="0">
                <a:solidFill>
                  <a:srgbClr val="FFFFFF"/>
                </a:solidFill>
                <a:latin typeface="Calibri"/>
              </a:rPr>
              <a:t>•  A licensed programme for a defined cohort</a:t>
            </a:r>
          </a:p>
          <a:p>
            <a:pPr>
              <a:spcBef>
                <a:spcPts val="500"/>
              </a:spcBef>
            </a:pPr>
            <a:r>
              <a:rPr sz="1250" b="0">
                <a:solidFill>
                  <a:srgbClr val="FFFFFF"/>
                </a:solidFill>
                <a:latin typeface="Calibri"/>
              </a:rPr>
              <a:t>•  Voice, SMS and email drills with consent and a distress off-ramp built in</a:t>
            </a:r>
          </a:p>
          <a:p>
            <a:pPr>
              <a:spcBef>
                <a:spcPts val="500"/>
              </a:spcBef>
            </a:pPr>
            <a:r>
              <a:rPr sz="1250" b="0">
                <a:solidFill>
                  <a:srgbClr val="FFFFFF"/>
                </a:solidFill>
                <a:latin typeface="Calibri"/>
              </a:rPr>
              <a:t>•  An anonymised results dashboard</a:t>
            </a:r>
          </a:p>
          <a:p>
            <a:pPr>
              <a:spcBef>
                <a:spcPts val="500"/>
              </a:spcBef>
            </a:pPr>
            <a:r>
              <a:rPr sz="1250" b="0">
                <a:solidFill>
                  <a:srgbClr val="FFFFFF"/>
                </a:solidFill>
                <a:latin typeface="Calibri"/>
              </a:rPr>
              <a:t>•  Free for families, so nothing blocks uptake</a:t>
            </a:r>
          </a:p>
        </p:txBody>
      </p:sp>
      <p:sp>
        <p:nvSpPr>
          <p:cNvPr id="13" name="TextBox 12"/>
          <p:cNvSpPr txBox="1"/>
          <p:nvPr/>
        </p:nvSpPr>
        <p:spPr>
          <a:xfrm>
            <a:off x="658368" y="4114800"/>
            <a:ext cx="10881360" cy="274320"/>
          </a:xfrm>
          <a:prstGeom prst="rect">
            <a:avLst/>
          </a:prstGeom>
          <a:noFill/>
        </p:spPr>
        <p:txBody>
          <a:bodyPr wrap="square" anchor="t" lIns="0" rIns="0" tIns="0" bIns="0">
            <a:spAutoFit/>
          </a:bodyPr>
          <a:lstStyle/>
          <a:p>
            <a:r>
              <a:rPr sz="1100" b="1">
                <a:solidFill>
                  <a:srgbClr val="A8BBCF"/>
                </a:solidFill>
                <a:latin typeface="Calibri"/>
              </a:rPr>
              <a:t>PATH TO FIRST REVENUE</a:t>
            </a:r>
          </a:p>
        </p:txBody>
      </p:sp>
      <p:sp>
        <p:nvSpPr>
          <p:cNvPr id="14" name="Rounded Rectangle 13"/>
          <p:cNvSpPr/>
          <p:nvPr/>
        </p:nvSpPr>
        <p:spPr>
          <a:xfrm>
            <a:off x="658368" y="4434840"/>
            <a:ext cx="2560320" cy="7772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4434840"/>
            <a:ext cx="2286000" cy="777240"/>
          </a:xfrm>
          <a:prstGeom prst="rect">
            <a:avLst/>
          </a:prstGeom>
          <a:noFill/>
        </p:spPr>
        <p:txBody>
          <a:bodyPr wrap="square" anchor="ctr" lIns="0" rIns="0" tIns="0" bIns="0">
            <a:spAutoFit/>
          </a:bodyPr>
          <a:lstStyle/>
          <a:p>
            <a:r>
              <a:rPr sz="1300" b="1">
                <a:solidFill>
                  <a:srgbClr val="FFFFFF"/>
                </a:solidFill>
                <a:latin typeface="Calibri"/>
              </a:rPr>
              <a:t>1  Apply: Startup SG Tech</a:t>
            </a:r>
          </a:p>
        </p:txBody>
      </p:sp>
      <p:sp>
        <p:nvSpPr>
          <p:cNvPr id="16" name="Rounded Rectangle 15"/>
          <p:cNvSpPr/>
          <p:nvPr/>
        </p:nvSpPr>
        <p:spPr>
          <a:xfrm>
            <a:off x="3432048" y="4434840"/>
            <a:ext cx="2560320" cy="7772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9208" y="4434840"/>
            <a:ext cx="2286000" cy="777240"/>
          </a:xfrm>
          <a:prstGeom prst="rect">
            <a:avLst/>
          </a:prstGeom>
          <a:noFill/>
        </p:spPr>
        <p:txBody>
          <a:bodyPr wrap="square" anchor="ctr" lIns="0" rIns="0" tIns="0" bIns="0">
            <a:spAutoFit/>
          </a:bodyPr>
          <a:lstStyle/>
          <a:p>
            <a:r>
              <a:rPr sz="1300" b="1">
                <a:solidFill>
                  <a:srgbClr val="FFFFFF"/>
                </a:solidFill>
                <a:latin typeface="Calibri"/>
              </a:rPr>
              <a:t>2  Pilot with an IMDA cohort, plus a paid bank or telco pilot</a:t>
            </a:r>
          </a:p>
        </p:txBody>
      </p:sp>
      <p:sp>
        <p:nvSpPr>
          <p:cNvPr id="18" name="Rounded Rectangle 17"/>
          <p:cNvSpPr/>
          <p:nvPr/>
        </p:nvSpPr>
        <p:spPr>
          <a:xfrm>
            <a:off x="6205728" y="4434840"/>
            <a:ext cx="2560320" cy="777240"/>
          </a:xfrm>
          <a:prstGeom prst="roundRect">
            <a:avLst>
              <a:gd name="adj" fmla="val 5000"/>
            </a:avLst>
          </a:prstGeom>
          <a:solidFill>
            <a:srgbClr val="141C2E"/>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2888" y="4434840"/>
            <a:ext cx="2286000" cy="777240"/>
          </a:xfrm>
          <a:prstGeom prst="rect">
            <a:avLst/>
          </a:prstGeom>
          <a:noFill/>
        </p:spPr>
        <p:txBody>
          <a:bodyPr wrap="square" anchor="ctr" lIns="0" rIns="0" tIns="0" bIns="0">
            <a:spAutoFit/>
          </a:bodyPr>
          <a:lstStyle/>
          <a:p>
            <a:r>
              <a:rPr sz="1300" b="1">
                <a:solidFill>
                  <a:srgbClr val="FFFFFF"/>
                </a:solidFill>
                <a:latin typeface="Calibri"/>
              </a:rPr>
              <a:t>3  Readout: behaviour change shown</a:t>
            </a:r>
          </a:p>
        </p:txBody>
      </p:sp>
      <p:sp>
        <p:nvSpPr>
          <p:cNvPr id="20" name="Rounded Rectangle 19"/>
          <p:cNvSpPr/>
          <p:nvPr/>
        </p:nvSpPr>
        <p:spPr>
          <a:xfrm>
            <a:off x="8979408" y="4434840"/>
            <a:ext cx="2560320" cy="77724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16568" y="4434840"/>
            <a:ext cx="2286000" cy="777240"/>
          </a:xfrm>
          <a:prstGeom prst="rect">
            <a:avLst/>
          </a:prstGeom>
          <a:noFill/>
        </p:spPr>
        <p:txBody>
          <a:bodyPr wrap="square" anchor="ctr" lIns="0" rIns="0" tIns="0" bIns="0">
            <a:spAutoFit/>
          </a:bodyPr>
          <a:lstStyle/>
          <a:p>
            <a:r>
              <a:rPr sz="1300" b="1">
                <a:solidFill>
                  <a:srgbClr val="00FF88"/>
                </a:solidFill>
                <a:latin typeface="Calibri"/>
              </a:rPr>
              <a:t>4  First government programme licence</a:t>
            </a:r>
          </a:p>
        </p:txBody>
      </p:sp>
      <p:sp>
        <p:nvSpPr>
          <p:cNvPr id="22" name="Rounded Rectangle 21"/>
          <p:cNvSpPr/>
          <p:nvPr/>
        </p:nvSpPr>
        <p:spPr>
          <a:xfrm>
            <a:off x="658368" y="5440680"/>
            <a:ext cx="10881360" cy="731520"/>
          </a:xfrm>
          <a:prstGeom prst="roundRect">
            <a:avLst>
              <a:gd name="adj" fmla="val 5000"/>
            </a:avLst>
          </a:prstGeom>
          <a:solidFill>
            <a:srgbClr val="0E2418"/>
          </a:solidFill>
          <a:ln w="12700">
            <a:solidFill>
              <a:srgbClr val="243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5440680"/>
            <a:ext cx="10515600" cy="731520"/>
          </a:xfrm>
          <a:prstGeom prst="rect">
            <a:avLst/>
          </a:prstGeom>
          <a:noFill/>
        </p:spPr>
        <p:txBody>
          <a:bodyPr wrap="square" anchor="ctr" lIns="0" rIns="0" tIns="0" bIns="0">
            <a:spAutoFit/>
          </a:bodyPr>
          <a:lstStyle/>
          <a:p>
            <a:r>
              <a:rPr sz="1250" b="0">
                <a:solidFill>
                  <a:srgbClr val="FFFFFF"/>
                </a:solidFill>
                <a:latin typeface="Calibri"/>
              </a:rPr>
              <a:t>Market anchor: $913.1M lost to scams in 2025 (SPF).   Pricing: per-programme licence, set with the first agency.   Cost to serve: measured in the pilot.</a:t>
            </a:r>
          </a:p>
        </p:txBody>
      </p:sp>
      <p:sp>
        <p:nvSpPr>
          <p:cNvPr id="24" name="TextBox 23"/>
          <p:cNvSpPr txBox="1"/>
          <p:nvPr/>
        </p:nvSpPr>
        <p:spPr>
          <a:xfrm>
            <a:off x="658368" y="6355080"/>
            <a:ext cx="10881360" cy="320040"/>
          </a:xfrm>
          <a:prstGeom prst="rect">
            <a:avLst/>
          </a:prstGeom>
          <a:noFill/>
        </p:spPr>
        <p:txBody>
          <a:bodyPr wrap="square" anchor="t" lIns="0" rIns="0" tIns="0" bIns="0">
            <a:spAutoFit/>
          </a:bodyPr>
          <a:lstStyle/>
          <a:p>
            <a:r>
              <a:rPr sz="1000" b="0">
                <a:solidFill>
                  <a:srgbClr val="A8BBCF"/>
                </a:solidFill>
                <a:latin typeface="Calibri"/>
              </a:rPr>
              <a:t>Grant eligibility is not yet confirmed, and no pricing or agreement exists with any bank or agency. The Digital for Life Fund is open to non-profits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SafeSpace — Tech4City 2026 (informational)</dc:title>
  <dc:subject>PptxGenJS Presentation</dc:subject>
  <dc:creator>SafeSpace</dc:creator>
  <cp:lastModifiedBy>SafeSpace</cp:lastModifiedBy>
  <cp:revision>1</cp:revision>
  <dcterms:created xsi:type="dcterms:W3CDTF">2026-07-29T07:13:18Z</dcterms:created>
  <dcterms:modified xsi:type="dcterms:W3CDTF">2026-07-29T07:13:18Z</dcterms:modified>
</cp:coreProperties>
</file>