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FF88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</c:v>
                </c:pt>
                <c:pt idx="1">
                  <c:v>480000</c:v>
                </c:pt>
                <c:pt idx="2">
                  <c:v>1300000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3A6B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-822960"/>
            <a:ext cx="5486400" cy="5486400"/>
          </a:xfrm>
          <a:prstGeom prst="ellipse">
            <a:avLst/>
          </a:prstGeom>
          <a:solidFill>
            <a:srgbClr val="0E1A3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66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TECH4CITY 2026  ·  COMMUNITY — ONLINE SAFETY &amp; DIGITAL TRUST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SafeSpace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58368" y="3154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 your mind. Defeat the scammers.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consent-based scam-response drill for families — building the reflex before the real call.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overview  ·  Problem, evidence, solution, and business case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 in one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10872216" cy="932688"/>
          </a:xfrm>
          <a:prstGeom prst="roundRect">
            <a:avLst>
              <a:gd name="adj" fmla="val 882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2148840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01568" y="2148840"/>
            <a:ext cx="7808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 are Singapore's largest crime. Since 2019 victims have lost over $4 billion; even in the improved 2025, 37,308 cases and $913.1M were reported (SPF).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227832"/>
            <a:ext cx="10872216" cy="932688"/>
          </a:xfrm>
          <a:prstGeom prst="roundRect">
            <a:avLst>
              <a:gd name="adj" fmla="val 882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3227832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01568" y="3227832"/>
            <a:ext cx="7808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81.8% of cases nobody was hacked — victims were manipulated into transferring the money themselves. No blocker, filter or firewall reaches that moment.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" y="4306824"/>
            <a:ext cx="10872216" cy="932688"/>
          </a:xfrm>
          <a:prstGeom prst="roundRect">
            <a:avLst>
              <a:gd name="adj" fmla="val 882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78408" y="4306824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01568" y="4306824"/>
            <a:ext cx="7808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SafeSpace is a “fire drill” for scams: unpredictable, opt-in, safe practice via real calls, texts and emails that builds scam-reactive reflexes, together as a family.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" y="5385816"/>
            <a:ext cx="10872216" cy="932688"/>
          </a:xfrm>
          <a:prstGeom prst="roundRect">
            <a:avLst>
              <a:gd name="adj" fmla="val 882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8408" y="5385816"/>
            <a:ext cx="2286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01568" y="5385816"/>
            <a:ext cx="78089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(real call/SMS/email drills), primary interviews with victims and families, and user testing that already reshaped the product.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5544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 kept rushing me. I panicked — I just couldn't think clearly.”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3200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First-hand interview, victim of an insurance-impersonation phone scam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3977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interview we ran, the story was the same. People knew scams existed. What broke them was the pressure in the moment — a demanding voice, a second language, a ticking clock, or plain desperation. Knowledge was never the missing piece; composure under stress was.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8368" y="5257800"/>
            <a:ext cx="10872216" cy="914400"/>
          </a:xfrm>
          <a:prstGeom prst="roundRect">
            <a:avLst>
              <a:gd name="adj" fmla="val 9000"/>
            </a:avLst>
          </a:prstGeom>
          <a:solidFill>
            <a:srgbClr val="0E24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24128" y="5257800"/>
            <a:ext cx="10140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are won in a moment of pressure — not a gap in knowledge.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AT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Scams are Singapore's number-one crime.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cases now outnumber all physical crime combined. After nearly a decade of near-annual increases, 2025 was the first year cases fell — yet the losses remained staggering.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880360"/>
            <a:ext cx="3441192" cy="2194560"/>
          </a:xfrm>
          <a:prstGeom prst="roundRect">
            <a:avLst>
              <a:gd name="adj" fmla="val 3750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246120"/>
            <a:ext cx="2983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&gt;$4B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86968" y="4206240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scams since 2019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3880" y="2880360"/>
            <a:ext cx="3441192" cy="2194560"/>
          </a:xfrm>
          <a:prstGeom prst="roundRect">
            <a:avLst>
              <a:gd name="adj" fmla="val 3750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02480" y="3246120"/>
            <a:ext cx="2983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37,308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02480" y="4206240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cases in 2025 — the first annual fall on record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89392" y="2880360"/>
            <a:ext cx="3441192" cy="2194560"/>
          </a:xfrm>
          <a:prstGeom prst="roundRect">
            <a:avLst>
              <a:gd name="adj" fmla="val 3750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7992" y="3246120"/>
            <a:ext cx="2983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$913.1M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17992" y="4206240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lost in that “better” year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Singapore Police Force (SPF), Annual Scams and Cybercrime Brief, 2025.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NOTHING ELSE REACHES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81.8%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7040880" y="17373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victims were never hacked.</a:t>
            </a:r>
            <a:endParaRPr lang="en-US" sz="2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transferred the money themselves.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statistic that defines SafeSpace. In four of every five cases the technology worked perfectly — no account was breached. The victim was talked into acting. Detection tools, spam filters and firewalls are all blind to persuasion, because the attack happens inside a human decision, under pressure. That decision is exactly what a drill rehearses.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Singapore Police Force (SPF), 2025 — share of cases with no unauthorised access.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 — AND WHY THEY STAY SILENT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4892040" cy="4892040"/>
          </a:xfrm>
          <a:prstGeom prst="roundRect">
            <a:avLst>
              <a:gd name="adj" fmla="val 1682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78408" y="1280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not a “seniors”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8408" y="1737360"/>
            <a:ext cx="4251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85.2%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78408" y="260604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scam victims are under 65. Youths are hit by e-commerce, job and phishing scams through messaging and social media.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78408" y="3703320"/>
            <a:ext cx="4251960" cy="0"/>
          </a:xfrm>
          <a:prstGeom prst="line">
            <a:avLst/>
          </a:prstGeom>
          <a:noFill/>
          <a:ln w="12700">
            <a:solidFill>
              <a:srgbClr val="243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38404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~8×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78408" y="457200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is lost per senior victim (avg. ~$37,053). The harm is spread across every age group.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61888" y="1051560"/>
            <a:ext cx="5568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youths don't ask for help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61888" y="1600200"/>
            <a:ext cx="556869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losing the device or having the internet cut off — often a worse punishment than the incident itself.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 and embarrassment for “falling for it”, which hits scam victims especially hard.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that a parent will over-react, blow it up, or take over completely.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perceived severity — “not a big deal”, so they handle it alone.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trusted, non-judgemental adult to turn to.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961888" y="5715000"/>
            <a:ext cx="5568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directly to the Tech4City brief — “Engage &amp; Support”: making help-seeking feel safe, easy and normal.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SPF, 2025 (victim demographics); Singapore Children's Society focus groups, 2024–25; MDDI survey on harmful online content.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— WHAT VICTIMS TOLD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story pointed to emotion, not ignorance.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3410712" cy="3063240"/>
          </a:xfrm>
          <a:prstGeom prst="roundRect">
            <a:avLst>
              <a:gd name="adj" fmla="val 2687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30552"/>
            <a:ext cx="28986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“He was speaking Mandarin, in a very demanding voice. I panicked and couldn't think clearly. I just wanted my money back.”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scam, fake Alibaba insurance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38912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buNone/>
            </a:pPr>
            <a:r>
              <a:rPr lang="en-US" sz="12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+ urgency in a weaker language.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410712" cy="3063240"/>
          </a:xfrm>
          <a:prstGeom prst="roundRect">
            <a:avLst>
              <a:gd name="adj" fmla="val 2687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45152" y="2130552"/>
            <a:ext cx="28986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just wanted to sell my instrument. Desperation blinded my sense of judgement.”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45152" y="402336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scam, lost ~$1,000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45152" y="438912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buNone/>
            </a:pPr>
            <a:r>
              <a:rPr lang="en-US" sz="12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state, not lack of awareness.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19872" y="1874520"/>
            <a:ext cx="3410712" cy="3063240"/>
          </a:xfrm>
          <a:prstGeom prst="roundRect">
            <a:avLst>
              <a:gd name="adj" fmla="val 2687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75904" y="2130552"/>
            <a:ext cx="28986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“My daughter came and told me it was a scam, so I hung up.”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75904" y="402336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parcel impersonation call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75904" y="4389120"/>
            <a:ext cx="2898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 </a:t>
            </a:r>
            <a:pPr indent="0" marL="0">
              <a:buNone/>
            </a:pPr>
            <a:r>
              <a:rPr lang="en-US" sz="12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member broke the spell.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" y="5212080"/>
            <a:ext cx="10872216" cy="914400"/>
          </a:xfrm>
          <a:prstGeom prst="roundRect">
            <a:avLst>
              <a:gd name="adj" fmla="val 9000"/>
            </a:avLst>
          </a:prstGeom>
          <a:solidFill>
            <a:srgbClr val="0E24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5212080"/>
            <a:ext cx="10140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interviewee declined the concept — she feared it might make elderly relatives anxious. That objection directly shaped our consent and off-ramp design (see “Consent &amp; care”).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detects, teaches, or restricts. No one lets you practise.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91640"/>
          <a:ext cx="1087221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83080"/>
                <a:gridCol w="3337560"/>
                <a:gridCol w="3465576"/>
              </a:tblGrid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E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E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E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 well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0E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88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ScamShield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&amp; block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and reports numbers, links &amp;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Reactive; builds no in-the-moment resilience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/ telco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&amp; warn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suspicious transactions in real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after money moves; easy to ignore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 Cyber Wellness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talks on risks &amp; digital footprints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One-off; little repeated, experiential practice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IMDA Digital for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Nationwide literacy campaigns (STRE framework)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Informational and self-directed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 Cyber Wellness (CCE)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curriculum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every student through school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 theory, not decisions under 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NLB digital literacy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 &amp; games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self-help topics for families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Optional; low realism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Family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Supervision, privacy defaults,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access — doesn't teach judgement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626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Family Pairing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93A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Easy, direct parental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C9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Restricts exposure, not decision-making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5687568"/>
            <a:ext cx="10872216" cy="658368"/>
          </a:xfrm>
          <a:prstGeom prst="roundRect">
            <a:avLst>
              <a:gd name="adj" fmla="val 12500"/>
            </a:avLst>
          </a:prstGeom>
          <a:solidFill>
            <a:srgbClr val="0E24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24128" y="5687568"/>
            <a:ext cx="10140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white space: </a:t>
            </a:r>
            <a:pPr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rehearsing the moment of pressure — and letting a whole family practise together.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943600" cy="5943600"/>
          </a:xfrm>
          <a:prstGeom prst="ellipse">
            <a:avLst/>
          </a:prstGeom>
          <a:solidFill>
            <a:srgbClr val="0E1A3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fire drill — for scams.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drills work because they rehearse the panic, not the theory. SafeSpace applies the same principle to scams: safe, consensual, surprise practice that turns knowledge into an instinctive reaction.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3063240"/>
            <a:ext cx="3441192" cy="1600200"/>
          </a:xfrm>
          <a:prstGeom prst="roundRect">
            <a:avLst>
              <a:gd name="adj" fmla="val 5143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3291840"/>
            <a:ext cx="298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3776472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when you least expect it, inside an agreed window — like a real scam.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73880" y="3063240"/>
            <a:ext cx="3441192" cy="1600200"/>
          </a:xfrm>
          <a:prstGeom prst="roundRect">
            <a:avLst>
              <a:gd name="adj" fmla="val 5143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2480" y="3291840"/>
            <a:ext cx="298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2480" y="3776472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opt-in, on your terms. Every drill reveals itself the moment it ends.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89392" y="3063240"/>
            <a:ext cx="3441192" cy="1600200"/>
          </a:xfrm>
          <a:prstGeom prst="roundRect">
            <a:avLst>
              <a:gd name="adj" fmla="val 5143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7992" y="3291840"/>
            <a:ext cx="2983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17992" y="3776472"/>
            <a:ext cx="2983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money, no judgement, and never a penalty for stopping.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" y="4983480"/>
            <a:ext cx="10872216" cy="960120"/>
          </a:xfrm>
          <a:prstGeom prst="roundRect">
            <a:avLst>
              <a:gd name="adj" fmla="val 8571"/>
            </a:avLst>
          </a:prstGeom>
          <a:solidFill>
            <a:srgbClr val="0E24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24128" y="4983480"/>
            <a:ext cx="101406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deliver knowledge. We build scam-reactive reflexes — so people stay calm when it counts.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drill, through a real channel.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mirrors a real attack end-to-end — then adds the two things education skips: an honest reveal, and a family conversation that makes the lesson stick.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68880"/>
            <a:ext cx="3410712" cy="1463040"/>
          </a:xfrm>
          <a:prstGeom prst="roundRect">
            <a:avLst>
              <a:gd name="adj" fmla="val 5625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706624"/>
            <a:ext cx="475488" cy="475488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27048" y="270662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 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329184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family agrees a window and which channels are allowed.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3410712" cy="1463040"/>
          </a:xfrm>
          <a:prstGeom prst="roundRect">
            <a:avLst>
              <a:gd name="adj" fmla="val 5625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2706624"/>
            <a:ext cx="475488" cy="475488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270662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drill strikes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26864" y="329184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call, SMS or email arrives — not a quiz question.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2468880"/>
            <a:ext cx="3410712" cy="1463040"/>
          </a:xfrm>
          <a:prstGeom prst="roundRect">
            <a:avLst>
              <a:gd name="adj" fmla="val 5625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706624"/>
            <a:ext cx="475488" cy="475488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88552" y="270662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under pressure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7616" y="329184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back, verify, or walk away — in the moment.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4251960"/>
            <a:ext cx="3410712" cy="1463040"/>
          </a:xfrm>
          <a:prstGeom prst="roundRect">
            <a:avLst>
              <a:gd name="adj" fmla="val 5625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489704"/>
            <a:ext cx="475488" cy="475488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489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27048" y="44897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reveal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507492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was a drill.” Always, immediately, every time.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89120" y="4251960"/>
            <a:ext cx="3410712" cy="1463040"/>
          </a:xfrm>
          <a:prstGeom prst="roundRect">
            <a:avLst>
              <a:gd name="adj" fmla="val 5625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4489704"/>
            <a:ext cx="475488" cy="475488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489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57800" y="44897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debrief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26864" y="507492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coach names the exact manipulation tricks that were used.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19872" y="4251960"/>
            <a:ext cx="3410712" cy="1463040"/>
          </a:xfrm>
          <a:prstGeom prst="roundRect">
            <a:avLst>
              <a:gd name="adj" fmla="val 5625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57616" y="4489704"/>
            <a:ext cx="475488" cy="475488"/>
          </a:xfrm>
          <a:prstGeom prst="ellipse">
            <a:avLst/>
          </a:prstGeom>
          <a:solidFill>
            <a:srgbClr val="0A0E1A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4489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88552" y="4489704"/>
            <a:ext cx="2359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reflects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57616" y="5074920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chat, XP and a safe-streak turn it into a habit.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prototype — not slideware.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SafeSpace is live and demoable. The three scam channels send genuine messages; the game layer turns each drill into progress the family can see.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5230368" cy="3383280"/>
          </a:xfrm>
          <a:prstGeom prst="roundRect">
            <a:avLst>
              <a:gd name="adj" fmla="val 2432"/>
            </a:avLst>
          </a:prstGeom>
          <a:solidFill>
            <a:srgbClr val="0E24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560320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drill channels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8408" y="3063240"/>
            <a:ext cx="45902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 — an adaptive AI scammer dials your real number (voice).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— a real scam text, followed by a guaranteed reveal message.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a generated phishing email lands in your real inbox.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— /simulate, /drill and /trending for quick practice.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0216" y="2331720"/>
            <a:ext cx="5230368" cy="3383280"/>
          </a:xfrm>
          <a:prstGeom prst="roundRect">
            <a:avLst>
              <a:gd name="adj" fmla="val 2432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0256" y="2560320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&amp; learning layer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20256" y="3063240"/>
            <a:ext cx="45902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drill — six scam scenarios, one per household member.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debrief coach — explains the red flags after every drill.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&amp; virtual house — coins, payday, customisable rooms &amp; avatar.</a:t>
            </a:r>
            <a:endParaRPr lang="en-US" sz="140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Leaderboard, streaks and a distress off-ramp built 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huawei-2026.vercel.app  ·  Practice mode needs no sign-up; real drills go only to your own verified number/inbox.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— IT WORKS, AND IT'S FUN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wanted to keep playing.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moderated testing on the prototype. Testers found it engaging, and every point of feedback below became a shipped change — a real build-measure-learn loop.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51460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514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“Surprisingly fun to play on the train.”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931920"/>
            <a:ext cx="5212080" cy="1188720"/>
          </a:xfrm>
          <a:prstGeom prst="roundRect">
            <a:avLst>
              <a:gd name="adj" fmla="val 6923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8408" y="3931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progression and new items made me want to do the drills.”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27648" y="2377440"/>
            <a:ext cx="5202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straight from their feedback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27648" y="2880360"/>
            <a:ext cx="520293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&amp; room customisation (“let me customise the avatar”).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effects on wins and losses (“add sound for more feeling”).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findable, replayable tutorial (“how-to-play was hard to find”).</a:t>
            </a:r>
            <a:endParaRPr lang="en-US" sz="1450" dirty="0"/>
          </a:p>
          <a:p>
            <a:pPr marL="203200" indent="-2032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distress off-ramp — stop any drill, any time, no penalty.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58368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prototype testing, July 2026. Quotes and change requests drawn directly from tester notes.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&amp; CARE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safeguards are the product — not a footnote.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imitates a scammer, so trust is everything. Every safeguard below is enforced in the build, and each answers a concern a real interviewee raised.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5253228" cy="868680"/>
          </a:xfrm>
          <a:prstGeom prst="roundRect">
            <a:avLst>
              <a:gd name="adj" fmla="val 947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69464"/>
            <a:ext cx="292608" cy="292608"/>
          </a:xfrm>
          <a:prstGeom prst="ellipse">
            <a:avLst/>
          </a:prstGeom>
          <a:solidFill>
            <a:srgbClr val="0E2418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5117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only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ever fires without a recorded consent.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7356" y="2286000"/>
            <a:ext cx="5253228" cy="868680"/>
          </a:xfrm>
          <a:prstGeom prst="roundRect">
            <a:avLst>
              <a:gd name="adj" fmla="val 947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3388" y="2569464"/>
            <a:ext cx="292608" cy="292608"/>
          </a:xfrm>
          <a:prstGeom prst="ellipse">
            <a:avLst/>
          </a:prstGeom>
          <a:solidFill>
            <a:srgbClr val="0E2418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3388" y="2551176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0588" y="2286000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reveals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drill ends by telling you it was a drill.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58368" y="3355848"/>
            <a:ext cx="5253228" cy="868680"/>
          </a:xfrm>
          <a:prstGeom prst="roundRect">
            <a:avLst>
              <a:gd name="adj" fmla="val 947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639312"/>
            <a:ext cx="292608" cy="292608"/>
          </a:xfrm>
          <a:prstGeom prst="ellipse">
            <a:avLst/>
          </a:prstGeom>
          <a:solidFill>
            <a:srgbClr val="0E2418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2102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35584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punished for stopping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Bailing out scores neutral — never a loss.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7356" y="3355848"/>
            <a:ext cx="5253228" cy="868680"/>
          </a:xfrm>
          <a:prstGeom prst="roundRect">
            <a:avLst>
              <a:gd name="adj" fmla="val 947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3388" y="3639312"/>
            <a:ext cx="292608" cy="292608"/>
          </a:xfrm>
          <a:prstGeom prst="ellipse">
            <a:avLst/>
          </a:prstGeom>
          <a:solidFill>
            <a:srgbClr val="0E2418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3388" y="3621024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0588" y="335584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off-ramp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ends any drill instantly.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" y="4425696"/>
            <a:ext cx="5253228" cy="868680"/>
          </a:xfrm>
          <a:prstGeom prst="roundRect">
            <a:avLst>
              <a:gd name="adj" fmla="val 947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4709160"/>
            <a:ext cx="292608" cy="292608"/>
          </a:xfrm>
          <a:prstGeom prst="ellipse">
            <a:avLst/>
          </a:prstGeom>
          <a:solidFill>
            <a:srgbClr val="0E2418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69087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4425696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institutions only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bank, agency or person is impersonated.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7356" y="4425696"/>
            <a:ext cx="5253228" cy="868680"/>
          </a:xfrm>
          <a:prstGeom prst="roundRect">
            <a:avLst>
              <a:gd name="adj" fmla="val 9474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3388" y="4709160"/>
            <a:ext cx="292608" cy="292608"/>
          </a:xfrm>
          <a:prstGeom prst="ellipse">
            <a:avLst/>
          </a:prstGeom>
          <a:solidFill>
            <a:srgbClr val="0E2418"/>
          </a:solidFill>
          <a:ln w="15875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3388" y="4690872"/>
            <a:ext cx="292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0588" y="4425696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caller-ID spoofing —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in Singapore — and we don't.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POC with a clear Huawei Cloud production path.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SafeSpace real on off-the-shelf APIs to prove the experience. The same architecture maps cleanly onto Huawei Cloud for scale, low latency and Singlish support.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377440"/>
            <a:ext cx="5207508" cy="2880360"/>
          </a:xfrm>
          <a:prstGeom prst="roundRect">
            <a:avLst>
              <a:gd name="adj" fmla="val 2857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78408" y="2606040"/>
            <a:ext cx="4567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A6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live proof of concept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78408" y="3154680"/>
            <a:ext cx="45674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+ Twilio — real voice calls &amp; SMS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— Singapore-English scammer voice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live, adaptive scam script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+ Vercel — state &amp; hosting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23076" y="2377440"/>
            <a:ext cx="5207508" cy="2880360"/>
          </a:xfrm>
          <a:prstGeom prst="roundRect">
            <a:avLst>
              <a:gd name="adj" fmla="val 2857"/>
            </a:avLst>
          </a:prstGeom>
          <a:solidFill>
            <a:srgbClr val="0E24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3116" y="2606040"/>
            <a:ext cx="45674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— Huawei Cloud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43116" y="3154680"/>
            <a:ext cx="45674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— Singlish / code-mixed ASR &amp; TTS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Pangu via ModelArts — adaptive scammer agent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FunctionGraph — random-window scheduling</a:t>
            </a:r>
            <a:endParaRPr lang="en-US" sz="135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HarmonyOS Push Kit — consent, debrief, tracking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58368" y="5440680"/>
            <a:ext cx="10872216" cy="731520"/>
          </a:xfrm>
          <a:prstGeom prst="roundRect">
            <a:avLst>
              <a:gd name="adj" fmla="val 11250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24128" y="5440680"/>
            <a:ext cx="10140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 ·  IMDA Digital for Life  ·  banks &amp; telcos (CSR / duty of care)  ·  CDC family programmes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public-good tool that pays for itself.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anchored to the loss SafeSpace helps prevent — over $900M a year. Three complementary revenue streams reach families through the institutions that already serve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423160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25511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— licensing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8986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IMDA, MOE and schools embed SafeSpace into national digital-literacy programmes.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3566160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32688" y="36941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— CSR &amp; compliance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32688" y="40416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telcos fund drills for customers as anti-scam duty of care.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709160"/>
            <a:ext cx="5852160" cy="960120"/>
          </a:xfrm>
          <a:prstGeom prst="roundRect">
            <a:avLst>
              <a:gd name="adj" fmla="val 8571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483717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— families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32688" y="51846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core loop; premium scenario packs, languages and dialects.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67728" y="228600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3-year revenue (SGD)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967728" y="2697480"/>
          <a:ext cx="4562856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658368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is illustrative and to be firmed up. Market anchor: SPF, 2025 — annual reported scam losses.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reflex, scaled into national resilience.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9516" y="196596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6676" y="1965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reflex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08476" y="1965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39996" y="196596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77156" y="1965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resilience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48956" y="19659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380476" y="196596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0E2418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17636" y="1965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scam reduction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379476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drill variety and difficulty — the top request from user testing.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&amp; dialects — Singlish, Mandarin and others, so elderly and non-English users benefit (raised in interviews).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and bank pilots to validate outcomes at scale.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to Huawei Cloud (SIS, Pangu, FunctionGraph, HarmonyOS Push).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know this.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230368" cy="4160520"/>
          </a:xfrm>
          <a:prstGeom prst="roundRect">
            <a:avLst>
              <a:gd name="adj" fmla="val 1978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2011680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statistics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8408" y="2560320"/>
            <a:ext cx="45902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Police Force — Annual Scams &amp; Cybercrime Brief, 2025 (case volume, losses, demographics, 81.8% figure).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MDDI — survey on harmful online content; study on parents' digital guidance.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Children's Society — youth focus groups, 2024–25 (help-seeking barriers).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DBS, The Straits Times, CNA — scam typologies &amp; case reporting.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Academic: ScienceDirect &amp; PMC — barriers to disclosure after victimisation.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0216" y="1783080"/>
            <a:ext cx="5230368" cy="4160520"/>
          </a:xfrm>
          <a:prstGeom prst="roundRect">
            <a:avLst>
              <a:gd name="adj" fmla="val 1978"/>
            </a:avLst>
          </a:prstGeom>
          <a:solidFill>
            <a:srgbClr val="141C2E"/>
          </a:solidFill>
          <a:ln w="12700">
            <a:solidFill>
              <a:srgbClr val="24304A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20256" y="2011680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research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0256" y="2560320"/>
            <a:ext cx="45902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interviews with families and people who had been scammed, capturing what happened in the moment.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survey on scam experience and help-seeking behaviour.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of 8 Singapore &amp; platform initiatives.</a:t>
            </a:r>
            <a:endParaRPr lang="en-US" sz="125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user testing of the working prototype, feeding directly into shipped changes.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548640"/>
            <a:ext cx="5486400" cy="5486400"/>
          </a:xfrm>
          <a:prstGeom prst="ellipse">
            <a:avLst/>
          </a:prstGeom>
          <a:solidFill>
            <a:srgbClr val="0A112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SAFESPACE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58368" y="2651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reflex before the real call.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58368" y="3794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huawei-2026.vercel.app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C6E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Tech4City 2026  ·  Community — Online Safety &amp; Digital Trust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SafeSpace — Tech4City 2026 (informational)</dc:title>
  <dc:subject>PptxGenJS Presentation</dc:subject>
  <dc:creator>SafeSpace</dc:creator>
  <cp:lastModifiedBy>SafeSpace</cp:lastModifiedBy>
  <cp:revision>1</cp:revision>
  <dcterms:created xsi:type="dcterms:W3CDTF">2026-07-29T07:13:18Z</dcterms:created>
  <dcterms:modified xsi:type="dcterms:W3CDTF">2026-07-29T07:13:18Z</dcterms:modified>
</cp:coreProperties>
</file>