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17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it left to right. Who: we name real bodies we would approach, SPF's Scam Public Education Office with NCPC, and the senior volunteer networks (Project PRAISE, Silver Generation Ambassadors) - say these are targets, not partners. Milestones are dated from the 27 Oct final. Measures: what we can measure ourselves is in-drill behaviour (hang up or report, repeat practice); be upfront that it is a proxy for real scam outcomes, and that we would test it with partner data. Do not state any target number unless it has been agreed with a partner.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00FF88"/>
                </a:solidFill>
                <a:latin typeface="Calibri"/>
              </a:rPr>
              <a:t>ROADMAP  ·  WHO, WHEN, AND HOW WE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From one pilot to a national programme.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4248" y="1371600"/>
            <a:ext cx="2331720" cy="54864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21408" y="142646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00FF88"/>
                </a:solidFill>
                <a:latin typeface="Calibri"/>
              </a:rPr>
              <a:t>NOW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A8BBCF"/>
                </a:solidFill>
                <a:latin typeface="Calibri"/>
              </a:rPr>
              <a:t>To 27 Oct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371600"/>
            <a:ext cx="2331720" cy="54864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42646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00FF88"/>
                </a:solidFill>
                <a:latin typeface="Calibri"/>
              </a:rPr>
              <a:t>PILOT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A8BBCF"/>
                </a:solidFill>
                <a:latin typeface="Calibri"/>
              </a:rPr>
              <a:t>Nov 2026 to mid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30568" y="1371600"/>
            <a:ext cx="2331720" cy="54864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7728" y="142646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00FF88"/>
                </a:solidFill>
                <a:latin typeface="Calibri"/>
              </a:rPr>
              <a:t>SCALE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A8BBCF"/>
                </a:solidFill>
                <a:latin typeface="Calibri"/>
              </a:rPr>
              <a:t>2027 to 2028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371600"/>
            <a:ext cx="2331720" cy="548640"/>
          </a:xfrm>
          <a:prstGeom prst="roundRect">
            <a:avLst>
              <a:gd name="adj" fmla="val 4000"/>
            </a:avLst>
          </a:prstGeom>
          <a:solidFill>
            <a:srgbClr val="0E2418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0888" y="142646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00FF88"/>
                </a:solidFill>
                <a:latin typeface="Calibri"/>
              </a:rPr>
              <a:t>REGION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A8BBCF"/>
                </a:solidFill>
                <a:latin typeface="Calibri"/>
              </a:rPr>
              <a:t>After a proven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12344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00FF88"/>
                </a:solidFill>
                <a:latin typeface="Calibri"/>
              </a:rPr>
              <a:t>WHO WE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0FF88"/>
                </a:solidFill>
                <a:latin typeface="Calibri"/>
              </a:rPr>
              <a:t>APPROACH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84248" y="2011680"/>
            <a:ext cx="2331720" cy="160020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2121408"/>
            <a:ext cx="20574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Tech4City judges and mentors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Families from our user 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2011680"/>
            <a:ext cx="2331720" cy="160020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121408"/>
            <a:ext cx="20574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IMDA first, for a pilot cohort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SPF Scam Public Education Office and NCPC, through IMDA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One bank or telco, for a paid 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0568" y="2011680"/>
            <a:ext cx="2331720" cy="160020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2121408"/>
            <a:ext cx="20574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Government programme licences: IMDA, SPF, NCPC, MOE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More banks and telcos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53728" y="2011680"/>
            <a:ext cx="2331720" cy="1600200"/>
          </a:xfrm>
          <a:prstGeom prst="roundRect">
            <a:avLst>
              <a:gd name="adj" fmla="val 4000"/>
            </a:avLst>
          </a:prstGeom>
          <a:solidFill>
            <a:srgbClr val="0E2418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2121408"/>
            <a:ext cx="20574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One anti-scam agency in a second ASEAN country, starting from our Singapore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813048"/>
            <a:ext cx="12344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00FF88"/>
                </a:solidFill>
                <a:latin typeface="Calibri"/>
              </a:rPr>
              <a:t>MILESTONE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84248" y="3703320"/>
            <a:ext cx="2331720" cy="105156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1408" y="3813048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Final pitch and live demo, 27 Oct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3703320"/>
            <a:ext cx="2331720" cy="105156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813048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Grant application in by Dec 2026; first call with IMDA now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Pilot cohort and a paid bank or telco pilot by Q1 2027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0568" y="3703320"/>
            <a:ext cx="2331720" cy="105156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3813048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First government programme licence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Agency dashboard (anonymised)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53728" y="3703320"/>
            <a:ext cx="2331720" cy="1051560"/>
          </a:xfrm>
          <a:prstGeom prst="roundRect">
            <a:avLst>
              <a:gd name="adj" fmla="val 4000"/>
            </a:avLst>
          </a:prstGeom>
          <a:solidFill>
            <a:srgbClr val="0E2418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90888" y="3813048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Second-market pilot launched with local languages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956048"/>
            <a:ext cx="12344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00FF88"/>
                </a:solidFill>
                <a:latin typeface="Calibri"/>
              </a:rPr>
              <a:t>HOW WE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0FF88"/>
                </a:solidFill>
                <a:latin typeface="Calibri"/>
              </a:rPr>
              <a:t>MEASURE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84248" y="4846320"/>
            <a:ext cx="2331720" cy="132588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21408" y="4956048"/>
            <a:ext cx="2057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Drills run end to end on a real phone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Consent checks pass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07408" y="4846320"/>
            <a:ext cx="2331720" cy="132588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4568" y="4956048"/>
            <a:ext cx="2057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% who hang up or report in a drill: first vs later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% who finish a drill and come back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Targets set with the partner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30568" y="4846320"/>
            <a:ext cx="2331720" cy="1325880"/>
          </a:xfrm>
          <a:prstGeom prst="roundRect">
            <a:avLst>
              <a:gd name="adj" fmla="val 4000"/>
            </a:avLst>
          </a:prstGeom>
          <a:solidFill>
            <a:srgbClr val="141C2E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67728" y="4956048"/>
            <a:ext cx="2057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Households reached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Cost per household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Still practising after 3 months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53728" y="4846320"/>
            <a:ext cx="2331720" cy="1325880"/>
          </a:xfrm>
          <a:prstGeom prst="roundRect">
            <a:avLst>
              <a:gd name="adj" fmla="val 4000"/>
            </a:avLst>
          </a:prstGeom>
          <a:solidFill>
            <a:srgbClr val="0E2418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90888" y="4956048"/>
            <a:ext cx="2057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alibri"/>
              </a:rPr>
              <a:t>Same measures, new language, compared with Singapore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27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A8BBCF"/>
                </a:solidFill>
                <a:latin typeface="Calibri"/>
              </a:rPr>
              <a:t>A plan, not commitments: named bodies are outreach targets and no agreements exist yet. In-drill behaviour is our proxy for real-world outcomes; we would ask partners for scam-report data to test that.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SafeSpace — Tech4City 2026 (informational)</dc:title>
  <dc:subject>PptxGenJS Presentation</dc:subject>
  <dc:creator>SafeSpace</dc:creator>
  <cp:lastModifiedBy>SafeSpace</cp:lastModifiedBy>
  <cp:revision>1</cp:revision>
  <dcterms:created xsi:type="dcterms:W3CDTF">2026-07-29T07:13:18Z</dcterms:created>
  <dcterms:modified xsi:type="dcterms:W3CDTF">2026-07-29T07:13:18Z</dcterms:modified>
</cp:coreProperties>
</file>