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ac31be6d654a9b" /><Relationship Type="http://schemas.openxmlformats.org/officeDocument/2006/relationships/extended-properties" Target="/docProps/app.xml" Id="R79bfe02027df4197" /><Relationship Type="http://schemas.openxmlformats.org/officeDocument/2006/relationships/officeDocument" Target="/ppt/presentation.xml" Id="R96b562aed3b14f55" /></Relationships>
</file>

<file path=ppt/presentation.xml><?xml version="1.0" encoding="utf-8"?>
<p:presentation xmlns:p="http://schemas.openxmlformats.org/presentationml/2006/main">
  <p:sldMasterIdLst>
    <p:sldMasterId xmlns:r="http://schemas.openxmlformats.org/officeDocument/2006/relationships" id="2147483648" r:id="R7762bf4a1c574e7a"/>
  </p:sldMasterIdLst>
  <p:notesMasterIdLst>
    <p:notesMasterId xmlns:r="http://schemas.openxmlformats.org/officeDocument/2006/relationships" r:id="Ra6922069d42e4346"/>
  </p:notesMasterIdLst>
  <p:sldIdLst>
    <p:sldId xmlns:r="http://schemas.openxmlformats.org/officeDocument/2006/relationships" id="256" r:id="R75bb3d8231494663"/>
    <p:sldId xmlns:r="http://schemas.openxmlformats.org/officeDocument/2006/relationships" id="257" r:id="R56cf99c1e8274e92"/>
    <p:sldId xmlns:r="http://schemas.openxmlformats.org/officeDocument/2006/relationships" id="258" r:id="R8a34cf6217664c0d"/>
    <p:sldId xmlns:r="http://schemas.openxmlformats.org/officeDocument/2006/relationships" id="259" r:id="R7996a14de04247c4"/>
    <p:sldId xmlns:r="http://schemas.openxmlformats.org/officeDocument/2006/relationships" id="260" r:id="R0e0e15c7e0044da0"/>
    <p:sldId xmlns:r="http://schemas.openxmlformats.org/officeDocument/2006/relationships" id="261" r:id="R23b9fc22775548e2"/>
    <p:sldId xmlns:r="http://schemas.openxmlformats.org/officeDocument/2006/relationships" id="262" r:id="R26433763924e41d3"/>
    <p:sldId xmlns:r="http://schemas.openxmlformats.org/officeDocument/2006/relationships" id="263" r:id="Rbb7fbb3d92d249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a9b22a7d194c10" /><Relationship Type="http://schemas.openxmlformats.org/officeDocument/2006/relationships/slideMaster" Target="/ppt/slideMasters/slideMaster1.xml" Id="R7762bf4a1c574e7a" /><Relationship Type="http://schemas.openxmlformats.org/officeDocument/2006/relationships/notesMaster" Target="/ppt/notesMasters/notesMaster1.xml" Id="Ra6922069d42e4346" /><Relationship Type="http://schemas.openxmlformats.org/officeDocument/2006/relationships/presProps" Target="/ppt/presProps.xml" Id="R3c22a53f5b784e59" /><Relationship Type="http://schemas.openxmlformats.org/officeDocument/2006/relationships/tableStyles" Target="/ppt/tableStyles.xml" Id="R570312b8d3504efe" /><Relationship Type="http://schemas.openxmlformats.org/officeDocument/2006/relationships/slide" Target="/ppt/slides/slide1.xml" Id="R75bb3d8231494663" /><Relationship Type="http://schemas.openxmlformats.org/officeDocument/2006/relationships/slide" Target="/ppt/slides/slide2.xml" Id="R56cf99c1e8274e92" /><Relationship Type="http://schemas.openxmlformats.org/officeDocument/2006/relationships/slide" Target="/ppt/slides/slide3.xml" Id="R8a34cf6217664c0d" /><Relationship Type="http://schemas.openxmlformats.org/officeDocument/2006/relationships/slide" Target="/ppt/slides/slide4.xml" Id="R7996a14de04247c4" /><Relationship Type="http://schemas.openxmlformats.org/officeDocument/2006/relationships/slide" Target="/ppt/slides/slide5.xml" Id="R0e0e15c7e0044da0" /><Relationship Type="http://schemas.openxmlformats.org/officeDocument/2006/relationships/slide" Target="/ppt/slides/slide6.xml" Id="R23b9fc22775548e2" /><Relationship Type="http://schemas.openxmlformats.org/officeDocument/2006/relationships/slide" Target="/ppt/slides/slide7.xml" Id="R26433763924e41d3" /><Relationship Type="http://schemas.openxmlformats.org/officeDocument/2006/relationships/slide" Target="/ppt/slides/slide8.xml" Id="Rbb7fbb3d92d249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32ebbbdcf644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2db858f0d44316" /><Relationship Type="http://schemas.openxmlformats.org/officeDocument/2006/relationships/notesMaster" Target="/ppt/notesMasters/notesMaster1.xml" Id="R77fea1319ffa46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8a1c26e28d47f0" /><Relationship Type="http://schemas.openxmlformats.org/officeDocument/2006/relationships/notesMaster" Target="/ppt/notesMasters/notesMaster1.xml" Id="R1be2d796734e49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c037c3e0e14ee4" /><Relationship Type="http://schemas.openxmlformats.org/officeDocument/2006/relationships/notesMaster" Target="/ppt/notesMasters/notesMaster1.xml" Id="Ra1573d2884934a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53e9336e1f421b" /><Relationship Type="http://schemas.openxmlformats.org/officeDocument/2006/relationships/notesMaster" Target="/ppt/notesMasters/notesMaster1.xml" Id="R26b27778a0fc47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79a7bbcfee4670" /><Relationship Type="http://schemas.openxmlformats.org/officeDocument/2006/relationships/notesMaster" Target="/ppt/notesMasters/notesMaster1.xml" Id="R79870d4e960f4c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aa747e6cdd400f" /><Relationship Type="http://schemas.openxmlformats.org/officeDocument/2006/relationships/notesMaster" Target="/ppt/notesMasters/notesMaster1.xml" Id="R599d6519976146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788470b4a24e68" /><Relationship Type="http://schemas.openxmlformats.org/officeDocument/2006/relationships/notesMaster" Target="/ppt/notesMasters/notesMaster1.xml" Id="R69654e3a43324b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563ed595804c0f" /><Relationship Type="http://schemas.openxmlformats.org/officeDocument/2006/relationships/notesMaster" Target="/ppt/notesMasters/notesMaster1.xml" Id="R2497e838d94049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1: THE HOOK</a:t>
            </a:r>
          </a:p>
          <a:p xmlns:a="http://schemas.openxmlformats.org/drawingml/2006/main">
            <a:r>
              <a:t>Time: 0:00–1:00</a:t>
            </a:r>
          </a:p>
          <a:p xmlns:a="http://schemas.openxmlformats.org/drawingml/2006/main">
            <a:r>
              <a:t>[Slide 1: "Could you fall for a scam?"]</a:t>
            </a:r>
          </a:p>
          <a:p xmlns:a="http://schemas.openxmlformats.org/drawingml/2006/main">
            <a:r>
              <a:t>Good afternoon, everybody!</a:t>
            </a:r>
          </a:p>
          <a:p xmlns:a="http://schemas.openxmlformats.org/drawingml/2006/main">
            <a:r>
              <a:t>Before I begin, can I have a quick show of hands?</a:t>
            </a:r>
          </a:p>
          <a:p xmlns:a="http://schemas.openxmlformats.org/drawingml/2006/main">
            <a:r>
              <a:t>How many of you have either been scammed, or have a loved one who has been scammed?</a:t>
            </a:r>
          </a:p>
          <a:p xmlns:a="http://schemas.openxmlformats.org/drawingml/2006/main">
            <a:r>
              <a:t>[Raise your own hand. Pause and look around.]</a:t>
            </a:r>
          </a:p>
          <a:p xmlns:a="http://schemas.openxmlformats.org/drawingml/2006/main">
            <a:r>
              <a:t>Now, if you're anything like me a few years ago, you'd probably think that scams mainly affect people who are less technologically savvy or less aware, like the elderly.</a:t>
            </a:r>
          </a:p>
          <a:p xmlns:a="http://schemas.openxmlformats.org/drawingml/2006/main">
            <a:r>
              <a:t>But two years ago, that assumption was completely shattered.</a:t>
            </a:r>
          </a:p>
          <a:p xmlns:a="http://schemas.openxmlformats.org/drawingml/2006/main">
            <a:r>
              <a:t>My sister was scammed.</a:t>
            </a:r>
          </a:p>
          <a:p xmlns:a="http://schemas.openxmlformats.org/drawingml/2006/main">
            <a:r>
              <a:t>And she didn't lose $100.</a:t>
            </a:r>
          </a:p>
          <a:p xmlns:a="http://schemas.openxmlformats.org/drawingml/2006/main">
            <a:r>
              <a:t>She didn't lose $200.</a:t>
            </a:r>
          </a:p>
          <a:p xmlns:a="http://schemas.openxmlformats.org/drawingml/2006/main">
            <a:r>
              <a:t>She lost $17,000.</a:t>
            </a:r>
          </a:p>
          <a:p xmlns:a="http://schemas.openxmlformats.org/drawingml/2006/main">
            <a:r>
              <a:t>[Pause.]</a:t>
            </a:r>
          </a:p>
          <a:p xmlns:a="http://schemas.openxmlformats.org/drawingml/2006/main">
            <a:r>
              <a:t>And here's the thing.</a:t>
            </a:r>
          </a:p>
          <a:p xmlns:a="http://schemas.openxmlformats.org/drawingml/2006/main">
            <a:r>
              <a:t>My sister wasn't hacked. She was manipulated into transferring the money herself.</a:t>
            </a:r>
          </a:p>
          <a:p xmlns:a="http://schemas.openxmlformats.org/drawingml/2006/main">
            <a:r>
              <a:t>Naturally, this left my family with one question.</a:t>
            </a:r>
          </a:p>
          <a:p xmlns:a="http://schemas.openxmlformats.org/drawingml/2006/main">
            <a:r>
              <a:t>How could someone as technologically savvy and aware as my sister fall victim to a scam?</a:t>
            </a:r>
          </a:p>
          <a:p xmlns:a="http://schemas.openxmlformats.org/drawingml/2006/main">
            <a:r>
              <a:t>What we came to realise was that there were two barriers.</a:t>
            </a:r>
          </a:p>
          <a:p xmlns:a="http://schemas.openxmlformats.org/drawingml/2006/main">
            <a:r>
              <a:t>The first was panic.</a:t>
            </a:r>
          </a:p>
          <a:p xmlns:a="http://schemas.openxmlformats.org/drawingml/2006/main">
            <a:r>
              <a:t>When confronted by the scammer, she was extremely stressed and overwhelmed.</a:t>
            </a:r>
          </a:p>
          <a:p xmlns:a="http://schemas.openxmlformats.org/drawingml/2006/main">
            <a:r>
              <a:t>And the second was shame.</a:t>
            </a:r>
          </a:p>
          <a:p xmlns:a="http://schemas.openxmlformats.org/drawingml/2006/main">
            <a:r>
              <a:t>As the scam progressed, she became too embarrassed to reach out for help.</a:t>
            </a:r>
          </a:p>
          <a:p xmlns:a="http://schemas.openxmlformats.org/drawingml/2006/main">
            <a:r>
              <a:t>And that got us thinking...</a:t>
            </a:r>
          </a:p>
          <a:p xmlns:a="http://schemas.openxmlformats.org/drawingml/2006/main">
            <a:r>
              <a:t>What if we could prepare people for these situations before they ever encountered a real scam?</a:t>
            </a:r>
          </a:p>
          <a:p xmlns:a="http://schemas.openxmlformats.org/drawingml/2006/main">
            <a:r>
              <a:t/>
            </a:r>
          </a:p>
          <a:p xmlns:a="http://schemas.openxmlformats.org/drawingml/2006/main">
            <a:r>
              <a:t/>
            </a:r>
          </a:p>
          <a:p xmlns:a="http://schemas.openxmlformats.org/drawingml/2006/main">
            <a:r>
              <a:t/>
            </a:r>
          </a:p>
          <a:p xmlns:a="http://schemas.openxmlformats.org/drawingml/2006/main">
            <a:r>
              <a:t>ACT 2: THE UNEXPECTED CALL 📞</a:t>
            </a:r>
          </a:p>
          <a:p xmlns:a="http://schemas.openxmlformats.org/drawingml/2006/main">
            <a:r>
              <a:t>Time: 1:00–1:40</a:t>
            </a:r>
          </a:p>
          <a:p xmlns:a="http://schemas.openxmlformats.org/drawingml/2006/main">
            <a:r>
              <a:t>[Keep the previous slide on screen.]</a:t>
            </a:r>
          </a:p>
          <a:p xmlns:a="http://schemas.openxmlformats.org/drawingml/2006/main">
            <a:r>
              <a:t>[PHONE SUDDENLY RINGS]</a:t>
            </a:r>
          </a:p>
          <a:p xmlns:a="http://schemas.openxmlformats.org/drawingml/2006/main">
            <a:r>
              <a:t>You: "Oh, sorry, one second."</a:t>
            </a:r>
          </a:p>
          <a:p xmlns:a="http://schemas.openxmlformats.org/drawingml/2006/main">
            <a:r>
              <a:t>[Look at your phone and answer on speaker.]</a:t>
            </a:r>
          </a:p>
          <a:p xmlns:a="http://schemas.openxmlformats.org/drawingml/2006/main">
            <a:r>
              <a:t>Caller:</a:t>
            </a:r>
          </a:p>
          <a:p xmlns:a="http://schemas.openxmlformats.org/drawingml/2006/main">
            <a:r>
              <a:t>"Hello, ma'am. We've detected suspicious activity on your account. Your funds may be at risk."</a:t>
            </a:r>
          </a:p>
          <a:p xmlns:a="http://schemas.openxmlformats.org/drawingml/2006/main">
            <a:r>
              <a:t>You:</a:t>
            </a:r>
          </a:p>
          <a:p xmlns:a="http://schemas.openxmlformats.org/drawingml/2006/main">
            <a:r>
              <a:t>"Wait, sorry, what do you mean?"</a:t>
            </a:r>
          </a:p>
          <a:p xmlns:a="http://schemas.openxmlformats.org/drawingml/2006/main">
            <a:r>
              <a:t>Caller:</a:t>
            </a:r>
          </a:p>
          <a:p xmlns:a="http://schemas.openxmlformats.org/drawingml/2006/main">
            <a:r>
              <a:t>"We need you to act immediately, otherwise your account may be frozen."</a:t>
            </a:r>
          </a:p>
          <a:p xmlns:a="http://schemas.openxmlformats.org/drawingml/2006/main">
            <a:r>
              <a:t>You:</a:t>
            </a:r>
          </a:p>
          <a:p xmlns:a="http://schemas.openxmlformats.org/drawingml/2006/main">
            <a:r>
              <a:t>"But I'm in the middle of something right now."</a:t>
            </a:r>
          </a:p>
          <a:p xmlns:a="http://schemas.openxmlformats.org/drawingml/2006/main">
            <a:r>
              <a:t>Caller:</a:t>
            </a:r>
          </a:p>
          <a:p xmlns:a="http://schemas.openxmlformats.org/drawingml/2006/main">
            <a:r>
              <a:t>"Ma'am, this is extremely urgent. Please do not discuss this with anyone else."</a:t>
            </a:r>
          </a:p>
          <a:p xmlns:a="http://schemas.openxmlformats.org/drawingml/2006/main">
            <a:r>
              <a:t>[YOU HANG UP]</a:t>
            </a:r>
          </a:p>
          <a:p xmlns:a="http://schemas.openxmlformats.org/drawingml/2006/main">
            <a:r>
              <a:t>[Pause for two seconds. Look at the judges.]</a:t>
            </a:r>
          </a:p>
          <a:p xmlns:a="http://schemas.openxmlformats.org/drawingml/2006/main">
            <a:r>
              <a:t>That was a scam call.</a:t>
            </a:r>
          </a:p>
          <a:p xmlns:a="http://schemas.openxmlformats.org/drawingml/2006/main">
            <a:r>
              <a:t>Well, a simulated one, thankfully.</a:t>
            </a:r>
          </a:p>
          <a:p xmlns:a="http://schemas.openxmlformats.org/drawingml/2006/main">
            <a:r>
              <a:t>Now, most of you probably recognised that something was wrong.</a:t>
            </a:r>
          </a:p>
          <a:p xmlns:a="http://schemas.openxmlformats.org/drawingml/2006/main">
            <a:r>
              <a:t>But imagine receiving that call when you're alone, stressed, or distracted.</a:t>
            </a:r>
          </a:p>
          <a:p xmlns:a="http://schemas.openxmlformats.org/drawingml/2006/main">
            <a:r>
              <a:t>Would you have reacted the same way?</a:t>
            </a:r>
          </a:p>
          <a:p xmlns:a="http://schemas.openxmlformats.org/drawingml/2006/main">
            <a:r>
              <a:t>And even if you suspected something was wrong...</a:t>
            </a:r>
          </a:p>
          <a:p xmlns:a="http://schemas.openxmlformats.org/drawingml/2006/main">
            <a:r>
              <a:t>Would you feel comfortable telling someone?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3: THE GAP</a:t>
            </a:r>
          </a:p>
          <a:p xmlns:a="http://schemas.openxmlformats.org/drawingml/2006/main">
            <a:r>
              <a:t>Time: 1:40–2:15</a:t>
            </a:r>
          </a:p>
          <a:p xmlns:a="http://schemas.openxmlformats.org/drawingml/2006/main">
            <a:r>
              <a:t>[Slide 2: "Awareness ≠ Preparedness"]</a:t>
            </a:r>
          </a:p>
          <a:p xmlns:a="http://schemas.openxmlformats.org/drawingml/2006/main">
            <a:r>
              <a:t>Today, Singapore has made significant efforts to combat scams.</a:t>
            </a:r>
          </a:p>
          <a:p xmlns:a="http://schemas.openxmlformats.org/drawingml/2006/main">
            <a:r>
              <a:t>We have awareness campaigns, scam advisories, and tools like ScamShield.</a:t>
            </a:r>
          </a:p>
          <a:p xmlns:a="http://schemas.openxmlformats.org/drawingml/2006/main">
            <a:r>
              <a:t>And these initiatives are incredibly important.</a:t>
            </a:r>
          </a:p>
          <a:p xmlns:a="http://schemas.openxmlformats.org/drawingml/2006/main">
            <a:r>
              <a:t>But there's still a gap.</a:t>
            </a:r>
          </a:p>
          <a:p xmlns:a="http://schemas.openxmlformats.org/drawingml/2006/main">
            <a:r>
              <a:t>Knowing what a scam looks like doesn't necessarily mean knowing how to respond when you're caught in one.</a:t>
            </a:r>
          </a:p>
          <a:p xmlns:a="http://schemas.openxmlformats.org/drawingml/2006/main">
            <a:r>
              <a:t>Think about it.</a:t>
            </a:r>
          </a:p>
          <a:p xmlns:a="http://schemas.openxmlformats.org/drawingml/2006/main">
            <a:r>
              <a:t>We have fire drills to prepare for fires.</a:t>
            </a:r>
          </a:p>
          <a:p xmlns:a="http://schemas.openxmlformats.org/drawingml/2006/main">
            <a:r>
              <a:t>Evacuation drills to prepare for emergencies.</a:t>
            </a:r>
          </a:p>
          <a:p xmlns:a="http://schemas.openxmlformats.org/drawingml/2006/main">
            <a:r>
              <a:t>But where are our drills for scams?</a:t>
            </a:r>
          </a:p>
          <a:p xmlns:a="http://schemas.openxmlformats.org/drawingml/2006/main">
            <a:r>
              <a:t>[Pause. Change slide.]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4: INTRODUCING DRILL MODE</a:t>
            </a:r>
          </a:p>
          <a:p xmlns:a="http://schemas.openxmlformats.org/drawingml/2006/main">
            <a:r>
              <a:t>Time: 2:15–2:45</a:t>
            </a:r>
          </a:p>
          <a:p xmlns:a="http://schemas.openxmlformats.org/drawingml/2006/main">
            <a:r>
              <a:t>[Slide 3: DRILL MODE logo]</a:t>
            </a:r>
          </a:p>
          <a:p xmlns:a="http://schemas.openxmlformats.org/drawingml/2006/main">
            <a:r>
              <a:t>Introducing Drill Mode.</a:t>
            </a:r>
          </a:p>
          <a:p xmlns:a="http://schemas.openxmlformats.org/drawingml/2006/main">
            <a:r>
              <a:t>A scam simulation platform that helps Singaporeans practise responding to scams before encountering one in real life.</a:t>
            </a:r>
          </a:p>
          <a:p xmlns:a="http://schemas.openxmlformats.org/drawingml/2006/main">
            <a:r>
              <a:t>But Drill Mode isn't just about individual preparedness.</a:t>
            </a:r>
          </a:p>
          <a:p xmlns:a="http://schemas.openxmlformats.org/drawingml/2006/main">
            <a:r>
              <a:t>It's also about creating a support system through our families.</a:t>
            </a:r>
          </a:p>
          <a:p xmlns:a="http://schemas.openxmlformats.org/drawingml/2006/main">
            <a:r>
              <a:t>Because we believe scammers exploit two things.</a:t>
            </a:r>
          </a:p>
          <a:p xmlns:a="http://schemas.openxmlformats.org/drawingml/2006/main">
            <a:r>
              <a:t>Our panic and our silence.</a:t>
            </a:r>
          </a:p>
          <a:p xmlns:a="http://schemas.openxmlformats.org/drawingml/2006/main">
            <a:r>
              <a:t>And Drill Mode is built to address both.</a:t>
            </a:r>
          </a:p>
          <a:p xmlns:a="http://schemas.openxmlformats.org/drawingml/2006/main">
            <a:r>
              <a:t>First, through realistic scam simulations that let users practise responding under pressure.</a:t>
            </a:r>
          </a:p>
          <a:p xmlns:a="http://schemas.openxmlformats.org/drawingml/2006/main">
            <a:r>
              <a:t>And second, through family-based practice that encourages open conversations and makes asking for help feel normal.</a:t>
            </a:r>
          </a:p>
          <a:p xmlns:a="http://schemas.openxmlformats.org/drawingml/2006/main">
            <a:r>
              <a:t>Let us show you how it works.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2:45–4:15. Play the demo video on this slide.</a:t>
            </a:r>
          </a:p>
          <a:p xmlns:a="http://schemas.openxmlformats.org/drawingml/2006/main">
            <a:r>
              <a:t/>
            </a:r>
          </a:p>
          <a:p xmlns:a="http://schemas.openxmlformats.org/drawingml/2006/main">
            <a:r>
              <a:t>[Personalisation survey] Your experience starts with a short personalisation survey, helping us tailor the practice to you. Because scam preparedness isn’t one-size-fits-all.</a:t>
            </a:r>
          </a:p>
          <a:p xmlns:a="http://schemas.openxmlformats.org/drawingml/2006/main">
            <a:r>
              <a:t/>
            </a:r>
          </a:p>
          <a:p xmlns:a="http://schemas.openxmlformats.org/drawingml/2006/main">
            <a:r>
              <a:t>[Virtual house] Then, you enter your virtual house. We’ve made practice feel like part of an everyday environment, somewhere you can explore, learn, and return to.</a:t>
            </a:r>
          </a:p>
          <a:p xmlns:a="http://schemas.openxmlformats.org/drawingml/2006/main">
            <a:r>
              <a:t/>
            </a:r>
          </a:p>
          <a:p xmlns:a="http://schemas.openxmlformats.org/drawingml/2006/main">
            <a:r>
              <a:t>[House chat and Pixi] Here, you can connect through the house chat and interact with Pixi. This brings a social element into the experience, making scam conversations a normal part of practising together.</a:t>
            </a:r>
          </a:p>
          <a:p xmlns:a="http://schemas.openxmlformats.org/drawingml/2006/main">
            <a:r>
              <a:t/>
            </a:r>
          </a:p>
          <a:p xmlns:a="http://schemas.openxmlformats.org/drawingml/2006/main">
            <a:r>
              <a:t>[Drills] From here, you can try different drills: suspicious calls, emails, messages, and scenarios within the house. Each gives you a chance to practise making decisions. Do you trust the request? Follow the instructions? Or pause, verify, and ask for help? The goal is to build habits you can use when the pressure is real. And making a mistake here doesn’t cost you $17,000. It gives you another chance to learn.</a:t>
            </a:r>
          </a:p>
          <a:p xmlns:a="http://schemas.openxmlformats.org/drawingml/2006/main">
            <a:r>
              <a:t/>
            </a:r>
          </a:p>
          <a:p xmlns:a="http://schemas.openxmlformats.org/drawingml/2006/main">
            <a:r>
              <a:t>[Coins and store] To encourage users to keep practising, there’s also a coin system and a store. These rewards give users a reason to come back, because preparedness takes repeated practice.</a:t>
            </a:r>
          </a:p>
          <a:p xmlns:a="http://schemas.openxmlformats.org/drawingml/2006/main">
            <a:r>
              <a:t/>
            </a:r>
          </a:p>
          <a:p xmlns:a="http://schemas.openxmlformats.org/drawingml/2006/main">
            <a:r>
              <a:t>[Closing overview] That’s Drill Mode: turning scam awareness into everyday practice, and making it easier to face scams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6: WHY DRILL MODE IS DIFFERENT</a:t>
            </a:r>
          </a:p>
          <a:p xmlns:a="http://schemas.openxmlformats.org/drawingml/2006/main">
            <a:r>
              <a:t>Time: 4:15–5:00</a:t>
            </a:r>
          </a:p>
          <a:p xmlns:a="http://schemas.openxmlformats.org/drawingml/2006/main">
            <a:r>
              <a:t>[Slide 5: "Practise Before It Happens. Face It Together."]</a:t>
            </a:r>
          </a:p>
          <a:p xmlns:a="http://schemas.openxmlformats.org/drawingml/2006/main">
            <a:r>
              <a:t>What makes Drill Mode different?</a:t>
            </a:r>
          </a:p>
          <a:p xmlns:a="http://schemas.openxmlformats.org/drawingml/2006/main">
            <a:r>
              <a:t>Existing solutions such as ScamShield and Google's Phishing Quiz play important roles in helping people identify and protect themselves against scams.</a:t>
            </a:r>
          </a:p>
          <a:p xmlns:a="http://schemas.openxmlformats.org/drawingml/2006/main">
            <a:r>
              <a:t>Drill Mode complements these efforts by focusing on something different.</a:t>
            </a:r>
          </a:p>
          <a:p xmlns:a="http://schemas.openxmlformats.org/drawingml/2006/main">
            <a:r>
              <a:t>Turning awareness into practised behaviour.</a:t>
            </a:r>
          </a:p>
          <a:p xmlns:a="http://schemas.openxmlformats.org/drawingml/2006/main">
            <a:r>
              <a:t>We do this through two pillars.</a:t>
            </a:r>
          </a:p>
          <a:p xmlns:a="http://schemas.openxmlformats.org/drawingml/2006/main">
            <a:r>
              <a:t>First, practice.</a:t>
            </a:r>
          </a:p>
          <a:p xmlns:a="http://schemas.openxmlformats.org/drawingml/2006/main">
            <a:r>
              <a:t>We don't just tell users about scam tactics. We let them experience realistic scenarios, make decisions, and learn from their mistakes in a safe environment.</a:t>
            </a:r>
          </a:p>
          <a:p xmlns:a="http://schemas.openxmlformats.org/drawingml/2006/main">
            <a:r>
              <a:t>Second, family.</a:t>
            </a:r>
          </a:p>
          <a:p xmlns:a="http://schemas.openxmlformats.org/drawingml/2006/main">
            <a:r>
              <a:t>We want to break down the embarrassment associated with scams by encouraging families to practise and have these conversations together.</a:t>
            </a:r>
          </a:p>
          <a:p xmlns:a="http://schemas.openxmlformats.org/drawingml/2006/main">
            <a:r>
              <a:t>Because sometimes, what someone needs isn't another warning about scams.</a:t>
            </a:r>
          </a:p>
          <a:p xmlns:a="http://schemas.openxmlformats.org/drawingml/2006/main">
            <a:r>
              <a:t>It's someone they trust telling them, "It's okay. Let's figure this out together."</a:t>
            </a:r>
          </a:p>
          <a:p xmlns:a="http://schemas.openxmlformats.org/drawingml/2006/main">
            <a:r>
              <a:t>Ultimately, we don't just want Singaporeans to recognise scams.</a:t>
            </a:r>
          </a:p>
          <a:p xmlns:a="http://schemas.openxmlformats.org/drawingml/2006/main">
            <a:r>
              <a:t>We want them to know what to do, and who to turn to.</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7: SCALING OUR IMPACT</a:t>
            </a:r>
          </a:p>
          <a:p xmlns:a="http://schemas.openxmlformats.org/drawingml/2006/main">
            <a:r>
              <a:t>Time: 5:00–5:45</a:t>
            </a:r>
          </a:p>
          <a:p xmlns:a="http://schemas.openxmlformats.org/drawingml/2006/main">
            <a:r>
              <a:t>[Slide 6: "Bringing Drill Mode to Singaporeans"]</a:t>
            </a:r>
          </a:p>
          <a:p xmlns:a="http://schemas.openxmlformats.org/drawingml/2006/main">
            <a:r>
              <a:t>But building Drill Mode is only the beginning.</a:t>
            </a:r>
          </a:p>
          <a:p xmlns:a="http://schemas.openxmlformats.org/drawingml/2006/main">
            <a:r>
              <a:t>The bigger question is:</a:t>
            </a:r>
          </a:p>
          <a:p xmlns:a="http://schemas.openxmlformats.org/drawingml/2006/main">
            <a:r>
              <a:t>How do we bring it to Singaporeans who need it?</a:t>
            </a:r>
          </a:p>
          <a:p xmlns:a="http://schemas.openxmlformats.org/drawingml/2006/main">
            <a:r>
              <a:t>We envision three key channels.</a:t>
            </a:r>
          </a:p>
          <a:p xmlns:a="http://schemas.openxmlformats.org/drawingml/2006/main">
            <a:r>
              <a:t>First, schools.</a:t>
            </a:r>
          </a:p>
          <a:p xmlns:a="http://schemas.openxmlformats.org/drawingml/2006/main">
            <a:r>
              <a:t>By engaging students, we hope to encourage young people to practise scam scenarios and bring these conversations home to their families.</a:t>
            </a:r>
          </a:p>
          <a:p xmlns:a="http://schemas.openxmlformats.org/drawingml/2006/main">
            <a:r>
              <a:t>Second, community centres and Active Ageing Centres.</a:t>
            </a:r>
          </a:p>
          <a:p xmlns:a="http://schemas.openxmlformats.org/drawingml/2006/main">
            <a:r>
              <a:t>We envision guided scam simulation sessions where residents can practise in a supportive community environment, regardless of their age or technological experience.</a:t>
            </a:r>
          </a:p>
          <a:p xmlns:a="http://schemas.openxmlformats.org/drawingml/2006/main">
            <a:r>
              <a:t>And third, public-private partnerships.</a:t>
            </a:r>
          </a:p>
          <a:p xmlns:a="http://schemas.openxmlformats.org/drawingml/2006/main">
            <a:r>
              <a:t>We hope to explore collaborations with organisations such as PA, IMDA, SPF, Huawei, and other industry partners to bring Drill Mode to more communities.</a:t>
            </a:r>
          </a:p>
          <a:p xmlns:a="http://schemas.openxmlformats.org/drawingml/2006/main">
            <a:r>
              <a:t>Because scam prevention shouldn't fall solely on individuals.</a:t>
            </a:r>
          </a:p>
          <a:p xmlns:a="http://schemas.openxmlformats.org/drawingml/2006/main">
            <a:r>
              <a:t>It should be a collective effort involving families, communities, and organisations.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8: MEASURING SUCCESS</a:t>
            </a:r>
          </a:p>
          <a:p xmlns:a="http://schemas.openxmlformats.org/drawingml/2006/main">
            <a:r>
              <a:t>Time: 5:45–6:15</a:t>
            </a:r>
          </a:p>
          <a:p xmlns:a="http://schemas.openxmlformats.org/drawingml/2006/main">
            <a:r>
              <a:t>[Slide 7: "From Awareness to Safer Decisions"]</a:t>
            </a:r>
          </a:p>
          <a:p xmlns:a="http://schemas.openxmlformats.org/drawingml/2006/main">
            <a:r>
              <a:t>But how do we know Drill Mode actually works?</a:t>
            </a:r>
          </a:p>
          <a:p xmlns:a="http://schemas.openxmlformats.org/drawingml/2006/main">
            <a:r>
              <a:t>For us, success isn't simply about the number of simulations completed.</a:t>
            </a:r>
          </a:p>
          <a:p xmlns:a="http://schemas.openxmlformats.org/drawingml/2006/main">
            <a:r>
              <a:t>It's about whether people respond more safely afterwards.</a:t>
            </a:r>
          </a:p>
          <a:p xmlns:a="http://schemas.openxmlformats.org/drawingml/2006/main">
            <a:r>
              <a:t>Our proposed approach is to compare users' responses before and after practising with Drill Mode, using unfamiliar scam scenarios.</a:t>
            </a:r>
          </a:p>
          <a:p xmlns:a="http://schemas.openxmlformats.org/drawingml/2006/main">
            <a:r>
              <a:t>We'll look at whether they become better at pausing, verifying suspicious requests, and seeking help.</a:t>
            </a:r>
          </a:p>
          <a:p xmlns:a="http://schemas.openxmlformats.org/drawingml/2006/main">
            <a:r>
              <a:t>We also want to assess whether practising together makes families more comfortable discussing scams.</a:t>
            </a:r>
          </a:p>
          <a:p xmlns:a="http://schemas.openxmlformats.org/drawingml/2006/main">
            <a:r>
              <a:t>Because our goal isn't just to increase awareness.</a:t>
            </a:r>
          </a:p>
          <a:p xmlns:a="http://schemas.openxmlformats.org/drawingml/2006/main">
            <a:r>
              <a:t>It's to build safer habits and stronger support systems.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 9: THE CLOSING</a:t>
            </a:r>
          </a:p>
          <a:p xmlns:a="http://schemas.openxmlformats.org/drawingml/2006/main">
            <a:r>
              <a:t>Time: 6:15–6:45</a:t>
            </a:r>
          </a:p>
          <a:p xmlns:a="http://schemas.openxmlformats.org/drawingml/2006/main">
            <a:r>
              <a:t>[Final slide: "Practise Together. Stay Protected Together."]</a:t>
            </a:r>
          </a:p>
          <a:p xmlns:a="http://schemas.openxmlformats.org/drawingml/2006/main">
            <a:r>
              <a:t>Two years ago, my sister lost $17,000 to a scam.</a:t>
            </a:r>
          </a:p>
          <a:p xmlns:a="http://schemas.openxmlformats.org/drawingml/2006/main">
            <a:r>
              <a:t>And while we can't change what happened to her, we can work towards a future where others are better prepared.</a:t>
            </a:r>
          </a:p>
          <a:p xmlns:a="http://schemas.openxmlformats.org/drawingml/2006/main">
            <a:r>
              <a:t>A future where, when a scammer calls, people know how to respond.</a:t>
            </a:r>
          </a:p>
          <a:p xmlns:a="http://schemas.openxmlformats.org/drawingml/2006/main">
            <a:r>
              <a:t>And when something feels wrong, they know they have someone to turn to.</a:t>
            </a:r>
          </a:p>
          <a:p xmlns:a="http://schemas.openxmlformats.org/drawingml/2006/main">
            <a:r>
              <a:t>Because the first time someone experiences the pressure of a scam shouldn't be when their life savings are on the line.</a:t>
            </a:r>
          </a:p>
          <a:p xmlns:a="http://schemas.openxmlformats.org/drawingml/2006/main">
            <a:r>
              <a:t>And nobody should ever feel ashamed to ask for help.</a:t>
            </a:r>
          </a:p>
          <a:p xmlns:a="http://schemas.openxmlformats.org/drawingml/2006/main">
            <a:r>
              <a:t>With Drill Mode, we're not just teaching Singaporeans how to recognise scams.</a:t>
            </a:r>
          </a:p>
          <a:p xmlns:a="http://schemas.openxmlformats.org/drawingml/2006/main">
            <a:r>
              <a:t>We're helping them practise how to respond, and reminding them that they don't have to face scams alone.</a:t>
            </a:r>
          </a:p>
          <a:p xmlns:a="http://schemas.openxmlformats.org/drawingml/2006/main">
            <a:r>
              <a:t>Drill Mode.</a:t>
            </a:r>
          </a:p>
          <a:p xmlns:a="http://schemas.openxmlformats.org/drawingml/2006/main">
            <a:r>
              <a:t>Practise together. Stay protected together.</a:t>
            </a:r>
          </a:p>
          <a:p xmlns:a="http://schemas.openxmlformats.org/drawingml/2006/main">
            <a:r>
              <a:t>Thank you.</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91bd9010e94d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246814895542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5191a712f94f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bea6b58b5141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49829fe4e648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7ee576ad8049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07B39D-E787-49FB-98DB-7EE5698F47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459DE6-6117-443C-95E7-DC20778B66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88BEF4F-F4F4-4CB7-AA4E-902A4F95BB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E60047-F52E-4E37-9499-9BD5051E98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B8A52B-2725-4F6B-BCE8-CB973FF2F6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85A6C1-9DCC-450B-9356-6DF11D3F4C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B56316-FDA0-4799-BFAF-68DF3B326C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FE6C85-8ED9-4FF7-87D2-5946A0326D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B19132-4CCE-4D19-A17F-8AE054B962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5581BF-4E16-470D-8199-BD8A2072B0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8320a5ecbf43fb" /><Relationship Type="http://schemas.openxmlformats.org/officeDocument/2006/relationships/slideLayout" Target="/ppt/slideLayouts/slideLayout1.xml" Id="Rcfe9c4558b5a4fc7" /><Relationship Type="http://schemas.openxmlformats.org/officeDocument/2006/relationships/slideLayout" Target="/ppt/slideLayouts/slideLayout2.xml" Id="R0c24f4b9203149f4" /><Relationship Type="http://schemas.openxmlformats.org/officeDocument/2006/relationships/slideLayout" Target="/ppt/slideLayouts/slideLayout3.xml" Id="R850b6db4423a44a3" /><Relationship Type="http://schemas.openxmlformats.org/officeDocument/2006/relationships/slideLayout" Target="/ppt/slideLayouts/slideLayout4.xml" Id="R02937ab567d24d30" /><Relationship Type="http://schemas.openxmlformats.org/officeDocument/2006/relationships/slideLayout" Target="/ppt/slideLayouts/slideLayout5.xml" Id="R96ee5427073b444a" /><Relationship Type="http://schemas.openxmlformats.org/officeDocument/2006/relationships/slideLayout" Target="/ppt/slideLayouts/slideLayout6.xml" Id="R2fce5733caab49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e9c4558b5a4fc7"/>
    <p:sldLayoutId xmlns:r="http://schemas.openxmlformats.org/officeDocument/2006/relationships" id="2147483650" r:id="R0c24f4b9203149f4"/>
    <p:sldLayoutId xmlns:r="http://schemas.openxmlformats.org/officeDocument/2006/relationships" id="2147483651" r:id="R850b6db4423a44a3"/>
    <p:sldLayoutId xmlns:r="http://schemas.openxmlformats.org/officeDocument/2006/relationships" id="2147483652" r:id="R02937ab567d24d30"/>
    <p:sldLayoutId xmlns:r="http://schemas.openxmlformats.org/officeDocument/2006/relationships" id="2147483653" r:id="R96ee5427073b444a"/>
    <p:sldLayoutId xmlns:r="http://schemas.openxmlformats.org/officeDocument/2006/relationships" id="2147483654" r:id="R2fce5733caab49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c9f5d837dd444d" /><Relationship Type="http://schemas.openxmlformats.org/officeDocument/2006/relationships/notesSlide" Target="/ppt/notesSlides/notesSlide1.xml" Id="R595879f9ccbb4e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8e6a5a96e843ce" /><Relationship Type="http://schemas.openxmlformats.org/officeDocument/2006/relationships/notesSlide" Target="/ppt/notesSlides/notesSlide2.xml" Id="R83d3c8fb608348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917002310d4526" /><Relationship Type="http://schemas.openxmlformats.org/officeDocument/2006/relationships/notesSlide" Target="/ppt/notesSlides/notesSlide3.xml" Id="Rc2f3b660056c45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a0b8886f114659" /><Relationship Type="http://schemas.openxmlformats.org/officeDocument/2006/relationships/notesSlide" Target="/ppt/notesSlides/notesSlide4.xml" Id="Rbc516d91efc74d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ad895636564b3d" /><Relationship Type="http://schemas.openxmlformats.org/officeDocument/2006/relationships/notesSlide" Target="/ppt/notesSlides/notesSlide5.xml" Id="R32b99066928f45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c95a0d92244737" /><Relationship Type="http://schemas.openxmlformats.org/officeDocument/2006/relationships/notesSlide" Target="/ppt/notesSlides/notesSlide6.xml" Id="Re53ae8073da440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614017d7d14000" /><Relationship Type="http://schemas.openxmlformats.org/officeDocument/2006/relationships/notesSlide" Target="/ppt/notesSlides/notesSlide7.xml" Id="R04a1049609624d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269e406ef94256" /><Relationship Type="http://schemas.openxmlformats.org/officeDocument/2006/relationships/notesSlide" Target="/ppt/notesSlides/notesSlide8.xml" Id="R4149137436b64a7c" /></Relationships>
</file>

<file path=ppt/slides/slide1.xml><?xml version="1.0" encoding="utf-8"?>
<p:sld xmlns:p="http://schemas.openxmlformats.org/presentationml/2006/main">
  <p:cSld>
    <p:bg>
      <p:bgPr>
        <a:solidFill xmlns:a="http://schemas.openxmlformats.org/drawingml/2006/main">
          <a:srgbClr val="133C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F2EE16-0121-4B28-A7AA-26F31C4EADB9}"/>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7F5EF"/>
                </a:solidFill>
                <a:latin typeface="Helvetica Neue"/>
                <a:ea typeface="Helvetica Neue"/>
                <a:cs typeface="Helvetica Neue"/>
              </a:defRPr>
            </a:defPPr>
          </a:lstStyle>
          <a:p xmlns:a="http://schemas.openxmlformats.org/drawingml/2006/main">
            <a:pPr>
              <a:defRPr sz="3900" b="1">
                <a:solidFill>
                  <a:srgbClr val="F7F5EF"/>
                </a:solidFill>
                <a:latin typeface="Helvetica Neue"/>
                <a:ea typeface="Helvetica Neue"/>
                <a:cs typeface="Helvetica Neue"/>
              </a:defRPr>
            </a:pPr>
            <a:r>
              <a:rPr sz="3900" b="1">
                <a:solidFill>
                  <a:srgbClr val="F7F5EF"/>
                </a:solidFill>
                <a:latin typeface="Helvetica Neue"/>
                <a:ea typeface="Helvetica Neue"/>
                <a:cs typeface="Helvetica Neue"/>
              </a:rPr>
              <a:t>Could you fall for a scam?</a:t>
            </a:r>
          </a:p>
        </p:txBody>
      </p:sp>
      <p:sp>
        <p:nvSpPr>
          <p:cNvPr id="2" name="">
            <a:extLst xmlns:a="http://schemas.openxmlformats.org/drawingml/2006/main">
              <a:ext uri="{FF2B5EF4-FFF2-40B4-BE49-F238E27FC236}">
                <a16:creationId xmlns:a16="http://schemas.microsoft.com/office/drawing/2014/main" id="{1E21DA97-2014-4A15-88DB-D45E5CE711FA}"/>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C7BE"/>
                </a:solidFill>
                <a:latin typeface="Helvetica Neue"/>
                <a:ea typeface="Helvetica Neue"/>
                <a:cs typeface="Helvetica Neue"/>
              </a:defRPr>
            </a:defPPr>
          </a:lstStyle>
          <a:p xmlns:a="http://schemas.openxmlformats.org/drawingml/2006/main">
            <a:pPr>
              <a:defRPr sz="1350" b="0">
                <a:solidFill>
                  <a:srgbClr val="A9C7BE"/>
                </a:solidFill>
                <a:latin typeface="Helvetica Neue"/>
                <a:ea typeface="Helvetica Neue"/>
                <a:cs typeface="Helvetica Neue"/>
              </a:defRPr>
            </a:pPr>
            <a:r>
              <a:rPr sz="1350" b="0">
                <a:solidFill>
                  <a:srgbClr val="A9C7BE"/>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4655173-91DC-4CEB-B9D5-0F8AF96B59ED}"/>
              </a:ext>
            </a:extLst>
          </p:cNvPr>
          <p:cNvSpPr>
            <a:spLocks xmlns:a="http://schemas.openxmlformats.org/drawingml/2006/main" noGrp="1"/>
          </p:cNvSpPr>
          <p:nvPr/>
        </p:nvSpPr>
        <p:spPr>
          <a:xfrm xmlns:a="http://schemas.openxmlformats.org/drawingml/2006/main">
            <a:off x="723900" y="22288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900" b="1">
                <a:solidFill>
                  <a:srgbClr val="F5AC83"/>
                </a:solidFill>
                <a:latin typeface="Helvetica Neue"/>
                <a:ea typeface="Helvetica Neue"/>
                <a:cs typeface="Helvetica Neue"/>
              </a:defRPr>
            </a:defPPr>
          </a:lstStyle>
          <a:p xmlns:a="http://schemas.openxmlformats.org/drawingml/2006/main">
            <a:pPr>
              <a:defRPr sz="9900" b="1">
                <a:solidFill>
                  <a:srgbClr val="F5AC83"/>
                </a:solidFill>
                <a:latin typeface="Helvetica Neue"/>
                <a:ea typeface="Helvetica Neue"/>
                <a:cs typeface="Helvetica Neue"/>
              </a:defRPr>
            </a:pPr>
            <a:r>
              <a:rPr sz="9900" b="1">
                <a:solidFill>
                  <a:srgbClr val="F5AC83"/>
                </a:solidFill>
                <a:latin typeface="Helvetica Neue"/>
                <a:ea typeface="Helvetica Neue"/>
                <a:cs typeface="Helvetica Neue"/>
              </a:rPr>
              <a:t>$17,000</a:t>
            </a:r>
          </a:p>
        </p:txBody>
      </p:sp>
      <p:sp>
        <p:nvSpPr>
          <p:cNvPr id="4" name="">
            <a:extLst xmlns:a="http://schemas.openxmlformats.org/drawingml/2006/main">
              <a:ext uri="{FF2B5EF4-FFF2-40B4-BE49-F238E27FC236}">
                <a16:creationId xmlns:a16="http://schemas.microsoft.com/office/drawing/2014/main" id="{F1594671-F232-40A7-A318-B032A2A03AC3}"/>
              </a:ext>
            </a:extLst>
          </p:cNvPr>
          <p:cNvSpPr>
            <a:spLocks xmlns:a="http://schemas.openxmlformats.org/drawingml/2006/main" noGrp="1"/>
          </p:cNvSpPr>
          <p:nvPr/>
        </p:nvSpPr>
        <p:spPr>
          <a:xfrm xmlns:a="http://schemas.openxmlformats.org/drawingml/2006/main">
            <a:off x="781050" y="4286250"/>
            <a:ext cx="952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7F5EF"/>
                </a:solidFill>
                <a:latin typeface="Helvetica Neue"/>
                <a:ea typeface="Helvetica Neue"/>
                <a:cs typeface="Helvetica Neue"/>
              </a:defRPr>
            </a:defPPr>
          </a:lstStyle>
          <a:p xmlns:a="http://schemas.openxmlformats.org/drawingml/2006/main">
            <a:pPr>
              <a:defRPr sz="2400" b="0">
                <a:solidFill>
                  <a:srgbClr val="F7F5EF"/>
                </a:solidFill>
                <a:latin typeface="Helvetica Neue"/>
                <a:ea typeface="Helvetica Neue"/>
                <a:cs typeface="Helvetica Neue"/>
              </a:defRPr>
            </a:pPr>
            <a:r>
              <a:rPr sz="2400" b="0">
                <a:solidFill>
                  <a:srgbClr val="F7F5EF"/>
                </a:solidFill>
                <a:latin typeface="Helvetica Neue"/>
                <a:ea typeface="Helvetica Neue"/>
                <a:cs typeface="Helvetica Neue"/>
              </a:rPr>
              <a:t>Lost by someone who knew how to use technology</a:t>
            </a:r>
          </a:p>
        </p:txBody>
      </p:sp>
      <p:sp>
        <p:nvSpPr>
          <p:cNvPr id="5" name="">
            <a:extLst xmlns:a="http://schemas.openxmlformats.org/drawingml/2006/main">
              <a:ext uri="{FF2B5EF4-FFF2-40B4-BE49-F238E27FC236}">
                <a16:creationId xmlns:a16="http://schemas.microsoft.com/office/drawing/2014/main" id="{804D0292-01B8-48DD-B841-E9238D274BC4}"/>
              </a:ext>
            </a:extLst>
          </p:cNvPr>
          <p:cNvSpPr>
            <a:spLocks xmlns:a="http://schemas.openxmlformats.org/drawingml/2006/main" noGrp="1"/>
          </p:cNvSpPr>
          <p:nvPr/>
        </p:nvSpPr>
        <p:spPr>
          <a:xfrm xmlns:a="http://schemas.openxmlformats.org/drawingml/2006/main">
            <a:off x="781050" y="52197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5D9D2"/>
                </a:solidFill>
                <a:latin typeface="Helvetica Neue"/>
                <a:ea typeface="Helvetica Neue"/>
                <a:cs typeface="Helvetica Neue"/>
              </a:defRPr>
            </a:defPPr>
          </a:lstStyle>
          <a:p xmlns:a="http://schemas.openxmlformats.org/drawingml/2006/main">
            <a:pPr>
              <a:defRPr sz="2100" b="0">
                <a:solidFill>
                  <a:srgbClr val="C5D9D2"/>
                </a:solidFill>
                <a:latin typeface="Helvetica Neue"/>
                <a:ea typeface="Helvetica Neue"/>
                <a:cs typeface="Helvetica Neue"/>
              </a:defRPr>
            </a:pPr>
            <a:r>
              <a:rPr sz="2100" b="0">
                <a:solidFill>
                  <a:srgbClr val="C5D9D2"/>
                </a:solidFill>
                <a:latin typeface="Helvetica Neue"/>
                <a:ea typeface="Helvetica Neue"/>
                <a:cs typeface="Helvetica Neue"/>
              </a:rPr>
              <a:t>Panic makes decisions harder. Shame makes help harder to ask for.</a:t>
            </a:r>
          </a:p>
        </p:txBody>
      </p:sp>
    </p:spTree>
    <p:extLst>
      <p:ext uri="{BB962C8B-B14F-4D97-AF65-F5344CB8AC3E}">
        <p14:creationId xmlns:p14="http://schemas.microsoft.com/office/powerpoint/2010/main" val="63957908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D1D363-09F6-4964-B87A-2AEFA2D18D38}"/>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Awareness ≠ preparedness</a:t>
            </a:r>
          </a:p>
        </p:txBody>
      </p:sp>
      <p:sp>
        <p:nvSpPr>
          <p:cNvPr id="2" name="">
            <a:extLst xmlns:a="http://schemas.openxmlformats.org/drawingml/2006/main">
              <a:ext uri="{FF2B5EF4-FFF2-40B4-BE49-F238E27FC236}">
                <a16:creationId xmlns:a16="http://schemas.microsoft.com/office/drawing/2014/main" id="{2CC23265-6762-46CB-BEF6-C4206CD01DC4}"/>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716E"/>
                </a:solidFill>
                <a:latin typeface="Helvetica Neue"/>
                <a:ea typeface="Helvetica Neue"/>
                <a:cs typeface="Helvetica Neue"/>
              </a:defRPr>
            </a:defPPr>
          </a:lstStyle>
          <a:p xmlns:a="http://schemas.openxmlformats.org/drawingml/2006/main">
            <a:pPr>
              <a:defRPr sz="1350" b="0">
                <a:solidFill>
                  <a:srgbClr val="52716E"/>
                </a:solidFill>
                <a:latin typeface="Helvetica Neue"/>
                <a:ea typeface="Helvetica Neue"/>
                <a:cs typeface="Helvetica Neue"/>
              </a:defRPr>
            </a:pPr>
            <a:r>
              <a:rPr sz="1350" b="0">
                <a:solidFill>
                  <a:srgbClr val="52716E"/>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C2D8AF61-8EB7-4052-B22A-233734B12D38}"/>
              </a:ext>
            </a:extLst>
          </p:cNvPr>
          <p:cNvSpPr>
            <a:spLocks xmlns:a="http://schemas.openxmlformats.org/drawingml/2006/main" noGrp="1"/>
          </p:cNvSpPr>
          <p:nvPr/>
        </p:nvSpPr>
        <p:spPr>
          <a:xfrm xmlns:a="http://schemas.openxmlformats.org/drawingml/2006/main">
            <a:off x="742950" y="21907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52716E"/>
                </a:solidFill>
                <a:latin typeface="Helvetica Neue"/>
                <a:ea typeface="Helvetica Neue"/>
                <a:cs typeface="Helvetica Neue"/>
              </a:defRPr>
            </a:defPPr>
          </a:lstStyle>
          <a:p xmlns:a="http://schemas.openxmlformats.org/drawingml/2006/main">
            <a:pPr>
              <a:defRPr sz="3300" b="0">
                <a:solidFill>
                  <a:srgbClr val="52716E"/>
                </a:solidFill>
                <a:latin typeface="Helvetica Neue"/>
                <a:ea typeface="Helvetica Neue"/>
                <a:cs typeface="Helvetica Neue"/>
              </a:defRPr>
            </a:pPr>
            <a:r>
              <a:rPr sz="3300" b="0">
                <a:solidFill>
                  <a:srgbClr val="52716E"/>
                </a:solidFill>
                <a:latin typeface="Helvetica Neue"/>
                <a:ea typeface="Helvetica Neue"/>
                <a:cs typeface="Helvetica Neue"/>
              </a:rPr>
              <a:t>Recognising a scam</a:t>
            </a:r>
          </a:p>
        </p:txBody>
      </p:sp>
      <p:sp>
        <p:nvSpPr>
          <p:cNvPr id="4" name="">
            <a:extLst xmlns:a="http://schemas.openxmlformats.org/drawingml/2006/main">
              <a:ext uri="{FF2B5EF4-FFF2-40B4-BE49-F238E27FC236}">
                <a16:creationId xmlns:a16="http://schemas.microsoft.com/office/drawing/2014/main" id="{A51131FA-9900-41E2-804C-DFB1F110D59B}"/>
              </a:ext>
            </a:extLst>
          </p:cNvPr>
          <p:cNvSpPr>
            <a:spLocks xmlns:a="http://schemas.openxmlformats.org/drawingml/2006/main" noGrp="1"/>
          </p:cNvSpPr>
          <p:nvPr/>
        </p:nvSpPr>
        <p:spPr>
          <a:xfrm xmlns:a="http://schemas.openxmlformats.org/drawingml/2006/main">
            <a:off x="742950" y="32004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33C3A"/>
                </a:solidFill>
                <a:latin typeface="Helvetica Neue"/>
                <a:ea typeface="Helvetica Neue"/>
                <a:cs typeface="Helvetica Neue"/>
              </a:defRPr>
            </a:defPPr>
          </a:lstStyle>
          <a:p xmlns:a="http://schemas.openxmlformats.org/drawingml/2006/main">
            <a:pPr>
              <a:defRPr sz="4800" b="1">
                <a:solidFill>
                  <a:srgbClr val="133C3A"/>
                </a:solidFill>
                <a:latin typeface="Helvetica Neue"/>
                <a:ea typeface="Helvetica Neue"/>
                <a:cs typeface="Helvetica Neue"/>
              </a:defRPr>
            </a:pPr>
            <a:r>
              <a:rPr sz="4800" b="1">
                <a:solidFill>
                  <a:srgbClr val="133C3A"/>
                </a:solidFill>
                <a:latin typeface="Helvetica Neue"/>
                <a:ea typeface="Helvetica Neue"/>
                <a:cs typeface="Helvetica Neue"/>
              </a:rPr>
              <a:t>Responding under pressure</a:t>
            </a:r>
          </a:p>
        </p:txBody>
      </p:sp>
      <p:sp>
        <p:nvSpPr>
          <p:cNvPr id="5" name="">
            <a:extLst xmlns:a="http://schemas.openxmlformats.org/drawingml/2006/main">
              <a:ext uri="{FF2B5EF4-FFF2-40B4-BE49-F238E27FC236}">
                <a16:creationId xmlns:a16="http://schemas.microsoft.com/office/drawing/2014/main" id="{0232E602-2850-4A10-8698-DEC7833CD42A}"/>
              </a:ext>
            </a:extLst>
          </p:cNvPr>
          <p:cNvSpPr>
            <a:spLocks xmlns:a="http://schemas.openxmlformats.org/drawingml/2006/main" noGrp="1"/>
          </p:cNvSpPr>
          <p:nvPr/>
        </p:nvSpPr>
        <p:spPr>
          <a:xfrm xmlns:a="http://schemas.openxmlformats.org/drawingml/2006/main">
            <a:off x="742950" y="4791075"/>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33C3A"/>
                </a:solidFill>
                <a:latin typeface="Helvetica Neue"/>
                <a:ea typeface="Helvetica Neue"/>
                <a:cs typeface="Helvetica Neue"/>
              </a:defRPr>
            </a:defPPr>
          </a:lstStyle>
          <a:p xmlns:a="http://schemas.openxmlformats.org/drawingml/2006/main">
            <a:pPr>
              <a:defRPr sz="2400" b="0">
                <a:solidFill>
                  <a:srgbClr val="133C3A"/>
                </a:solidFill>
                <a:latin typeface="Helvetica Neue"/>
                <a:ea typeface="Helvetica Neue"/>
                <a:cs typeface="Helvetica Neue"/>
              </a:defRPr>
            </a:pPr>
            <a:r>
              <a:rPr sz="2400" b="0">
                <a:solidFill>
                  <a:srgbClr val="133C3A"/>
                </a:solidFill>
                <a:latin typeface="Helvetica Neue"/>
                <a:ea typeface="Helvetica Neue"/>
                <a:cs typeface="Helvetica Neue"/>
              </a:rPr>
              <a:t>We practise for fires and emergencies.</a:t>
            </a:r>
          </a:p>
          <a:p xmlns:a="http://schemas.openxmlformats.org/drawingml/2006/main">
            <a:pPr>
              <a:defRPr sz="2400" b="0">
                <a:solidFill>
                  <a:srgbClr val="133C3A"/>
                </a:solidFill>
                <a:latin typeface="Helvetica Neue"/>
                <a:ea typeface="Helvetica Neue"/>
                <a:cs typeface="Helvetica Neue"/>
              </a:defRPr>
            </a:pPr>
            <a:r>
              <a:rPr sz="2400" b="0">
                <a:solidFill>
                  <a:srgbClr val="133C3A"/>
                </a:solidFill>
                <a:latin typeface="Helvetica Neue"/>
                <a:ea typeface="Helvetica Neue"/>
                <a:cs typeface="Helvetica Neue"/>
              </a:rPr>
              <a:t>Scam situations need practice too.</a:t>
            </a:r>
          </a:p>
        </p:txBody>
      </p:sp>
    </p:spTree>
    <p:extLst>
      <p:ext uri="{BB962C8B-B14F-4D97-AF65-F5344CB8AC3E}">
        <p14:creationId xmlns:p14="http://schemas.microsoft.com/office/powerpoint/2010/main" val="650853377"/>
      </p:ext>
    </p:extLst>
  </p:cSld>
</p:sld>
</file>

<file path=ppt/slides/slide3.xml><?xml version="1.0" encoding="utf-8"?>
<p:sld xmlns:p="http://schemas.openxmlformats.org/presentationml/2006/main">
  <p:cSld>
    <p:bg>
      <p:bgPr>
        <a:solidFill xmlns:a="http://schemas.openxmlformats.org/drawingml/2006/main">
          <a:srgbClr val="133C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E9869F-68EE-4BBD-A31A-204EF5490613}"/>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7F5EF"/>
                </a:solidFill>
                <a:latin typeface="Helvetica Neue"/>
                <a:ea typeface="Helvetica Neue"/>
                <a:cs typeface="Helvetica Neue"/>
              </a:defRPr>
            </a:defPPr>
          </a:lstStyle>
          <a:p xmlns:a="http://schemas.openxmlformats.org/drawingml/2006/main">
            <a:pPr>
              <a:defRPr sz="3900" b="1">
                <a:solidFill>
                  <a:srgbClr val="F7F5EF"/>
                </a:solidFill>
                <a:latin typeface="Helvetica Neue"/>
                <a:ea typeface="Helvetica Neue"/>
                <a:cs typeface="Helvetica Neue"/>
              </a:defRPr>
            </a:pPr>
            <a:r>
              <a:rPr sz="3900" b="1">
                <a:solidFill>
                  <a:srgbClr val="F7F5EF"/>
                </a:solidFill>
                <a:latin typeface="Helvetica Neue"/>
                <a:ea typeface="Helvetica Neue"/>
                <a:cs typeface="Helvetica Neue"/>
              </a:rPr>
              <a:t>DRILL MODE</a:t>
            </a:r>
          </a:p>
        </p:txBody>
      </p:sp>
      <p:sp>
        <p:nvSpPr>
          <p:cNvPr id="2" name="">
            <a:extLst xmlns:a="http://schemas.openxmlformats.org/drawingml/2006/main">
              <a:ext uri="{FF2B5EF4-FFF2-40B4-BE49-F238E27FC236}">
                <a16:creationId xmlns:a16="http://schemas.microsoft.com/office/drawing/2014/main" id="{9470AC2C-2B5A-41C1-A4EB-B0E536585928}"/>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C7BE"/>
                </a:solidFill>
                <a:latin typeface="Helvetica Neue"/>
                <a:ea typeface="Helvetica Neue"/>
                <a:cs typeface="Helvetica Neue"/>
              </a:defRPr>
            </a:defPPr>
          </a:lstStyle>
          <a:p xmlns:a="http://schemas.openxmlformats.org/drawingml/2006/main">
            <a:pPr>
              <a:defRPr sz="1350" b="0">
                <a:solidFill>
                  <a:srgbClr val="A9C7BE"/>
                </a:solidFill>
                <a:latin typeface="Helvetica Neue"/>
                <a:ea typeface="Helvetica Neue"/>
                <a:cs typeface="Helvetica Neue"/>
              </a:defRPr>
            </a:pPr>
            <a:r>
              <a:rPr sz="1350" b="0">
                <a:solidFill>
                  <a:srgbClr val="A9C7BE"/>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7F81319F-AF09-464D-9F53-CF7421805173}"/>
              </a:ext>
            </a:extLst>
          </p:cNvPr>
          <p:cNvSpPr>
            <a:spLocks xmlns:a="http://schemas.openxmlformats.org/drawingml/2006/main" noGrp="1"/>
          </p:cNvSpPr>
          <p:nvPr/>
        </p:nvSpPr>
        <p:spPr>
          <a:xfrm xmlns:a="http://schemas.openxmlformats.org/drawingml/2006/main">
            <a:off x="742950" y="20383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7F5EF"/>
                </a:solidFill>
                <a:latin typeface="Helvetica Neue"/>
                <a:ea typeface="Helvetica Neue"/>
                <a:cs typeface="Helvetica Neue"/>
              </a:defRPr>
            </a:defPPr>
          </a:lstStyle>
          <a:p xmlns:a="http://schemas.openxmlformats.org/drawingml/2006/main">
            <a:pPr>
              <a:defRPr sz="4800" b="1">
                <a:solidFill>
                  <a:srgbClr val="F7F5EF"/>
                </a:solidFill>
                <a:latin typeface="Helvetica Neue"/>
                <a:ea typeface="Helvetica Neue"/>
                <a:cs typeface="Helvetica Neue"/>
              </a:defRPr>
            </a:pPr>
            <a:r>
              <a:rPr sz="4800" b="1">
                <a:solidFill>
                  <a:srgbClr val="F7F5EF"/>
                </a:solidFill>
                <a:latin typeface="Helvetica Neue"/>
                <a:ea typeface="Helvetica Neue"/>
                <a:cs typeface="Helvetica Neue"/>
              </a:rPr>
              <a:t>A safe place to practise</a:t>
            </a:r>
          </a:p>
          <a:p xmlns:a="http://schemas.openxmlformats.org/drawingml/2006/main">
            <a:pPr>
              <a:defRPr sz="4800" b="1">
                <a:solidFill>
                  <a:srgbClr val="F7F5EF"/>
                </a:solidFill>
                <a:latin typeface="Helvetica Neue"/>
                <a:ea typeface="Helvetica Neue"/>
                <a:cs typeface="Helvetica Neue"/>
              </a:defRPr>
            </a:pPr>
            <a:r>
              <a:rPr sz="4800" b="1">
                <a:solidFill>
                  <a:srgbClr val="F7F5EF"/>
                </a:solidFill>
                <a:latin typeface="Helvetica Neue"/>
                <a:ea typeface="Helvetica Neue"/>
                <a:cs typeface="Helvetica Neue"/>
              </a:rPr>
              <a:t>responding to scams</a:t>
            </a:r>
          </a:p>
        </p:txBody>
      </p:sp>
      <p:sp>
        <p:nvSpPr>
          <p:cNvPr id="4" name="">
            <a:extLst xmlns:a="http://schemas.openxmlformats.org/drawingml/2006/main">
              <a:ext uri="{FF2B5EF4-FFF2-40B4-BE49-F238E27FC236}">
                <a16:creationId xmlns:a16="http://schemas.microsoft.com/office/drawing/2014/main" id="{083A5DBC-747F-4FD2-83CB-B13C9CF8ADC0}"/>
              </a:ext>
            </a:extLst>
          </p:cNvPr>
          <p:cNvSpPr>
            <a:spLocks xmlns:a="http://schemas.openxmlformats.org/drawingml/2006/main" noGrp="1"/>
          </p:cNvSpPr>
          <p:nvPr/>
        </p:nvSpPr>
        <p:spPr>
          <a:xfrm xmlns:a="http://schemas.openxmlformats.org/drawingml/2006/main">
            <a:off x="762000" y="4524375"/>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5AC83"/>
                </a:solidFill>
                <a:latin typeface="Helvetica Neue"/>
                <a:ea typeface="Helvetica Neue"/>
                <a:cs typeface="Helvetica Neue"/>
              </a:defRPr>
            </a:defPPr>
          </a:lstStyle>
          <a:p xmlns:a="http://schemas.openxmlformats.org/drawingml/2006/main">
            <a:pPr>
              <a:defRPr sz="2850" b="1">
                <a:solidFill>
                  <a:srgbClr val="F5AC83"/>
                </a:solidFill>
                <a:latin typeface="Helvetica Neue"/>
                <a:ea typeface="Helvetica Neue"/>
                <a:cs typeface="Helvetica Neue"/>
              </a:defRPr>
            </a:pPr>
            <a:r>
              <a:rPr sz="2850" b="1">
                <a:solidFill>
                  <a:srgbClr val="F5AC83"/>
                </a:solidFill>
                <a:latin typeface="Helvetica Neue"/>
                <a:ea typeface="Helvetica Neue"/>
                <a:cs typeface="Helvetica Neue"/>
              </a:rPr>
              <a:t>Practice</a:t>
            </a:r>
          </a:p>
        </p:txBody>
      </p:sp>
      <p:sp>
        <p:nvSpPr>
          <p:cNvPr id="5" name="">
            <a:extLst xmlns:a="http://schemas.openxmlformats.org/drawingml/2006/main">
              <a:ext uri="{FF2B5EF4-FFF2-40B4-BE49-F238E27FC236}">
                <a16:creationId xmlns:a16="http://schemas.microsoft.com/office/drawing/2014/main" id="{438F6EFE-E883-4BEA-90DE-378E7DF78166}"/>
              </a:ext>
            </a:extLst>
          </p:cNvPr>
          <p:cNvSpPr>
            <a:spLocks xmlns:a="http://schemas.openxmlformats.org/drawingml/2006/main" noGrp="1"/>
          </p:cNvSpPr>
          <p:nvPr/>
        </p:nvSpPr>
        <p:spPr>
          <a:xfrm xmlns:a="http://schemas.openxmlformats.org/drawingml/2006/main">
            <a:off x="762000" y="519112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7F5EF"/>
                </a:solidFill>
                <a:latin typeface="Helvetica Neue"/>
                <a:ea typeface="Helvetica Neue"/>
                <a:cs typeface="Helvetica Neue"/>
              </a:defRPr>
            </a:defPPr>
          </a:lstStyle>
          <a:p xmlns:a="http://schemas.openxmlformats.org/drawingml/2006/main">
            <a:pPr>
              <a:defRPr sz="2100" b="0">
                <a:solidFill>
                  <a:srgbClr val="F7F5EF"/>
                </a:solidFill>
                <a:latin typeface="Helvetica Neue"/>
                <a:ea typeface="Helvetica Neue"/>
                <a:cs typeface="Helvetica Neue"/>
              </a:defRPr>
            </a:pPr>
            <a:r>
              <a:rPr sz="2100" b="0">
                <a:solidFill>
                  <a:srgbClr val="F7F5EF"/>
                </a:solidFill>
                <a:latin typeface="Helvetica Neue"/>
                <a:ea typeface="Helvetica Neue"/>
                <a:cs typeface="Helvetica Neue"/>
              </a:rPr>
              <a:t>Build safer responses under pressure</a:t>
            </a:r>
          </a:p>
        </p:txBody>
      </p:sp>
      <p:sp>
        <p:nvSpPr>
          <p:cNvPr id="6" name="">
            <a:extLst xmlns:a="http://schemas.openxmlformats.org/drawingml/2006/main">
              <a:ext uri="{FF2B5EF4-FFF2-40B4-BE49-F238E27FC236}">
                <a16:creationId xmlns:a16="http://schemas.microsoft.com/office/drawing/2014/main" id="{02851991-6952-4F64-BA03-BEE525AC4D27}"/>
              </a:ext>
            </a:extLst>
          </p:cNvPr>
          <p:cNvSpPr>
            <a:spLocks xmlns:a="http://schemas.openxmlformats.org/drawingml/2006/main" noGrp="1"/>
          </p:cNvSpPr>
          <p:nvPr/>
        </p:nvSpPr>
        <p:spPr>
          <a:xfrm xmlns:a="http://schemas.openxmlformats.org/drawingml/2006/main">
            <a:off x="6572250" y="4524375"/>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5AC83"/>
                </a:solidFill>
                <a:latin typeface="Helvetica Neue"/>
                <a:ea typeface="Helvetica Neue"/>
                <a:cs typeface="Helvetica Neue"/>
              </a:defRPr>
            </a:defPPr>
          </a:lstStyle>
          <a:p xmlns:a="http://schemas.openxmlformats.org/drawingml/2006/main">
            <a:pPr>
              <a:defRPr sz="2850" b="1">
                <a:solidFill>
                  <a:srgbClr val="F5AC83"/>
                </a:solidFill>
                <a:latin typeface="Helvetica Neue"/>
                <a:ea typeface="Helvetica Neue"/>
                <a:cs typeface="Helvetica Neue"/>
              </a:defRPr>
            </a:pPr>
            <a:r>
              <a:rPr sz="2850" b="1">
                <a:solidFill>
                  <a:srgbClr val="F5AC83"/>
                </a:solidFill>
                <a:latin typeface="Helvetica Neue"/>
                <a:ea typeface="Helvetica Neue"/>
                <a:cs typeface="Helvetica Neue"/>
              </a:rPr>
              <a:t>Family</a:t>
            </a:r>
          </a:p>
        </p:txBody>
      </p:sp>
      <p:sp>
        <p:nvSpPr>
          <p:cNvPr id="7" name="">
            <a:extLst xmlns:a="http://schemas.openxmlformats.org/drawingml/2006/main">
              <a:ext uri="{FF2B5EF4-FFF2-40B4-BE49-F238E27FC236}">
                <a16:creationId xmlns:a16="http://schemas.microsoft.com/office/drawing/2014/main" id="{B3953DA9-0E71-4773-A08C-2C90CD983C85}"/>
              </a:ext>
            </a:extLst>
          </p:cNvPr>
          <p:cNvSpPr>
            <a:spLocks xmlns:a="http://schemas.openxmlformats.org/drawingml/2006/main" noGrp="1"/>
          </p:cNvSpPr>
          <p:nvPr/>
        </p:nvSpPr>
        <p:spPr>
          <a:xfrm xmlns:a="http://schemas.openxmlformats.org/drawingml/2006/main">
            <a:off x="6572250" y="5191125"/>
            <a:ext cx="4667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7F5EF"/>
                </a:solidFill>
                <a:latin typeface="Helvetica Neue"/>
                <a:ea typeface="Helvetica Neue"/>
                <a:cs typeface="Helvetica Neue"/>
              </a:defRPr>
            </a:defPPr>
          </a:lstStyle>
          <a:p xmlns:a="http://schemas.openxmlformats.org/drawingml/2006/main">
            <a:pPr>
              <a:defRPr sz="2100" b="0">
                <a:solidFill>
                  <a:srgbClr val="F7F5EF"/>
                </a:solidFill>
                <a:latin typeface="Helvetica Neue"/>
                <a:ea typeface="Helvetica Neue"/>
                <a:cs typeface="Helvetica Neue"/>
              </a:defRPr>
            </a:pPr>
            <a:r>
              <a:rPr sz="2100" b="0">
                <a:solidFill>
                  <a:srgbClr val="F7F5EF"/>
                </a:solidFill>
                <a:latin typeface="Helvetica Neue"/>
                <a:ea typeface="Helvetica Neue"/>
                <a:cs typeface="Helvetica Neue"/>
              </a:rPr>
              <a:t>Make asking for help feel normal</a:t>
            </a:r>
          </a:p>
        </p:txBody>
      </p:sp>
    </p:spTree>
    <p:extLst>
      <p:ext uri="{BB962C8B-B14F-4D97-AF65-F5344CB8AC3E}">
        <p14:creationId xmlns:p14="http://schemas.microsoft.com/office/powerpoint/2010/main" val="117655770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423A43-09FF-43C1-B3C4-E122F8A59159}"/>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Drill Mode in action</a:t>
            </a:r>
          </a:p>
        </p:txBody>
      </p:sp>
      <p:sp>
        <p:nvSpPr>
          <p:cNvPr id="2" name="">
            <a:extLst xmlns:a="http://schemas.openxmlformats.org/drawingml/2006/main">
              <a:ext uri="{FF2B5EF4-FFF2-40B4-BE49-F238E27FC236}">
                <a16:creationId xmlns:a16="http://schemas.microsoft.com/office/drawing/2014/main" id="{8C5E888A-52D6-4DC2-87F3-5AC3A6BC7B50}"/>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716E"/>
                </a:solidFill>
                <a:latin typeface="Helvetica Neue"/>
                <a:ea typeface="Helvetica Neue"/>
                <a:cs typeface="Helvetica Neue"/>
              </a:defRPr>
            </a:defPPr>
          </a:lstStyle>
          <a:p xmlns:a="http://schemas.openxmlformats.org/drawingml/2006/main">
            <a:pPr>
              <a:defRPr sz="1350" b="0">
                <a:solidFill>
                  <a:srgbClr val="52716E"/>
                </a:solidFill>
                <a:latin typeface="Helvetica Neue"/>
                <a:ea typeface="Helvetica Neue"/>
                <a:cs typeface="Helvetica Neue"/>
              </a:defRPr>
            </a:pPr>
            <a:r>
              <a:rPr sz="1350" b="0">
                <a:solidFill>
                  <a:srgbClr val="52716E"/>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68B785AD-6A45-4BF6-A831-5D3B3DE93DD8}"/>
              </a:ext>
            </a:extLst>
          </p:cNvPr>
          <p:cNvSpPr>
            <a:spLocks xmlns:a="http://schemas.openxmlformats.org/drawingml/2006/main" noGrp="1"/>
          </p:cNvSpPr>
          <p:nvPr/>
        </p:nvSpPr>
        <p:spPr>
          <a:xfrm xmlns:a="http://schemas.openxmlformats.org/drawingml/2006/main">
            <a:off x="742950" y="1924050"/>
            <a:ext cx="10477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52716E"/>
                </a:solidFill>
                <a:latin typeface="Helvetica Neue"/>
                <a:ea typeface="Helvetica Neue"/>
                <a:cs typeface="Helvetica Neue"/>
              </a:defRPr>
            </a:defPPr>
          </a:lstStyle>
          <a:p xmlns:a="http://schemas.openxmlformats.org/drawingml/2006/main">
            <a:pPr>
              <a:defRPr sz="4950" b="1">
                <a:solidFill>
                  <a:srgbClr val="52716E"/>
                </a:solidFill>
                <a:latin typeface="Helvetica Neue"/>
                <a:ea typeface="Helvetica Neue"/>
                <a:cs typeface="Helvetica Neue"/>
              </a:defRPr>
            </a:pPr>
            <a:r>
              <a:rPr sz="4950" b="1">
                <a:solidFill>
                  <a:srgbClr val="52716E"/>
                </a:solidFill>
                <a:latin typeface="Helvetica Neue"/>
                <a:ea typeface="Helvetica Neue"/>
                <a:cs typeface="Helvetica Neue"/>
              </a:rPr>
              <a:t>DEMO VIDEO</a:t>
            </a:r>
          </a:p>
        </p:txBody>
      </p:sp>
      <p:sp>
        <p:nvSpPr>
          <p:cNvPr id="4" name="">
            <a:extLst xmlns:a="http://schemas.openxmlformats.org/drawingml/2006/main">
              <a:ext uri="{FF2B5EF4-FFF2-40B4-BE49-F238E27FC236}">
                <a16:creationId xmlns:a16="http://schemas.microsoft.com/office/drawing/2014/main" id="{2A4E55B3-E1D3-42C8-B5DC-EBAF3D893B7A}"/>
              </a:ext>
            </a:extLst>
          </p:cNvPr>
          <p:cNvSpPr>
            <a:spLocks xmlns:a="http://schemas.openxmlformats.org/drawingml/2006/main" noGrp="1"/>
          </p:cNvSpPr>
          <p:nvPr/>
        </p:nvSpPr>
        <p:spPr>
          <a:xfrm xmlns:a="http://schemas.openxmlformats.org/drawingml/2006/main">
            <a:off x="742950" y="49149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3C3A"/>
                </a:solidFill>
                <a:latin typeface="Helvetica Neue"/>
                <a:ea typeface="Helvetica Neue"/>
                <a:cs typeface="Helvetica Neue"/>
              </a:defRPr>
            </a:defPPr>
          </a:lstStyle>
          <a:p xmlns:a="http://schemas.openxmlformats.org/drawingml/2006/main">
            <a:pPr>
              <a:defRPr sz="2400" b="1">
                <a:solidFill>
                  <a:srgbClr val="133C3A"/>
                </a:solidFill>
                <a:latin typeface="Helvetica Neue"/>
                <a:ea typeface="Helvetica Neue"/>
                <a:cs typeface="Helvetica Neue"/>
              </a:defRPr>
            </a:pPr>
            <a:r>
              <a:rPr sz="2400" b="1">
                <a:solidFill>
                  <a:srgbClr val="133C3A"/>
                </a:solidFill>
                <a:latin typeface="Helvetica Neue"/>
                <a:ea typeface="Helvetica Neue"/>
                <a:cs typeface="Helvetica Neue"/>
              </a:rPr>
              <a:t>A personalised experience in a virtual house</a:t>
            </a:r>
          </a:p>
        </p:txBody>
      </p:sp>
      <p:sp>
        <p:nvSpPr>
          <p:cNvPr id="5" name="">
            <a:extLst xmlns:a="http://schemas.openxmlformats.org/drawingml/2006/main">
              <a:ext uri="{FF2B5EF4-FFF2-40B4-BE49-F238E27FC236}">
                <a16:creationId xmlns:a16="http://schemas.microsoft.com/office/drawing/2014/main" id="{16BF33BD-7DE7-44A0-AE6B-92CD67994E02}"/>
              </a:ext>
            </a:extLst>
          </p:cNvPr>
          <p:cNvSpPr>
            <a:spLocks xmlns:a="http://schemas.openxmlformats.org/drawingml/2006/main" noGrp="1"/>
          </p:cNvSpPr>
          <p:nvPr/>
        </p:nvSpPr>
        <p:spPr>
          <a:xfrm xmlns:a="http://schemas.openxmlformats.org/drawingml/2006/main">
            <a:off x="742950" y="5619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716E"/>
                </a:solidFill>
                <a:latin typeface="Helvetica Neue"/>
                <a:ea typeface="Helvetica Neue"/>
                <a:cs typeface="Helvetica Neue"/>
              </a:defRPr>
            </a:defPPr>
          </a:lstStyle>
          <a:p xmlns:a="http://schemas.openxmlformats.org/drawingml/2006/main">
            <a:pPr>
              <a:defRPr sz="2100" b="0">
                <a:solidFill>
                  <a:srgbClr val="52716E"/>
                </a:solidFill>
                <a:latin typeface="Helvetica Neue"/>
                <a:ea typeface="Helvetica Neue"/>
                <a:cs typeface="Helvetica Neue"/>
              </a:defRPr>
            </a:pPr>
            <a:r>
              <a:rPr sz="2100" b="0">
                <a:solidFill>
                  <a:srgbClr val="52716E"/>
                </a:solidFill>
                <a:latin typeface="Helvetica Neue"/>
                <a:ea typeface="Helvetica Neue"/>
                <a:cs typeface="Helvetica Neue"/>
              </a:rPr>
              <a:t>House chat &amp; Pixi     Scam drills     Coins &amp; store</a:t>
            </a:r>
          </a:p>
        </p:txBody>
      </p:sp>
    </p:spTree>
    <p:extLst>
      <p:ext uri="{BB962C8B-B14F-4D97-AF65-F5344CB8AC3E}">
        <p14:creationId xmlns:p14="http://schemas.microsoft.com/office/powerpoint/2010/main" val="266376669"/>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56D22B-75D3-4B6D-9CB3-1D94C4F6BD32}"/>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What Drill Mode adds</a:t>
            </a:r>
          </a:p>
        </p:txBody>
      </p:sp>
      <p:sp>
        <p:nvSpPr>
          <p:cNvPr id="2" name="">
            <a:extLst xmlns:a="http://schemas.openxmlformats.org/drawingml/2006/main">
              <a:ext uri="{FF2B5EF4-FFF2-40B4-BE49-F238E27FC236}">
                <a16:creationId xmlns:a16="http://schemas.microsoft.com/office/drawing/2014/main" id="{3C1D79B9-D916-48BC-82CD-93B3E17AE9A8}"/>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716E"/>
                </a:solidFill>
                <a:latin typeface="Helvetica Neue"/>
                <a:ea typeface="Helvetica Neue"/>
                <a:cs typeface="Helvetica Neue"/>
              </a:defRPr>
            </a:defPPr>
          </a:lstStyle>
          <a:p xmlns:a="http://schemas.openxmlformats.org/drawingml/2006/main">
            <a:pPr>
              <a:defRPr sz="1350" b="0">
                <a:solidFill>
                  <a:srgbClr val="52716E"/>
                </a:solidFill>
                <a:latin typeface="Helvetica Neue"/>
                <a:ea typeface="Helvetica Neue"/>
                <a:cs typeface="Helvetica Neue"/>
              </a:defRPr>
            </a:pPr>
            <a:r>
              <a:rPr sz="1350" b="0">
                <a:solidFill>
                  <a:srgbClr val="52716E"/>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F2FBF713-F95B-4DC2-973F-F71972E13FF8}"/>
              </a:ext>
            </a:extLst>
          </p:cNvPr>
          <p:cNvSpPr>
            <a:spLocks xmlns:a="http://schemas.openxmlformats.org/drawingml/2006/main" noGrp="1"/>
          </p:cNvSpPr>
          <p:nvPr/>
        </p:nvSpPr>
        <p:spPr>
          <a:xfrm xmlns:a="http://schemas.openxmlformats.org/drawingml/2006/main">
            <a:off x="742950" y="21526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Practice before it happens</a:t>
            </a:r>
          </a:p>
        </p:txBody>
      </p:sp>
      <p:sp>
        <p:nvSpPr>
          <p:cNvPr id="4" name="">
            <a:extLst xmlns:a="http://schemas.openxmlformats.org/drawingml/2006/main">
              <a:ext uri="{FF2B5EF4-FFF2-40B4-BE49-F238E27FC236}">
                <a16:creationId xmlns:a16="http://schemas.microsoft.com/office/drawing/2014/main" id="{DE29725A-6BE6-4113-B72C-A4E9EA7C4DBA}"/>
              </a:ext>
            </a:extLst>
          </p:cNvPr>
          <p:cNvSpPr>
            <a:spLocks xmlns:a="http://schemas.openxmlformats.org/drawingml/2006/main" noGrp="1"/>
          </p:cNvSpPr>
          <p:nvPr/>
        </p:nvSpPr>
        <p:spPr>
          <a:xfrm xmlns:a="http://schemas.openxmlformats.org/drawingml/2006/main">
            <a:off x="742950" y="29908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2716E"/>
                </a:solidFill>
                <a:latin typeface="Helvetica Neue"/>
                <a:ea typeface="Helvetica Neue"/>
                <a:cs typeface="Helvetica Neue"/>
              </a:defRPr>
            </a:defPPr>
          </a:lstStyle>
          <a:p xmlns:a="http://schemas.openxmlformats.org/drawingml/2006/main">
            <a:pPr>
              <a:defRPr sz="2250" b="0">
                <a:solidFill>
                  <a:srgbClr val="52716E"/>
                </a:solidFill>
                <a:latin typeface="Helvetica Neue"/>
                <a:ea typeface="Helvetica Neue"/>
                <a:cs typeface="Helvetica Neue"/>
              </a:defRPr>
            </a:pPr>
            <a:r>
              <a:rPr sz="2250" b="0">
                <a:solidFill>
                  <a:srgbClr val="52716E"/>
                </a:solidFill>
                <a:latin typeface="Helvetica Neue"/>
                <a:ea typeface="Helvetica Neue"/>
                <a:cs typeface="Helvetica Neue"/>
              </a:rPr>
              <a:t>Experience the pressure. Make decisions safely.</a:t>
            </a:r>
          </a:p>
        </p:txBody>
      </p:sp>
      <p:sp>
        <p:nvSpPr>
          <p:cNvPr id="5" name="">
            <a:extLst xmlns:a="http://schemas.openxmlformats.org/drawingml/2006/main">
              <a:ext uri="{FF2B5EF4-FFF2-40B4-BE49-F238E27FC236}">
                <a16:creationId xmlns:a16="http://schemas.microsoft.com/office/drawing/2014/main" id="{A2E0F362-86BE-4658-A0E7-6E19B843C03D}"/>
              </a:ext>
            </a:extLst>
          </p:cNvPr>
          <p:cNvSpPr>
            <a:spLocks xmlns:a="http://schemas.openxmlformats.org/drawingml/2006/main" noGrp="1"/>
          </p:cNvSpPr>
          <p:nvPr/>
        </p:nvSpPr>
        <p:spPr>
          <a:xfrm xmlns:a="http://schemas.openxmlformats.org/drawingml/2006/main">
            <a:off x="742950" y="41719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Face it together</a:t>
            </a:r>
          </a:p>
        </p:txBody>
      </p:sp>
      <p:sp>
        <p:nvSpPr>
          <p:cNvPr id="6" name="">
            <a:extLst xmlns:a="http://schemas.openxmlformats.org/drawingml/2006/main">
              <a:ext uri="{FF2B5EF4-FFF2-40B4-BE49-F238E27FC236}">
                <a16:creationId xmlns:a16="http://schemas.microsoft.com/office/drawing/2014/main" id="{7F0264C2-CD0B-4ACB-8496-AA1CD48930D9}"/>
              </a:ext>
            </a:extLst>
          </p:cNvPr>
          <p:cNvSpPr>
            <a:spLocks xmlns:a="http://schemas.openxmlformats.org/drawingml/2006/main" noGrp="1"/>
          </p:cNvSpPr>
          <p:nvPr/>
        </p:nvSpPr>
        <p:spPr>
          <a:xfrm xmlns:a="http://schemas.openxmlformats.org/drawingml/2006/main">
            <a:off x="742950" y="50101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2716E"/>
                </a:solidFill>
                <a:latin typeface="Helvetica Neue"/>
                <a:ea typeface="Helvetica Neue"/>
                <a:cs typeface="Helvetica Neue"/>
              </a:defRPr>
            </a:defPPr>
          </a:lstStyle>
          <a:p xmlns:a="http://schemas.openxmlformats.org/drawingml/2006/main">
            <a:pPr>
              <a:defRPr sz="2250" b="0">
                <a:solidFill>
                  <a:srgbClr val="52716E"/>
                </a:solidFill>
                <a:latin typeface="Helvetica Neue"/>
                <a:ea typeface="Helvetica Neue"/>
                <a:cs typeface="Helvetica Neue"/>
              </a:defRPr>
            </a:pPr>
            <a:r>
              <a:rPr sz="2250" b="0">
                <a:solidFill>
                  <a:srgbClr val="52716E"/>
                </a:solidFill>
                <a:latin typeface="Helvetica Neue"/>
                <a:ea typeface="Helvetica Neue"/>
                <a:cs typeface="Helvetica Neue"/>
              </a:rPr>
              <a:t>Normalise scam conversations and asking for help.</a:t>
            </a:r>
          </a:p>
        </p:txBody>
      </p:sp>
    </p:spTree>
    <p:extLst>
      <p:ext uri="{BB962C8B-B14F-4D97-AF65-F5344CB8AC3E}">
        <p14:creationId xmlns:p14="http://schemas.microsoft.com/office/powerpoint/2010/main" val="1110401303"/>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BFD6CD-7C71-47AB-A3C4-8D75F818E368}"/>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Bringing Drill Mode to Singaporeans</a:t>
            </a:r>
          </a:p>
        </p:txBody>
      </p:sp>
      <p:sp>
        <p:nvSpPr>
          <p:cNvPr id="2" name="">
            <a:extLst xmlns:a="http://schemas.openxmlformats.org/drawingml/2006/main">
              <a:ext uri="{FF2B5EF4-FFF2-40B4-BE49-F238E27FC236}">
                <a16:creationId xmlns:a16="http://schemas.microsoft.com/office/drawing/2014/main" id="{8D5F1CDC-3017-4C2E-A67B-F9F64DA0E313}"/>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716E"/>
                </a:solidFill>
                <a:latin typeface="Helvetica Neue"/>
                <a:ea typeface="Helvetica Neue"/>
                <a:cs typeface="Helvetica Neue"/>
              </a:defRPr>
            </a:defPPr>
          </a:lstStyle>
          <a:p xmlns:a="http://schemas.openxmlformats.org/drawingml/2006/main">
            <a:pPr>
              <a:defRPr sz="1350" b="0">
                <a:solidFill>
                  <a:srgbClr val="52716E"/>
                </a:solidFill>
                <a:latin typeface="Helvetica Neue"/>
                <a:ea typeface="Helvetica Neue"/>
                <a:cs typeface="Helvetica Neue"/>
              </a:defRPr>
            </a:pPr>
            <a:r>
              <a:rPr sz="1350" b="0">
                <a:solidFill>
                  <a:srgbClr val="52716E"/>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A5EA2F6-F32B-4D22-8041-9BFC52722BC9}"/>
              </a:ext>
            </a:extLst>
          </p:cNvPr>
          <p:cNvSpPr>
            <a:spLocks xmlns:a="http://schemas.openxmlformats.org/drawingml/2006/main" noGrp="1"/>
          </p:cNvSpPr>
          <p:nvPr/>
        </p:nvSpPr>
        <p:spPr>
          <a:xfrm xmlns:a="http://schemas.openxmlformats.org/drawingml/2006/main">
            <a:off x="742950" y="1971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33C3A"/>
                </a:solidFill>
                <a:latin typeface="Helvetica Neue"/>
                <a:ea typeface="Helvetica Neue"/>
                <a:cs typeface="Helvetica Neue"/>
              </a:defRPr>
            </a:defPPr>
          </a:lstStyle>
          <a:p xmlns:a="http://schemas.openxmlformats.org/drawingml/2006/main">
            <a:pPr>
              <a:defRPr sz="3000" b="1">
                <a:solidFill>
                  <a:srgbClr val="133C3A"/>
                </a:solidFill>
                <a:latin typeface="Helvetica Neue"/>
                <a:ea typeface="Helvetica Neue"/>
                <a:cs typeface="Helvetica Neue"/>
              </a:defRPr>
            </a:pPr>
            <a:r>
              <a:rPr sz="3000" b="1">
                <a:solidFill>
                  <a:srgbClr val="133C3A"/>
                </a:solidFill>
                <a:latin typeface="Helvetica Neue"/>
                <a:ea typeface="Helvetica Neue"/>
                <a:cs typeface="Helvetica Neue"/>
              </a:rPr>
              <a:t>Schools</a:t>
            </a:r>
          </a:p>
        </p:txBody>
      </p:sp>
      <p:sp>
        <p:nvSpPr>
          <p:cNvPr id="4" name="">
            <a:extLst xmlns:a="http://schemas.openxmlformats.org/drawingml/2006/main">
              <a:ext uri="{FF2B5EF4-FFF2-40B4-BE49-F238E27FC236}">
                <a16:creationId xmlns:a16="http://schemas.microsoft.com/office/drawing/2014/main" id="{143C1265-7509-4CEC-80C7-952F28A5F764}"/>
              </a:ext>
            </a:extLst>
          </p:cNvPr>
          <p:cNvSpPr>
            <a:spLocks xmlns:a="http://schemas.openxmlformats.org/drawingml/2006/main" noGrp="1"/>
          </p:cNvSpPr>
          <p:nvPr/>
        </p:nvSpPr>
        <p:spPr>
          <a:xfrm xmlns:a="http://schemas.openxmlformats.org/drawingml/2006/main">
            <a:off x="742950" y="2619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716E"/>
                </a:solidFill>
                <a:latin typeface="Helvetica Neue"/>
                <a:ea typeface="Helvetica Neue"/>
                <a:cs typeface="Helvetica Neue"/>
              </a:defRPr>
            </a:defPPr>
          </a:lstStyle>
          <a:p xmlns:a="http://schemas.openxmlformats.org/drawingml/2006/main">
            <a:pPr>
              <a:defRPr sz="2100" b="0">
                <a:solidFill>
                  <a:srgbClr val="52716E"/>
                </a:solidFill>
                <a:latin typeface="Helvetica Neue"/>
                <a:ea typeface="Helvetica Neue"/>
                <a:cs typeface="Helvetica Neue"/>
              </a:defRPr>
            </a:pPr>
            <a:r>
              <a:rPr sz="2100" b="0">
                <a:solidFill>
                  <a:srgbClr val="52716E"/>
                </a:solidFill>
                <a:latin typeface="Helvetica Neue"/>
                <a:ea typeface="Helvetica Neue"/>
                <a:cs typeface="Helvetica Neue"/>
              </a:rPr>
              <a:t>Students bring scam practice home</a:t>
            </a:r>
          </a:p>
        </p:txBody>
      </p:sp>
      <p:sp>
        <p:nvSpPr>
          <p:cNvPr id="5" name="">
            <a:extLst xmlns:a="http://schemas.openxmlformats.org/drawingml/2006/main">
              <a:ext uri="{FF2B5EF4-FFF2-40B4-BE49-F238E27FC236}">
                <a16:creationId xmlns:a16="http://schemas.microsoft.com/office/drawing/2014/main" id="{C4D5B0A8-5E9C-4389-A25A-C1FE66CEBF77}"/>
              </a:ext>
            </a:extLst>
          </p:cNvPr>
          <p:cNvSpPr>
            <a:spLocks xmlns:a="http://schemas.openxmlformats.org/drawingml/2006/main" noGrp="1"/>
          </p:cNvSpPr>
          <p:nvPr/>
        </p:nvSpPr>
        <p:spPr>
          <a:xfrm xmlns:a="http://schemas.openxmlformats.org/drawingml/2006/main">
            <a:off x="742950" y="33623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33C3A"/>
                </a:solidFill>
                <a:latin typeface="Helvetica Neue"/>
                <a:ea typeface="Helvetica Neue"/>
                <a:cs typeface="Helvetica Neue"/>
              </a:defRPr>
            </a:defPPr>
          </a:lstStyle>
          <a:p xmlns:a="http://schemas.openxmlformats.org/drawingml/2006/main">
            <a:pPr>
              <a:defRPr sz="2550" b="1">
                <a:solidFill>
                  <a:srgbClr val="133C3A"/>
                </a:solidFill>
                <a:latin typeface="Helvetica Neue"/>
                <a:ea typeface="Helvetica Neue"/>
                <a:cs typeface="Helvetica Neue"/>
              </a:defRPr>
            </a:pPr>
            <a:r>
              <a:rPr sz="2550" b="1">
                <a:solidFill>
                  <a:srgbClr val="133C3A"/>
                </a:solidFill>
                <a:latin typeface="Helvetica Neue"/>
                <a:ea typeface="Helvetica Neue"/>
                <a:cs typeface="Helvetica Neue"/>
              </a:rPr>
              <a:t>Community centres &amp; Active Ageing Centres</a:t>
            </a:r>
          </a:p>
        </p:txBody>
      </p:sp>
      <p:sp>
        <p:nvSpPr>
          <p:cNvPr id="6" name="">
            <a:extLst xmlns:a="http://schemas.openxmlformats.org/drawingml/2006/main">
              <a:ext uri="{FF2B5EF4-FFF2-40B4-BE49-F238E27FC236}">
                <a16:creationId xmlns:a16="http://schemas.microsoft.com/office/drawing/2014/main" id="{35A98B66-8CAE-4DAD-8A34-915115430BB3}"/>
              </a:ext>
            </a:extLst>
          </p:cNvPr>
          <p:cNvSpPr>
            <a:spLocks xmlns:a="http://schemas.openxmlformats.org/drawingml/2006/main" noGrp="1"/>
          </p:cNvSpPr>
          <p:nvPr/>
        </p:nvSpPr>
        <p:spPr>
          <a:xfrm xmlns:a="http://schemas.openxmlformats.org/drawingml/2006/main">
            <a:off x="742950" y="40100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716E"/>
                </a:solidFill>
                <a:latin typeface="Helvetica Neue"/>
                <a:ea typeface="Helvetica Neue"/>
                <a:cs typeface="Helvetica Neue"/>
              </a:defRPr>
            </a:defPPr>
          </a:lstStyle>
          <a:p xmlns:a="http://schemas.openxmlformats.org/drawingml/2006/main">
            <a:pPr>
              <a:defRPr sz="2100" b="0">
                <a:solidFill>
                  <a:srgbClr val="52716E"/>
                </a:solidFill>
                <a:latin typeface="Helvetica Neue"/>
                <a:ea typeface="Helvetica Neue"/>
                <a:cs typeface="Helvetica Neue"/>
              </a:defRPr>
            </a:pPr>
            <a:r>
              <a:rPr sz="2100" b="0">
                <a:solidFill>
                  <a:srgbClr val="52716E"/>
                </a:solidFill>
                <a:latin typeface="Helvetica Neue"/>
                <a:ea typeface="Helvetica Neue"/>
                <a:cs typeface="Helvetica Neue"/>
              </a:rPr>
              <a:t>Guided sessions in a supportive setting</a:t>
            </a:r>
          </a:p>
        </p:txBody>
      </p:sp>
      <p:sp>
        <p:nvSpPr>
          <p:cNvPr id="7" name="">
            <a:extLst xmlns:a="http://schemas.openxmlformats.org/drawingml/2006/main">
              <a:ext uri="{FF2B5EF4-FFF2-40B4-BE49-F238E27FC236}">
                <a16:creationId xmlns:a16="http://schemas.microsoft.com/office/drawing/2014/main" id="{454DAC4A-F9BE-4C32-A3EC-FA170075EB79}"/>
              </a:ext>
            </a:extLst>
          </p:cNvPr>
          <p:cNvSpPr>
            <a:spLocks xmlns:a="http://schemas.openxmlformats.org/drawingml/2006/main" noGrp="1"/>
          </p:cNvSpPr>
          <p:nvPr/>
        </p:nvSpPr>
        <p:spPr>
          <a:xfrm xmlns:a="http://schemas.openxmlformats.org/drawingml/2006/main">
            <a:off x="742950" y="47529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33C3A"/>
                </a:solidFill>
                <a:latin typeface="Helvetica Neue"/>
                <a:ea typeface="Helvetica Neue"/>
                <a:cs typeface="Helvetica Neue"/>
              </a:defRPr>
            </a:defPPr>
          </a:lstStyle>
          <a:p xmlns:a="http://schemas.openxmlformats.org/drawingml/2006/main">
            <a:pPr>
              <a:defRPr sz="3000" b="1">
                <a:solidFill>
                  <a:srgbClr val="133C3A"/>
                </a:solidFill>
                <a:latin typeface="Helvetica Neue"/>
                <a:ea typeface="Helvetica Neue"/>
                <a:cs typeface="Helvetica Neue"/>
              </a:defRPr>
            </a:pPr>
            <a:r>
              <a:rPr sz="3000" b="1">
                <a:solidFill>
                  <a:srgbClr val="133C3A"/>
                </a:solidFill>
                <a:latin typeface="Helvetica Neue"/>
                <a:ea typeface="Helvetica Neue"/>
                <a:cs typeface="Helvetica Neue"/>
              </a:rPr>
              <a:t>Public-private partnerships</a:t>
            </a:r>
          </a:p>
        </p:txBody>
      </p:sp>
      <p:sp>
        <p:nvSpPr>
          <p:cNvPr id="8" name="">
            <a:extLst xmlns:a="http://schemas.openxmlformats.org/drawingml/2006/main">
              <a:ext uri="{FF2B5EF4-FFF2-40B4-BE49-F238E27FC236}">
                <a16:creationId xmlns:a16="http://schemas.microsoft.com/office/drawing/2014/main" id="{EBE593B9-7EA4-411E-957B-8B089C3841B1}"/>
              </a:ext>
            </a:extLst>
          </p:cNvPr>
          <p:cNvSpPr>
            <a:spLocks xmlns:a="http://schemas.openxmlformats.org/drawingml/2006/main" noGrp="1"/>
          </p:cNvSpPr>
          <p:nvPr/>
        </p:nvSpPr>
        <p:spPr>
          <a:xfrm xmlns:a="http://schemas.openxmlformats.org/drawingml/2006/main">
            <a:off x="742950" y="5400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2716E"/>
                </a:solidFill>
                <a:latin typeface="Helvetica Neue"/>
                <a:ea typeface="Helvetica Neue"/>
                <a:cs typeface="Helvetica Neue"/>
              </a:defRPr>
            </a:defPPr>
          </a:lstStyle>
          <a:p xmlns:a="http://schemas.openxmlformats.org/drawingml/2006/main">
            <a:pPr>
              <a:defRPr sz="2100" b="0">
                <a:solidFill>
                  <a:srgbClr val="52716E"/>
                </a:solidFill>
                <a:latin typeface="Helvetica Neue"/>
                <a:ea typeface="Helvetica Neue"/>
                <a:cs typeface="Helvetica Neue"/>
              </a:defRPr>
            </a:pPr>
            <a:r>
              <a:rPr sz="2100" b="0">
                <a:solidFill>
                  <a:srgbClr val="52716E"/>
                </a:solidFill>
                <a:latin typeface="Helvetica Neue"/>
                <a:ea typeface="Helvetica Neue"/>
                <a:cs typeface="Helvetica Neue"/>
              </a:rPr>
              <a:t>Explore collaborations to reach more communities</a:t>
            </a:r>
          </a:p>
        </p:txBody>
      </p:sp>
    </p:spTree>
    <p:extLst>
      <p:ext uri="{BB962C8B-B14F-4D97-AF65-F5344CB8AC3E}">
        <p14:creationId xmlns:p14="http://schemas.microsoft.com/office/powerpoint/2010/main" val="1579956263"/>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F3C959-FD0D-450D-87FB-621B06A8D9A4}"/>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Measuring safer decisions</a:t>
            </a:r>
          </a:p>
        </p:txBody>
      </p:sp>
      <p:sp>
        <p:nvSpPr>
          <p:cNvPr id="2" name="">
            <a:extLst xmlns:a="http://schemas.openxmlformats.org/drawingml/2006/main">
              <a:ext uri="{FF2B5EF4-FFF2-40B4-BE49-F238E27FC236}">
                <a16:creationId xmlns:a16="http://schemas.microsoft.com/office/drawing/2014/main" id="{73CCB181-72AA-4112-B57B-CB26E98E042A}"/>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716E"/>
                </a:solidFill>
                <a:latin typeface="Helvetica Neue"/>
                <a:ea typeface="Helvetica Neue"/>
                <a:cs typeface="Helvetica Neue"/>
              </a:defRPr>
            </a:defPPr>
          </a:lstStyle>
          <a:p xmlns:a="http://schemas.openxmlformats.org/drawingml/2006/main">
            <a:pPr>
              <a:defRPr sz="1350" b="0">
                <a:solidFill>
                  <a:srgbClr val="52716E"/>
                </a:solidFill>
                <a:latin typeface="Helvetica Neue"/>
                <a:ea typeface="Helvetica Neue"/>
                <a:cs typeface="Helvetica Neue"/>
              </a:defRPr>
            </a:pPr>
            <a:r>
              <a:rPr sz="1350" b="0">
                <a:solidFill>
                  <a:srgbClr val="52716E"/>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5F3FBA97-2BC1-4FB9-8A1F-EC3D0A4AE952}"/>
              </a:ext>
            </a:extLst>
          </p:cNvPr>
          <p:cNvSpPr>
            <a:spLocks xmlns:a="http://schemas.openxmlformats.org/drawingml/2006/main" noGrp="1"/>
          </p:cNvSpPr>
          <p:nvPr/>
        </p:nvSpPr>
        <p:spPr>
          <a:xfrm xmlns:a="http://schemas.openxmlformats.org/drawingml/2006/main">
            <a:off x="742950" y="19907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3C3A"/>
                </a:solidFill>
                <a:latin typeface="Helvetica Neue"/>
                <a:ea typeface="Helvetica Neue"/>
                <a:cs typeface="Helvetica Neue"/>
              </a:defRPr>
            </a:defPPr>
          </a:lstStyle>
          <a:p xmlns:a="http://schemas.openxmlformats.org/drawingml/2006/main">
            <a:pPr>
              <a:defRPr sz="3900" b="1">
                <a:solidFill>
                  <a:srgbClr val="133C3A"/>
                </a:solidFill>
                <a:latin typeface="Helvetica Neue"/>
                <a:ea typeface="Helvetica Neue"/>
                <a:cs typeface="Helvetica Neue"/>
              </a:defRPr>
            </a:pPr>
            <a:r>
              <a:rPr sz="3900" b="1">
                <a:solidFill>
                  <a:srgbClr val="133C3A"/>
                </a:solidFill>
                <a:latin typeface="Helvetica Neue"/>
                <a:ea typeface="Helvetica Neue"/>
                <a:cs typeface="Helvetica Neue"/>
              </a:rPr>
              <a:t>Before and after practice</a:t>
            </a:r>
          </a:p>
        </p:txBody>
      </p:sp>
      <p:sp>
        <p:nvSpPr>
          <p:cNvPr id="4" name="">
            <a:extLst xmlns:a="http://schemas.openxmlformats.org/drawingml/2006/main">
              <a:ext uri="{FF2B5EF4-FFF2-40B4-BE49-F238E27FC236}">
                <a16:creationId xmlns:a16="http://schemas.microsoft.com/office/drawing/2014/main" id="{4B9E66E7-722C-4E23-AB78-8F6991D2CF67}"/>
              </a:ext>
            </a:extLst>
          </p:cNvPr>
          <p:cNvSpPr>
            <a:spLocks xmlns:a="http://schemas.openxmlformats.org/drawingml/2006/main" noGrp="1"/>
          </p:cNvSpPr>
          <p:nvPr/>
        </p:nvSpPr>
        <p:spPr>
          <a:xfrm xmlns:a="http://schemas.openxmlformats.org/drawingml/2006/main">
            <a:off x="742950" y="28670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2716E"/>
                </a:solidFill>
                <a:latin typeface="Helvetica Neue"/>
                <a:ea typeface="Helvetica Neue"/>
                <a:cs typeface="Helvetica Neue"/>
              </a:defRPr>
            </a:defPPr>
          </a:lstStyle>
          <a:p xmlns:a="http://schemas.openxmlformats.org/drawingml/2006/main">
            <a:pPr>
              <a:defRPr sz="2250" b="0">
                <a:solidFill>
                  <a:srgbClr val="52716E"/>
                </a:solidFill>
                <a:latin typeface="Helvetica Neue"/>
                <a:ea typeface="Helvetica Neue"/>
                <a:cs typeface="Helvetica Neue"/>
              </a:defRPr>
            </a:pPr>
            <a:r>
              <a:rPr sz="2250" b="0">
                <a:solidFill>
                  <a:srgbClr val="52716E"/>
                </a:solidFill>
                <a:latin typeface="Helvetica Neue"/>
                <a:ea typeface="Helvetica Neue"/>
                <a:cs typeface="Helvetica Neue"/>
              </a:rPr>
              <a:t>Compare responses to unfamiliar scam scenarios</a:t>
            </a:r>
          </a:p>
        </p:txBody>
      </p:sp>
      <p:sp>
        <p:nvSpPr>
          <p:cNvPr id="5" name="">
            <a:extLst xmlns:a="http://schemas.openxmlformats.org/drawingml/2006/main">
              <a:ext uri="{FF2B5EF4-FFF2-40B4-BE49-F238E27FC236}">
                <a16:creationId xmlns:a16="http://schemas.microsoft.com/office/drawing/2014/main" id="{5140E42D-4E37-4E43-8E32-3741CAD223F6}"/>
              </a:ext>
            </a:extLst>
          </p:cNvPr>
          <p:cNvSpPr>
            <a:spLocks xmlns:a="http://schemas.openxmlformats.org/drawingml/2006/main" noGrp="1"/>
          </p:cNvSpPr>
          <p:nvPr/>
        </p:nvSpPr>
        <p:spPr>
          <a:xfrm xmlns:a="http://schemas.openxmlformats.org/drawingml/2006/main">
            <a:off x="742950" y="4010025"/>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3C3A"/>
                </a:solidFill>
                <a:latin typeface="Helvetica Neue"/>
                <a:ea typeface="Helvetica Neue"/>
                <a:cs typeface="Helvetica Neue"/>
              </a:defRPr>
            </a:defPPr>
          </a:lstStyle>
          <a:p xmlns:a="http://schemas.openxmlformats.org/drawingml/2006/main">
            <a:pPr>
              <a:defRPr sz="3600" b="1">
                <a:solidFill>
                  <a:srgbClr val="133C3A"/>
                </a:solidFill>
                <a:latin typeface="Helvetica Neue"/>
                <a:ea typeface="Helvetica Neue"/>
                <a:cs typeface="Helvetica Neue"/>
              </a:defRPr>
            </a:pPr>
            <a:r>
              <a:rPr sz="3600" b="1">
                <a:solidFill>
                  <a:srgbClr val="133C3A"/>
                </a:solidFill>
                <a:latin typeface="Helvetica Neue"/>
                <a:ea typeface="Helvetica Neue"/>
                <a:cs typeface="Helvetica Neue"/>
              </a:rPr>
              <a:t>Pause     Verify     Seek help</a:t>
            </a:r>
          </a:p>
        </p:txBody>
      </p:sp>
      <p:sp>
        <p:nvSpPr>
          <p:cNvPr id="6" name="">
            <a:extLst xmlns:a="http://schemas.openxmlformats.org/drawingml/2006/main">
              <a:ext uri="{FF2B5EF4-FFF2-40B4-BE49-F238E27FC236}">
                <a16:creationId xmlns:a16="http://schemas.microsoft.com/office/drawing/2014/main" id="{F56B6802-398D-4312-9733-2AAAAC45CDB9}"/>
              </a:ext>
            </a:extLst>
          </p:cNvPr>
          <p:cNvSpPr>
            <a:spLocks xmlns:a="http://schemas.openxmlformats.org/drawingml/2006/main" noGrp="1"/>
          </p:cNvSpPr>
          <p:nvPr/>
        </p:nvSpPr>
        <p:spPr>
          <a:xfrm xmlns:a="http://schemas.openxmlformats.org/drawingml/2006/main">
            <a:off x="742950" y="53435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52716E"/>
                </a:solidFill>
                <a:latin typeface="Helvetica Neue"/>
                <a:ea typeface="Helvetica Neue"/>
                <a:cs typeface="Helvetica Neue"/>
              </a:defRPr>
            </a:defPPr>
          </a:lstStyle>
          <a:p xmlns:a="http://schemas.openxmlformats.org/drawingml/2006/main">
            <a:pPr>
              <a:defRPr sz="2250" b="0">
                <a:solidFill>
                  <a:srgbClr val="52716E"/>
                </a:solidFill>
                <a:latin typeface="Helvetica Neue"/>
                <a:ea typeface="Helvetica Neue"/>
                <a:cs typeface="Helvetica Neue"/>
              </a:defRPr>
            </a:pPr>
            <a:r>
              <a:rPr sz="2250" b="0">
                <a:solidFill>
                  <a:srgbClr val="52716E"/>
                </a:solidFill>
                <a:latin typeface="Helvetica Neue"/>
                <a:ea typeface="Helvetica Neue"/>
                <a:cs typeface="Helvetica Neue"/>
              </a:rPr>
              <a:t>Also assess comfort discussing scams as a family</a:t>
            </a:r>
          </a:p>
        </p:txBody>
      </p:sp>
    </p:spTree>
    <p:extLst>
      <p:ext uri="{BB962C8B-B14F-4D97-AF65-F5344CB8AC3E}">
        <p14:creationId xmlns:p14="http://schemas.microsoft.com/office/powerpoint/2010/main" val="352893713"/>
      </p:ext>
    </p:extLst>
  </p:cSld>
</p:sld>
</file>

<file path=ppt/slides/slide8.xml><?xml version="1.0" encoding="utf-8"?>
<p:sld xmlns:p="http://schemas.openxmlformats.org/presentationml/2006/main">
  <p:cSld>
    <p:bg>
      <p:bgPr>
        <a:solidFill xmlns:a="http://schemas.openxmlformats.org/drawingml/2006/main">
          <a:srgbClr val="133C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DC22CB-4838-4444-8D32-AFF60D0DEDA9}"/>
              </a:ext>
            </a:extLst>
          </p:cNvPr>
          <p:cNvSpPr>
            <a:spLocks xmlns:a="http://schemas.openxmlformats.org/drawingml/2006/main" noGrp="1"/>
          </p:cNvSpPr>
          <p:nvPr/>
        </p:nvSpPr>
        <p:spPr>
          <a:xfrm xmlns:a="http://schemas.openxmlformats.org/drawingml/2006/main">
            <a:off x="723900" y="609600"/>
            <a:ext cx="10744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F7F5EF"/>
                </a:solidFill>
                <a:latin typeface="Helvetica Neue"/>
                <a:ea typeface="Helvetica Neue"/>
                <a:cs typeface="Helvetica Neue"/>
              </a:defRPr>
            </a:defPPr>
          </a:lstStyle>
          <a:p xmlns:a="http://schemas.openxmlformats.org/drawingml/2006/main">
            <a:pPr>
              <a:defRPr sz="3900" b="1">
                <a:solidFill>
                  <a:srgbClr val="F7F5EF"/>
                </a:solidFill>
                <a:latin typeface="Helvetica Neue"/>
                <a:ea typeface="Helvetica Neue"/>
                <a:cs typeface="Helvetica Neue"/>
              </a:defRPr>
            </a:pPr>
            <a:r>
              <a:rPr sz="3900" b="1">
                <a:solidFill>
                  <a:srgbClr val="F7F5EF"/>
                </a:solidFill>
                <a:latin typeface="Helvetica Neue"/>
                <a:ea typeface="Helvetica Neue"/>
                <a:cs typeface="Helvetica Neue"/>
              </a:rPr>
              <a:t>DRILL MODE</a:t>
            </a:r>
          </a:p>
        </p:txBody>
      </p:sp>
      <p:sp>
        <p:nvSpPr>
          <p:cNvPr id="2" name="">
            <a:extLst xmlns:a="http://schemas.openxmlformats.org/drawingml/2006/main">
              <a:ext uri="{FF2B5EF4-FFF2-40B4-BE49-F238E27FC236}">
                <a16:creationId xmlns:a16="http://schemas.microsoft.com/office/drawing/2014/main" id="{A178C8FE-A232-4883-A99B-684704B3A349}"/>
              </a:ext>
            </a:extLst>
          </p:cNvPr>
          <p:cNvSpPr>
            <a:spLocks xmlns:a="http://schemas.openxmlformats.org/drawingml/2006/main" noGrp="1"/>
          </p:cNvSpPr>
          <p:nvPr/>
        </p:nvSpPr>
        <p:spPr>
          <a:xfrm xmlns:a="http://schemas.openxmlformats.org/drawingml/2006/main">
            <a:off x="11049000" y="62674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C7BE"/>
                </a:solidFill>
                <a:latin typeface="Helvetica Neue"/>
                <a:ea typeface="Helvetica Neue"/>
                <a:cs typeface="Helvetica Neue"/>
              </a:defRPr>
            </a:defPPr>
          </a:lstStyle>
          <a:p xmlns:a="http://schemas.openxmlformats.org/drawingml/2006/main">
            <a:pPr>
              <a:defRPr sz="1350" b="0">
                <a:solidFill>
                  <a:srgbClr val="A9C7BE"/>
                </a:solidFill>
                <a:latin typeface="Helvetica Neue"/>
                <a:ea typeface="Helvetica Neue"/>
                <a:cs typeface="Helvetica Neue"/>
              </a:defRPr>
            </a:pPr>
            <a:r>
              <a:rPr sz="1350" b="0">
                <a:solidFill>
                  <a:srgbClr val="A9C7BE"/>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8180995C-D0D8-46F3-9B49-13DB21733978}"/>
              </a:ext>
            </a:extLst>
          </p:cNvPr>
          <p:cNvSpPr>
            <a:spLocks xmlns:a="http://schemas.openxmlformats.org/drawingml/2006/main" noGrp="1"/>
          </p:cNvSpPr>
          <p:nvPr/>
        </p:nvSpPr>
        <p:spPr>
          <a:xfrm xmlns:a="http://schemas.openxmlformats.org/drawingml/2006/main">
            <a:off x="742950" y="2333625"/>
            <a:ext cx="1066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7F5EF"/>
                </a:solidFill>
                <a:latin typeface="Helvetica Neue"/>
                <a:ea typeface="Helvetica Neue"/>
                <a:cs typeface="Helvetica Neue"/>
              </a:defRPr>
            </a:defPPr>
          </a:lstStyle>
          <a:p xmlns:a="http://schemas.openxmlformats.org/drawingml/2006/main">
            <a:pPr>
              <a:defRPr sz="5400" b="1">
                <a:solidFill>
                  <a:srgbClr val="F7F5EF"/>
                </a:solidFill>
                <a:latin typeface="Helvetica Neue"/>
                <a:ea typeface="Helvetica Neue"/>
                <a:cs typeface="Helvetica Neue"/>
              </a:defRPr>
            </a:pPr>
            <a:r>
              <a:rPr sz="5400" b="1">
                <a:solidFill>
                  <a:srgbClr val="F7F5EF"/>
                </a:solidFill>
                <a:latin typeface="Helvetica Neue"/>
                <a:ea typeface="Helvetica Neue"/>
                <a:cs typeface="Helvetica Neue"/>
              </a:rPr>
              <a:t>Practise together.</a:t>
            </a:r>
          </a:p>
          <a:p xmlns:a="http://schemas.openxmlformats.org/drawingml/2006/main">
            <a:pPr>
              <a:defRPr sz="5400" b="1">
                <a:solidFill>
                  <a:srgbClr val="F7F5EF"/>
                </a:solidFill>
                <a:latin typeface="Helvetica Neue"/>
                <a:ea typeface="Helvetica Neue"/>
                <a:cs typeface="Helvetica Neue"/>
              </a:defRPr>
            </a:pPr>
            <a:r>
              <a:rPr sz="5400" b="1">
                <a:solidFill>
                  <a:srgbClr val="F7F5EF"/>
                </a:solidFill>
                <a:latin typeface="Helvetica Neue"/>
                <a:ea typeface="Helvetica Neue"/>
                <a:cs typeface="Helvetica Neue"/>
              </a:rPr>
              <a:t>Stay protected together.</a:t>
            </a:r>
          </a:p>
        </p:txBody>
      </p:sp>
      <p:sp>
        <p:nvSpPr>
          <p:cNvPr id="4" name="">
            <a:extLst xmlns:a="http://schemas.openxmlformats.org/drawingml/2006/main">
              <a:ext uri="{FF2B5EF4-FFF2-40B4-BE49-F238E27FC236}">
                <a16:creationId xmlns:a16="http://schemas.microsoft.com/office/drawing/2014/main" id="{7D909839-3D40-4743-AB04-91C06F3A31C0}"/>
              </a:ext>
            </a:extLst>
          </p:cNvPr>
          <p:cNvSpPr>
            <a:spLocks xmlns:a="http://schemas.openxmlformats.org/drawingml/2006/main" noGrp="1"/>
          </p:cNvSpPr>
          <p:nvPr/>
        </p:nvSpPr>
        <p:spPr>
          <a:xfrm xmlns:a="http://schemas.openxmlformats.org/drawingml/2006/main">
            <a:off x="742950" y="4991100"/>
            <a:ext cx="990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C5D9D2"/>
                </a:solidFill>
                <a:latin typeface="Helvetica Neue"/>
                <a:ea typeface="Helvetica Neue"/>
                <a:cs typeface="Helvetica Neue"/>
              </a:defRPr>
            </a:defPPr>
          </a:lstStyle>
          <a:p xmlns:a="http://schemas.openxmlformats.org/drawingml/2006/main">
            <a:pPr>
              <a:defRPr sz="2550" b="0">
                <a:solidFill>
                  <a:srgbClr val="C5D9D2"/>
                </a:solidFill>
                <a:latin typeface="Helvetica Neue"/>
                <a:ea typeface="Helvetica Neue"/>
                <a:cs typeface="Helvetica Neue"/>
              </a:defRPr>
            </a:pPr>
            <a:r>
              <a:rPr sz="2550" b="0">
                <a:solidFill>
                  <a:srgbClr val="C5D9D2"/>
                </a:solidFill>
                <a:latin typeface="Helvetica Neue"/>
                <a:ea typeface="Helvetica Neue"/>
                <a:cs typeface="Helvetica Neue"/>
              </a:rPr>
              <a:t>Know how to respond.</a:t>
            </a:r>
          </a:p>
          <a:p xmlns:a="http://schemas.openxmlformats.org/drawingml/2006/main">
            <a:pPr>
              <a:defRPr sz="2550" b="0">
                <a:solidFill>
                  <a:srgbClr val="C5D9D2"/>
                </a:solidFill>
                <a:latin typeface="Helvetica Neue"/>
                <a:ea typeface="Helvetica Neue"/>
                <a:cs typeface="Helvetica Neue"/>
              </a:defRPr>
            </a:pPr>
            <a:r>
              <a:rPr sz="2550" b="0">
                <a:solidFill>
                  <a:srgbClr val="C5D9D2"/>
                </a:solidFill>
                <a:latin typeface="Helvetica Neue"/>
                <a:ea typeface="Helvetica Neue"/>
                <a:cs typeface="Helvetica Neue"/>
              </a:rPr>
              <a:t>Know who to turn to.</a:t>
            </a:r>
          </a:p>
        </p:txBody>
      </p:sp>
    </p:spTree>
    <p:extLst>
      <p:ext uri="{BB962C8B-B14F-4D97-AF65-F5344CB8AC3E}">
        <p14:creationId xmlns:p14="http://schemas.microsoft.com/office/powerpoint/2010/main" val="1709875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2026-10-12T14:54:12.9820000Z</dcterms:created>
  <dcterms:modified xsi:type="dcterms:W3CDTF">2026-10-12T14:54:12.9820000Z</dcterms:modified>
</coreProperties>
</file>